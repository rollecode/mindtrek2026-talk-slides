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Override PartName="/ppt/media/image3.jpeg" ContentType="image/jpeg"/>
  <Override PartName="/ppt/media/image4.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Shape 204"/>
          <p:cNvSpPr/>
          <p:nvPr>
            <p:ph type="sldImg"/>
          </p:nvPr>
        </p:nvSpPr>
        <p:spPr>
          <a:prstGeom prst="rect">
            <a:avLst/>
          </a:prstGeom>
        </p:spPr>
        <p:txBody>
          <a:bodyPr/>
          <a:lstStyle/>
          <a:p>
            <a:pPr/>
          </a:p>
        </p:txBody>
      </p:sp>
      <p:sp>
        <p:nvSpPr>
          <p:cNvPr id="205" name="Shape 205"/>
          <p:cNvSpPr/>
          <p:nvPr>
            <p:ph type="body" sz="quarter" idx="1"/>
          </p:nvPr>
        </p:nvSpPr>
        <p:spPr>
          <a:prstGeom prst="rect">
            <a:avLst/>
          </a:prstGeom>
        </p:spPr>
        <p:txBody>
          <a:bodyPr/>
          <a:lstStyle/>
          <a:p>
            <a:pPr/>
            <a:r>
              <a:t>Let’s start with the definitions. Two words run through the whole talk.</a:t>
            </a:r>
          </a:p>
          <a:p>
            <a:pPr/>
            <a:r>
              <a:t>A server is a computer the outside world can reach online. Nothing more.</a:t>
            </a:r>
          </a:p>
          <a:p>
            <a:pPr/>
            <a:r>
              <a:t>Source is a file I can read and study myself, without barriers between me and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 name="Shape 226"/>
          <p:cNvSpPr/>
          <p:nvPr>
            <p:ph type="sldImg"/>
          </p:nvPr>
        </p:nvSpPr>
        <p:spPr>
          <a:prstGeom prst="rect">
            <a:avLst/>
          </a:prstGeom>
        </p:spPr>
        <p:txBody>
          <a:bodyPr/>
          <a:lstStyle/>
          <a:p>
            <a:pPr/>
          </a:p>
        </p:txBody>
      </p:sp>
      <p:sp>
        <p:nvSpPr>
          <p:cNvPr id="227" name="Shape 227"/>
          <p:cNvSpPr/>
          <p:nvPr>
            <p:ph type="body" sz="quarter" idx="1"/>
          </p:nvPr>
        </p:nvSpPr>
        <p:spPr>
          <a:prstGeom prst="rect">
            <a:avLst/>
          </a:prstGeom>
        </p:spPr>
        <p:txBody>
          <a:bodyPr/>
          <a:lstStyle/>
          <a:p>
            <a:pPr/>
            <a:r>
              <a:t>Commodore at home, GNU, BSD and Perl, the first Linux distributions on CDs, Apache, MySQL and PHP, and Vim. For some of us in the room, it all started here.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1" name="Shape 241"/>
          <p:cNvSpPr/>
          <p:nvPr>
            <p:ph type="sldImg"/>
          </p:nvPr>
        </p:nvSpPr>
        <p:spPr>
          <a:prstGeom prst="rect">
            <a:avLst/>
          </a:prstGeom>
        </p:spPr>
        <p:txBody>
          <a:bodyPr/>
          <a:lstStyle/>
          <a:p>
            <a:pPr/>
          </a:p>
        </p:txBody>
      </p:sp>
      <p:sp>
        <p:nvSpPr>
          <p:cNvPr id="242" name="Shape 242"/>
          <p:cNvSpPr/>
          <p:nvPr>
            <p:ph type="body" sz="quarter" idx="1"/>
          </p:nvPr>
        </p:nvSpPr>
        <p:spPr>
          <a:prstGeom prst="rect">
            <a:avLst/>
          </a:prstGeom>
        </p:spPr>
        <p:txBody>
          <a:bodyPr/>
          <a:lstStyle/>
          <a:p>
            <a:pPr/>
            <a:r>
              <a:t>Before any company, my servers were at home. A box with a dynamic IP, and a script updating the DNS record the moment the address changed.</a:t>
            </a:r>
          </a:p>
          <a:p>
            <a:pPr/>
            <a:r>
              <a:t>I liked it: my own hardware, my own files, nothing between me and the machine.</a:t>
            </a:r>
          </a:p>
          <a:p>
            <a:pPr/>
            <a:r>
              <a:t>It had its problems. It ate the family bandwidth, upload speeds were tiny back then, and we had no spare room, so it lived in a wardrobe and hummed. My wife was not a fan.</a:t>
            </a:r>
          </a:p>
          <a:p>
            <a:pPr/>
            <a:r>
              <a:t>So anything needing bandwidth moved out of the wardrobe to rented servers in a datacentre. The IoT at home still runs on my own hardware.</a:t>
            </a:r>
          </a:p>
          <a:p>
            <a:pPr/>
            <a:r>
              <a:t>Before then: KDE at 8 years old on the family's Red Hat based Linux, Mandrake dual-booted on my sister's PC in 1998, and an IRC shell account on TNNet at school.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346"/>
          <p:cNvSpPr/>
          <p:nvPr>
            <p:ph type="sldImg"/>
          </p:nvPr>
        </p:nvSpPr>
        <p:spPr>
          <a:prstGeom prst="rect">
            <a:avLst/>
          </a:prstGeom>
        </p:spPr>
        <p:txBody>
          <a:bodyPr/>
          <a:lstStyle/>
          <a:p>
            <a:pPr/>
          </a:p>
        </p:txBody>
      </p:sp>
      <p:sp>
        <p:nvSpPr>
          <p:cNvPr id="347" name="Shape 347"/>
          <p:cNvSpPr/>
          <p:nvPr>
            <p:ph type="body" sz="quarter" idx="1"/>
          </p:nvPr>
        </p:nvSpPr>
        <p:spPr>
          <a:prstGeom prst="rect">
            <a:avLst/>
          </a:prstGeom>
        </p:spPr>
        <p:txBody>
          <a:bodyPr/>
          <a:lstStyle/>
          <a:p>
            <a:pPr/>
            <a:r>
              <a:t>Roughly the server and hosting landscape today. Clouds and platforms, containers and orchestration, databases, monitoring, CI and everything in between. And somewhere in there is Skynet, if you spotted 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Shape 451"/>
          <p:cNvSpPr/>
          <p:nvPr>
            <p:ph type="sldImg"/>
          </p:nvPr>
        </p:nvSpPr>
        <p:spPr>
          <a:prstGeom prst="rect">
            <a:avLst/>
          </a:prstGeom>
        </p:spPr>
        <p:txBody>
          <a:bodyPr/>
          <a:lstStyle/>
          <a:p>
            <a:pPr/>
          </a:p>
        </p:txBody>
      </p:sp>
      <p:sp>
        <p:nvSpPr>
          <p:cNvPr id="452" name="Shape 452"/>
          <p:cNvSpPr/>
          <p:nvPr>
            <p:ph type="body" sz="quarter" idx="1"/>
          </p:nvPr>
        </p:nvSpPr>
        <p:spPr>
          <a:prstGeom prst="rect">
            <a:avLst/>
          </a:prstGeom>
        </p:spPr>
        <p:txBody>
          <a:bodyPr/>
          <a:lstStyle/>
          <a:p>
            <a:pPr/>
            <a:r>
              <a:t>And these are the ones I actually use. Everything lit is in daily use, at Dude or at home. The half-lit ones I use only for some things. The rest I have tried, read about or chosen not to use.</a:t>
            </a:r>
          </a:p>
          <a:p>
            <a:pPr/>
            <a:r>
              <a:t>Most of the lit logos are open source.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0" name="Shape 460"/>
          <p:cNvSpPr/>
          <p:nvPr>
            <p:ph type="sldImg"/>
          </p:nvPr>
        </p:nvSpPr>
        <p:spPr>
          <a:prstGeom prst="rect">
            <a:avLst/>
          </a:prstGeom>
        </p:spPr>
        <p:txBody>
          <a:bodyPr/>
          <a:lstStyle/>
          <a:p>
            <a:pPr/>
          </a:p>
        </p:txBody>
      </p:sp>
      <p:sp>
        <p:nvSpPr>
          <p:cNvPr id="461" name="Shape 461"/>
          <p:cNvSpPr/>
          <p:nvPr>
            <p:ph type="body" sz="quarter" idx="1"/>
          </p:nvPr>
        </p:nvSpPr>
        <p:spPr>
          <a:prstGeom prst="rect">
            <a:avLst/>
          </a:prstGeom>
        </p:spPr>
        <p:txBody>
          <a:bodyPr/>
          <a:lstStyle/>
          <a:p>
            <a:pPr/>
            <a:r>
              <a:t>I understand why containers exist. They isolate things and make them easy to repeat, and I use them for some things.</a:t>
            </a:r>
          </a:p>
          <a:p>
            <a:pPr/>
            <a:r>
              <a:t>But for me, plain files and source code on a server I can log into is the most natural way to work. Nothing is hidden behind an image. If something breaks, I open the file and read it.</a:t>
            </a:r>
          </a:p>
          <a:p>
            <a:pPr/>
            <a:r>
              <a:t>And to be fair, everything is contained at some level: a container, a virtual machine, a rented server in somebody's datacentre. The question for me has always been how much of the box I can see into.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1" name="Shape 501"/>
          <p:cNvSpPr/>
          <p:nvPr>
            <p:ph type="sldImg"/>
          </p:nvPr>
        </p:nvSpPr>
        <p:spPr>
          <a:prstGeom prst="rect">
            <a:avLst/>
          </a:prstGeom>
        </p:spPr>
        <p:txBody>
          <a:bodyPr/>
          <a:lstStyle/>
          <a:p>
            <a:pPr/>
          </a:p>
        </p:txBody>
      </p:sp>
      <p:sp>
        <p:nvSpPr>
          <p:cNvPr id="502" name="Shape 502"/>
          <p:cNvSpPr/>
          <p:nvPr>
            <p:ph type="body" sz="quarter" idx="1"/>
          </p:nvPr>
        </p:nvSpPr>
        <p:spPr>
          <a:prstGeom prst="rect">
            <a:avLst/>
          </a:prstGeom>
        </p:spPr>
        <p:txBody>
          <a:bodyPr/>
          <a:lstStyle/>
          <a:p>
            <a:pPr/>
            <a:r>
              <a:t>I wanted a purely command-line way of working. The first VPS ran HHVM. It kept crashing, so I wrote a cron script to restart it. Doing operations ourselves started there.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0" name="Shape 540"/>
          <p:cNvSpPr/>
          <p:nvPr>
            <p:ph type="sldImg"/>
          </p:nvPr>
        </p:nvSpPr>
        <p:spPr>
          <a:prstGeom prst="rect">
            <a:avLst/>
          </a:prstGeom>
        </p:spPr>
        <p:txBody>
          <a:bodyPr/>
          <a:lstStyle/>
          <a:p>
            <a:pPr/>
          </a:p>
        </p:txBody>
      </p:sp>
      <p:sp>
        <p:nvSpPr>
          <p:cNvPr id="541" name="Shape 541"/>
          <p:cNvSpPr/>
          <p:nvPr>
            <p:ph type="body" sz="quarter" idx="1"/>
          </p:nvPr>
        </p:nvSpPr>
        <p:spPr>
          <a:prstGeom prst="rect">
            <a:avLst/>
          </a:prstGeom>
        </p:spPr>
        <p:txBody>
          <a:bodyPr/>
          <a:lstStyle/>
          <a:p>
            <a:pPr/>
            <a:r>
              <a:t>It started in September 2016 with slow nights and short drops, week after week. The provider's support found nothing.</a:t>
            </a:r>
          </a:p>
          <a:p>
            <a:pPr/>
            <a:r>
              <a:t>Then one Monday morning every client site hung, and nobody in France could be reached. Weeks later a report arrived in French. As far as my school French could tell, an excavator had cut the network.</a:t>
            </a:r>
          </a:p>
          <a:p>
            <a:pPr/>
            <a:r>
              <a:t>In mid-October 2016 we moved every site to a local data center in Finland. </a:t>
            </a:r>
          </a:p>
          <a:p>
            <a:pPr/>
            <a:r>
              <a:t>One thing saved us: we ran DNS for most of our clients ourselves. Without it, the move would have taken days.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0" name="Shape 620"/>
          <p:cNvSpPr/>
          <p:nvPr>
            <p:ph type="sldImg"/>
          </p:nvPr>
        </p:nvSpPr>
        <p:spPr>
          <a:prstGeom prst="rect">
            <a:avLst/>
          </a:prstGeom>
        </p:spPr>
        <p:txBody>
          <a:bodyPr/>
          <a:lstStyle/>
          <a:p>
            <a:pPr/>
          </a:p>
        </p:txBody>
      </p:sp>
      <p:sp>
        <p:nvSpPr>
          <p:cNvPr id="621" name="Shape 621"/>
          <p:cNvSpPr/>
          <p:nvPr>
            <p:ph type="body" sz="quarter" idx="1"/>
          </p:nvPr>
        </p:nvSpPr>
        <p:spPr>
          <a:prstGeom prst="rect">
            <a:avLst/>
          </a:prstGeom>
        </p:spPr>
        <p:txBody>
          <a:bodyPr/>
          <a:lstStyle/>
          <a:p>
            <a:pPr/>
            <a:r>
              <a:t>Deploys go from Git with Capistrano. Larger sites get a cluster with HAProxy, Galera and lsyncd. The self-hosted services are Plausible, Outline and Twenty.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5" name="Shape 665"/>
          <p:cNvSpPr/>
          <p:nvPr>
            <p:ph type="sldImg"/>
          </p:nvPr>
        </p:nvSpPr>
        <p:spPr>
          <a:prstGeom prst="rect">
            <a:avLst/>
          </a:prstGeom>
        </p:spPr>
        <p:txBody>
          <a:bodyPr/>
          <a:lstStyle/>
          <a:p>
            <a:pPr/>
          </a:p>
        </p:txBody>
      </p:sp>
      <p:sp>
        <p:nvSpPr>
          <p:cNvPr id="666" name="Shape 666"/>
          <p:cNvSpPr/>
          <p:nvPr>
            <p:ph type="body" sz="quarter" idx="1"/>
          </p:nvPr>
        </p:nvSpPr>
        <p:spPr>
          <a:prstGeom prst="rect">
            <a:avLst/>
          </a:prstGeom>
        </p:spPr>
        <p:txBody>
          <a:bodyPr/>
          <a:lstStyle/>
          <a:p>
            <a:pPr/>
            <a:r>
              <a:t>The title says from source, so to be exact: most software comes from upstream, and a few modules are compiled by us. The point: unmodified upstream software, configured manually, on a server we can read.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4" name="Shape 684"/>
          <p:cNvSpPr/>
          <p:nvPr>
            <p:ph type="sldImg"/>
          </p:nvPr>
        </p:nvSpPr>
        <p:spPr>
          <a:prstGeom prst="rect">
            <a:avLst/>
          </a:prstGeom>
        </p:spPr>
        <p:txBody>
          <a:bodyPr/>
          <a:lstStyle/>
          <a:p>
            <a:pPr/>
          </a:p>
        </p:txBody>
      </p:sp>
      <p:sp>
        <p:nvSpPr>
          <p:cNvPr id="685" name="Shape 685"/>
          <p:cNvSpPr/>
          <p:nvPr>
            <p:ph type="body" sz="quarter" idx="1"/>
          </p:nvPr>
        </p:nvSpPr>
        <p:spPr>
          <a:prstGeom prst="rect">
            <a:avLst/>
          </a:prstGeom>
        </p:spPr>
        <p:txBody>
          <a:bodyPr/>
          <a:lstStyle/>
          <a:p>
            <a:pPr/>
            <a:r>
              <a:t>On the 9th of June 2026, Ubuntu released a security update for nginx, USN-8398-1. It made nginx crash with a segfault whenever external modules were loaded, and dozens of web services went down. Ubuntu reverted the fix in USN-8398-2 and apologised for the inconvenience.</a:t>
            </a:r>
          </a:p>
          <a:p>
            <a:pPr/>
            <a:r>
              <a:t>Our servers kept running. We run nginx from nginx.org mainline and build the modules from source against the running version, so the Ubuntu update never touched them.</a:t>
            </a:r>
          </a:p>
          <a:p>
            <a:pPr/>
            <a:r>
              <a:t>Ubuntu's nginx is also much older. Mainline always has the latest.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5" name="Shape 715"/>
          <p:cNvSpPr/>
          <p:nvPr>
            <p:ph type="sldImg"/>
          </p:nvPr>
        </p:nvSpPr>
        <p:spPr>
          <a:prstGeom prst="rect">
            <a:avLst/>
          </a:prstGeom>
        </p:spPr>
        <p:txBody>
          <a:bodyPr/>
          <a:lstStyle/>
          <a:p>
            <a:pPr/>
          </a:p>
        </p:txBody>
      </p:sp>
      <p:sp>
        <p:nvSpPr>
          <p:cNvPr id="716" name="Shape 716"/>
          <p:cNvSpPr/>
          <p:nvPr>
            <p:ph type="body" sz="quarter" idx="1"/>
          </p:nvPr>
        </p:nvSpPr>
        <p:spPr>
          <a:prstGeom prst="rect">
            <a:avLst/>
          </a:prstGeom>
        </p:spPr>
        <p:txBody>
          <a:bodyPr/>
          <a:lstStyle/>
          <a:p>
            <a:pPr/>
            <a:r>
              <a:t>Running things from source does not mean every server is a snowflake. We use Ansible playbooks a lot, and Docker for some services, even where parts are built from source.</a:t>
            </a:r>
          </a:p>
          <a:p>
            <a:pPr/>
            <a:r>
              <a:t>Support more than one way of doing things, and agree on how each one is done. And write it down, for servers and for code alike.</a:t>
            </a:r>
          </a:p>
          <a:p>
            <a:pPr/>
            <a:r>
              <a:t>I used to run Vagrant for years, to self-host my development environment too. A story for another time.</a:t>
            </a:r>
          </a:p>
          <a:p>
            <a:pPr/>
            <a:r>
              <a:t>The everyday work runs on its own: monitoring and heartbeats, backups, certificate renewals and cleanups on a schedule.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2" name="Shape 732"/>
          <p:cNvSpPr/>
          <p:nvPr>
            <p:ph type="sldImg"/>
          </p:nvPr>
        </p:nvSpPr>
        <p:spPr>
          <a:prstGeom prst="rect">
            <a:avLst/>
          </a:prstGeom>
        </p:spPr>
        <p:txBody>
          <a:bodyPr/>
          <a:lstStyle/>
          <a:p>
            <a:pPr/>
          </a:p>
        </p:txBody>
      </p:sp>
      <p:sp>
        <p:nvSpPr>
          <p:cNvPr id="733" name="Shape 733"/>
          <p:cNvSpPr/>
          <p:nvPr>
            <p:ph type="body" sz="quarter" idx="1"/>
          </p:nvPr>
        </p:nvSpPr>
        <p:spPr>
          <a:prstGeom prst="rect">
            <a:avLst/>
          </a:prstGeom>
        </p:spPr>
        <p:txBody>
          <a:bodyPr/>
          <a:lstStyle/>
          <a:p>
            <a:pPr/>
            <a:r>
              <a:t>Most of the work goes into compiling and configuring new software. Updates themselves are scripted.</a:t>
            </a:r>
          </a:p>
          <a:p>
            <a:pPr/>
            <a:r>
              <a:t>Servers drift apart without fleet control. Fixes happen manually first and end up in scripts later. And the knowledge stays with a few people unless someone writes it down.</a:t>
            </a:r>
          </a:p>
          <a:p>
            <a:pPr/>
            <a:r>
              <a:t>AI makes the slow parts faster. It helps with build options, configuration files and the scripts themselves.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47" name="Shape 747"/>
          <p:cNvSpPr/>
          <p:nvPr>
            <p:ph type="sldImg"/>
          </p:nvPr>
        </p:nvSpPr>
        <p:spPr>
          <a:prstGeom prst="rect">
            <a:avLst/>
          </a:prstGeom>
        </p:spPr>
        <p:txBody>
          <a:bodyPr/>
          <a:lstStyle/>
          <a:p>
            <a:pPr/>
          </a:p>
        </p:txBody>
      </p:sp>
      <p:sp>
        <p:nvSpPr>
          <p:cNvPr id="748" name="Shape 748"/>
          <p:cNvSpPr/>
          <p:nvPr>
            <p:ph type="body" sz="quarter" idx="1"/>
          </p:nvPr>
        </p:nvSpPr>
        <p:spPr>
          <a:prstGeom prst="rect">
            <a:avLst/>
          </a:prstGeom>
        </p:spPr>
        <p:txBody>
          <a:bodyPr/>
          <a:lstStyle/>
          <a:p>
            <a:pPr/>
            <a:r>
              <a:t>Every layer can be read. When something crashes, I can follow it from the log down to the source code, like with the nginx modules.</a:t>
            </a:r>
          </a:p>
          <a:p>
            <a:pPr/>
            <a:r>
              <a:t>When a provider failed us in 2016, we could move every site somewhere else.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88" name="Shape 788"/>
          <p:cNvSpPr/>
          <p:nvPr>
            <p:ph type="sldImg"/>
          </p:nvPr>
        </p:nvSpPr>
        <p:spPr>
          <a:prstGeom prst="rect">
            <a:avLst/>
          </a:prstGeom>
        </p:spPr>
        <p:txBody>
          <a:bodyPr/>
          <a:lstStyle/>
          <a:p>
            <a:pPr/>
          </a:p>
        </p:txBody>
      </p:sp>
      <p:sp>
        <p:nvSpPr>
          <p:cNvPr id="789" name="Shape 789"/>
          <p:cNvSpPr/>
          <p:nvPr>
            <p:ph type="body" sz="quarter" idx="1"/>
          </p:nvPr>
        </p:nvSpPr>
        <p:spPr>
          <a:prstGeom prst="rect">
            <a:avLst/>
          </a:prstGeom>
        </p:spPr>
        <p:txBody>
          <a:bodyPr/>
          <a:lstStyle/>
          <a:p>
            <a:pPr/>
            <a:r>
              <a:t>Most of you know these already, so here is the short version.</a:t>
            </a:r>
          </a:p>
          <a:p>
            <a:pPr/>
            <a:r>
              <a:t>The US CLOUD Act from 2018 lets US authorities request data from American companies wherever the data is stored. A European region does not change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2" name="Shape 812"/>
          <p:cNvSpPr/>
          <p:nvPr>
            <p:ph type="sldImg"/>
          </p:nvPr>
        </p:nvSpPr>
        <p:spPr>
          <a:prstGeom prst="rect">
            <a:avLst/>
          </a:prstGeom>
        </p:spPr>
        <p:txBody>
          <a:bodyPr/>
          <a:lstStyle/>
          <a:p>
            <a:pPr/>
          </a:p>
        </p:txBody>
      </p:sp>
      <p:sp>
        <p:nvSpPr>
          <p:cNvPr id="813" name="Shape 813"/>
          <p:cNvSpPr/>
          <p:nvPr>
            <p:ph type="body" sz="quarter" idx="1"/>
          </p:nvPr>
        </p:nvSpPr>
        <p:spPr>
          <a:prstGeom prst="rect">
            <a:avLst/>
          </a:prstGeom>
        </p:spPr>
        <p:txBody>
          <a:bodyPr/>
          <a:lstStyle/>
          <a:p>
            <a:pPr/>
            <a:r>
              <a:t>Own your data. My mantra for years.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47" name="Shape 847"/>
          <p:cNvSpPr/>
          <p:nvPr>
            <p:ph type="sldImg"/>
          </p:nvPr>
        </p:nvSpPr>
        <p:spPr>
          <a:prstGeom prst="rect">
            <a:avLst/>
          </a:prstGeom>
        </p:spPr>
        <p:txBody>
          <a:bodyPr/>
          <a:lstStyle/>
          <a:p>
            <a:pPr/>
          </a:p>
        </p:txBody>
      </p:sp>
      <p:sp>
        <p:nvSpPr>
          <p:cNvPr id="848" name="Shape 848"/>
          <p:cNvSpPr/>
          <p:nvPr>
            <p:ph type="body" sz="quarter" idx="1"/>
          </p:nvPr>
        </p:nvSpPr>
        <p:spPr>
          <a:prstGeom prst="rect">
            <a:avLst/>
          </a:prstGeom>
        </p:spPr>
        <p:txBody>
          <a:bodyPr/>
          <a:lstStyle/>
          <a:p>
            <a:pPr/>
            <a:r>
              <a:t>Portability is a huge part of sovereignty. When everything runs on open source, on our own servers, with our own data and open APIs, we can move anywhere we want, any time we want. Lock-in is the real question.</a:t>
            </a:r>
          </a:p>
          <a:p>
            <a:pPr/>
            <a:r>
              <a:t>In the AI era the same goes for any service with a proper API. Anyone can write an MCP server for it, and data can move in any direction at any time. Self-hosting does not become less important. It becomes more important.</a:t>
            </a:r>
          </a:p>
          <a:p>
            <a:pPr/>
            <a:r>
              <a:t>And there is privacy. Nobody else reads the data on our own servers.</a:t>
            </a:r>
          </a:p>
          <a:p>
            <a:pPr/>
            <a:r>
              <a:t>The 2016 move worked because we kept DNS in our own hands.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2" name="Shape 862"/>
          <p:cNvSpPr/>
          <p:nvPr>
            <p:ph type="sldImg"/>
          </p:nvPr>
        </p:nvSpPr>
        <p:spPr>
          <a:prstGeom prst="rect">
            <a:avLst/>
          </a:prstGeom>
        </p:spPr>
        <p:txBody>
          <a:bodyPr/>
          <a:lstStyle/>
          <a:p>
            <a:pPr/>
          </a:p>
        </p:txBody>
      </p:sp>
      <p:sp>
        <p:nvSpPr>
          <p:cNvPr id="863" name="Shape 863"/>
          <p:cNvSpPr/>
          <p:nvPr>
            <p:ph type="body" sz="quarter" idx="1"/>
          </p:nvPr>
        </p:nvSpPr>
        <p:spPr>
          <a:prstGeom prst="rect">
            <a:avLst/>
          </a:prstGeom>
        </p:spPr>
        <p:txBody>
          <a:bodyPr/>
          <a:lstStyle/>
          <a:p>
            <a:pPr/>
            <a:r>
              <a:t>Self-hosting does not make a company independent of everyone. These are the dependencies we keep on purpose, and knowing them is part of the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06" name="Shape 906"/>
          <p:cNvSpPr/>
          <p:nvPr>
            <p:ph type="sldImg"/>
          </p:nvPr>
        </p:nvSpPr>
        <p:spPr>
          <a:prstGeom prst="rect">
            <a:avLst/>
          </a:prstGeom>
        </p:spPr>
        <p:txBody>
          <a:bodyPr/>
          <a:lstStyle/>
          <a:p>
            <a:pPr/>
          </a:p>
        </p:txBody>
      </p:sp>
      <p:sp>
        <p:nvSpPr>
          <p:cNvPr id="907" name="Shape 907"/>
          <p:cNvSpPr/>
          <p:nvPr>
            <p:ph type="body" sz="quarter" idx="1"/>
          </p:nvPr>
        </p:nvSpPr>
        <p:spPr>
          <a:prstGeom prst="rect">
            <a:avLst/>
          </a:prstGeom>
        </p:spPr>
        <p:txBody>
          <a:bodyPr/>
          <a:lstStyle/>
          <a:p>
            <a:pPr/>
            <a:r>
              <a:t>For most big tech services there is a European or self-hosted alternative. None of them is free of trade-offs.</a:t>
            </a:r>
          </a:p>
          <a:p>
            <a:pPr/>
            <a:r>
              <a:t>Bunny.net for CDN and DNS, Brevo for sending email, Codeberg or your own Forgejo for code, Nextcloud for documents and files, and Mistral or a local model for AI.</a:t>
            </a:r>
          </a:p>
          <a:p>
            <a:pPr/>
            <a:r>
              <a:t>Email is the hardest one. Even with a European sender, delivery depends on the big mail providers.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30" name="Shape 930"/>
          <p:cNvSpPr/>
          <p:nvPr>
            <p:ph type="sldImg"/>
          </p:nvPr>
        </p:nvSpPr>
        <p:spPr>
          <a:prstGeom prst="rect">
            <a:avLst/>
          </a:prstGeom>
        </p:spPr>
        <p:txBody>
          <a:bodyPr/>
          <a:lstStyle/>
          <a:p>
            <a:pPr/>
          </a:p>
        </p:txBody>
      </p:sp>
      <p:sp>
        <p:nvSpPr>
          <p:cNvPr id="931" name="Shape 931"/>
          <p:cNvSpPr/>
          <p:nvPr>
            <p:ph type="body" sz="quarter" idx="1"/>
          </p:nvPr>
        </p:nvSpPr>
        <p:spPr>
          <a:prstGeom prst="rect">
            <a:avLst/>
          </a:prstGeom>
        </p:spPr>
        <p:txBody>
          <a:bodyPr/>
          <a:lstStyle/>
          <a:p>
            <a:pPr/>
            <a:r>
              <a:t>A few concrete things to try.</a:t>
            </a:r>
          </a:p>
          <a:p>
            <a:pPr/>
            <a:r>
              <a:t>New to running servers: start on your own computer. Use Linux, run one service and read its config files, not just the docs. Then rent the smallest VPS, for example from UpCloud, and set it up yourself: SSH keys, firewall, nginx and TLS. Write every step down and start scripting.</a:t>
            </a:r>
          </a:p>
          <a:p>
            <a:pPr/>
            <a:r>
              <a:t>Already running servers: move one service you subscribe to onto your own server, like Plausible for analytics or Outline for docs. Swap one installed package for a source build and see if it compiles from a script or with Ansible. And test your exit. Restore a backup and move one service to another provider. If it takes weeks, you are locked in.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0" name="Shape 940"/>
          <p:cNvSpPr/>
          <p:nvPr>
            <p:ph type="sldImg"/>
          </p:nvPr>
        </p:nvSpPr>
        <p:spPr>
          <a:prstGeom prst="rect">
            <a:avLst/>
          </a:prstGeom>
        </p:spPr>
        <p:txBody>
          <a:bodyPr/>
          <a:lstStyle/>
          <a:p>
            <a:pPr/>
          </a:p>
        </p:txBody>
      </p:sp>
      <p:sp>
        <p:nvSpPr>
          <p:cNvPr id="941" name="Shape 941"/>
          <p:cNvSpPr/>
          <p:nvPr>
            <p:ph type="body" sz="quarter" idx="1"/>
          </p:nvPr>
        </p:nvSpPr>
        <p:spPr>
          <a:prstGeom prst="rect">
            <a:avLst/>
          </a:prstGeom>
        </p:spPr>
        <p:txBody>
          <a:bodyPr/>
          <a:lstStyle/>
          <a:p>
            <a:pPr/>
            <a:r>
              <a:t>Knowing every layer of your stack is the most practical form of digital sovereignty a developer can have. One concrete first step for the developers and students in the room.</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 Id="rId16" Type="http://schemas.openxmlformats.org/officeDocument/2006/relationships/image" Target="../media/image20.png"/><Relationship Id="rId17" Type="http://schemas.openxmlformats.org/officeDocument/2006/relationships/image" Target="../media/image21.png"/><Relationship Id="rId18" Type="http://schemas.openxmlformats.org/officeDocument/2006/relationships/image" Target="../media/image2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3.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38.png"/><Relationship Id="rId19" Type="http://schemas.openxmlformats.org/officeDocument/2006/relationships/image" Target="../media/image39.png"/><Relationship Id="rId20" Type="http://schemas.openxmlformats.org/officeDocument/2006/relationships/image" Target="../media/image40.png"/><Relationship Id="rId21" Type="http://schemas.openxmlformats.org/officeDocument/2006/relationships/image" Target="../media/image41.png"/><Relationship Id="rId22" Type="http://schemas.openxmlformats.org/officeDocument/2006/relationships/image" Target="../media/image42.png"/><Relationship Id="rId23" Type="http://schemas.openxmlformats.org/officeDocument/2006/relationships/image" Target="../media/image43.png"/><Relationship Id="rId24" Type="http://schemas.openxmlformats.org/officeDocument/2006/relationships/image" Target="../media/image44.png"/><Relationship Id="rId25" Type="http://schemas.openxmlformats.org/officeDocument/2006/relationships/image" Target="../media/image45.png"/><Relationship Id="rId26" Type="http://schemas.openxmlformats.org/officeDocument/2006/relationships/image" Target="../media/image46.png"/><Relationship Id="rId27" Type="http://schemas.openxmlformats.org/officeDocument/2006/relationships/image" Target="../media/image47.png"/><Relationship Id="rId28" Type="http://schemas.openxmlformats.org/officeDocument/2006/relationships/image" Target="../media/image48.png"/><Relationship Id="rId29" Type="http://schemas.openxmlformats.org/officeDocument/2006/relationships/image" Target="../media/image49.png"/><Relationship Id="rId30" Type="http://schemas.openxmlformats.org/officeDocument/2006/relationships/image" Target="../media/image50.png"/><Relationship Id="rId31" Type="http://schemas.openxmlformats.org/officeDocument/2006/relationships/image" Target="../media/image51.pn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54.png"/><Relationship Id="rId35" Type="http://schemas.openxmlformats.org/officeDocument/2006/relationships/image" Target="../media/image55.png"/><Relationship Id="rId36" Type="http://schemas.openxmlformats.org/officeDocument/2006/relationships/image" Target="../media/image56.png"/><Relationship Id="rId37" Type="http://schemas.openxmlformats.org/officeDocument/2006/relationships/image" Target="../media/image57.png"/><Relationship Id="rId38" Type="http://schemas.openxmlformats.org/officeDocument/2006/relationships/image" Target="../media/image58.png"/><Relationship Id="rId39" Type="http://schemas.openxmlformats.org/officeDocument/2006/relationships/image" Target="../media/image59.png"/><Relationship Id="rId40" Type="http://schemas.openxmlformats.org/officeDocument/2006/relationships/image" Target="../media/image60.png"/><Relationship Id="rId41" Type="http://schemas.openxmlformats.org/officeDocument/2006/relationships/image" Target="../media/image61.pn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 Id="rId45" Type="http://schemas.openxmlformats.org/officeDocument/2006/relationships/image" Target="../media/image65.png"/><Relationship Id="rId46" Type="http://schemas.openxmlformats.org/officeDocument/2006/relationships/image" Target="../media/image66.png"/><Relationship Id="rId47" Type="http://schemas.openxmlformats.org/officeDocument/2006/relationships/image" Target="../media/image67.png"/><Relationship Id="rId48" Type="http://schemas.openxmlformats.org/officeDocument/2006/relationships/image" Target="../media/image68.png"/><Relationship Id="rId49" Type="http://schemas.openxmlformats.org/officeDocument/2006/relationships/image" Target="../media/image69.png"/><Relationship Id="rId50" Type="http://schemas.openxmlformats.org/officeDocument/2006/relationships/image" Target="../media/image70.png"/><Relationship Id="rId51" Type="http://schemas.openxmlformats.org/officeDocument/2006/relationships/image" Target="../media/image71.png"/><Relationship Id="rId52" Type="http://schemas.openxmlformats.org/officeDocument/2006/relationships/image" Target="../media/image72.png"/><Relationship Id="rId53" Type="http://schemas.openxmlformats.org/officeDocument/2006/relationships/image" Target="../media/image73.png"/><Relationship Id="rId54" Type="http://schemas.openxmlformats.org/officeDocument/2006/relationships/image" Target="../media/image74.png"/><Relationship Id="rId55" Type="http://schemas.openxmlformats.org/officeDocument/2006/relationships/image" Target="../media/image75.png"/><Relationship Id="rId56" Type="http://schemas.openxmlformats.org/officeDocument/2006/relationships/image" Target="../media/image76.png"/><Relationship Id="rId57" Type="http://schemas.openxmlformats.org/officeDocument/2006/relationships/image" Target="../media/image77.png"/><Relationship Id="rId58" Type="http://schemas.openxmlformats.org/officeDocument/2006/relationships/image" Target="../media/image78.png"/><Relationship Id="rId59" Type="http://schemas.openxmlformats.org/officeDocument/2006/relationships/image" Target="../media/image79.png"/><Relationship Id="rId60" Type="http://schemas.openxmlformats.org/officeDocument/2006/relationships/image" Target="../media/image80.png"/><Relationship Id="rId61" Type="http://schemas.openxmlformats.org/officeDocument/2006/relationships/image" Target="../media/image81.png"/><Relationship Id="rId62" Type="http://schemas.openxmlformats.org/officeDocument/2006/relationships/image" Target="../media/image82.png"/><Relationship Id="rId63" Type="http://schemas.openxmlformats.org/officeDocument/2006/relationships/image" Target="../media/image83.png"/><Relationship Id="rId64" Type="http://schemas.openxmlformats.org/officeDocument/2006/relationships/image" Target="../media/image84.png"/><Relationship Id="rId65" Type="http://schemas.openxmlformats.org/officeDocument/2006/relationships/image" Target="../media/image85.png"/><Relationship Id="rId66" Type="http://schemas.openxmlformats.org/officeDocument/2006/relationships/image" Target="../media/image86.png"/><Relationship Id="rId67" Type="http://schemas.openxmlformats.org/officeDocument/2006/relationships/image" Target="../media/image87.png"/><Relationship Id="rId68" Type="http://schemas.openxmlformats.org/officeDocument/2006/relationships/image" Target="../media/image88.png"/><Relationship Id="rId69" Type="http://schemas.openxmlformats.org/officeDocument/2006/relationships/image" Target="../media/image89.png"/><Relationship Id="rId70" Type="http://schemas.openxmlformats.org/officeDocument/2006/relationships/image" Target="../media/image90.png"/><Relationship Id="rId71" Type="http://schemas.openxmlformats.org/officeDocument/2006/relationships/image" Target="../media/image91.png"/><Relationship Id="rId72" Type="http://schemas.openxmlformats.org/officeDocument/2006/relationships/image" Target="../media/image92.png"/><Relationship Id="rId73" Type="http://schemas.openxmlformats.org/officeDocument/2006/relationships/image" Target="../media/image93.png"/><Relationship Id="rId74" Type="http://schemas.openxmlformats.org/officeDocument/2006/relationships/image" Target="../media/image94.png"/><Relationship Id="rId75" Type="http://schemas.openxmlformats.org/officeDocument/2006/relationships/image" Target="../media/image95.png"/><Relationship Id="rId76" Type="http://schemas.openxmlformats.org/officeDocument/2006/relationships/image" Target="../media/image96.png"/><Relationship Id="rId77" Type="http://schemas.openxmlformats.org/officeDocument/2006/relationships/image" Target="../media/image97.png"/><Relationship Id="rId78" Type="http://schemas.openxmlformats.org/officeDocument/2006/relationships/image" Target="../media/image98.png"/><Relationship Id="rId79" Type="http://schemas.openxmlformats.org/officeDocument/2006/relationships/image" Target="../media/image99.png"/><Relationship Id="rId80" Type="http://schemas.openxmlformats.org/officeDocument/2006/relationships/image" Target="../media/image100.png"/><Relationship Id="rId81" Type="http://schemas.openxmlformats.org/officeDocument/2006/relationships/image" Target="../media/image101.png"/><Relationship Id="rId82" Type="http://schemas.openxmlformats.org/officeDocument/2006/relationships/image" Target="../media/image102.png"/><Relationship Id="rId83" Type="http://schemas.openxmlformats.org/officeDocument/2006/relationships/image" Target="../media/image103.png"/><Relationship Id="rId84" Type="http://schemas.openxmlformats.org/officeDocument/2006/relationships/image" Target="../media/image104.png"/><Relationship Id="rId85" Type="http://schemas.openxmlformats.org/officeDocument/2006/relationships/image" Target="../media/image105.png"/><Relationship Id="rId86" Type="http://schemas.openxmlformats.org/officeDocument/2006/relationships/image" Target="../media/image106.png"/><Relationship Id="rId87" Type="http://schemas.openxmlformats.org/officeDocument/2006/relationships/image" Target="../media/image107.png"/><Relationship Id="rId88" Type="http://schemas.openxmlformats.org/officeDocument/2006/relationships/image" Target="../media/image108.png"/><Relationship Id="rId89" Type="http://schemas.openxmlformats.org/officeDocument/2006/relationships/image" Target="../media/image109.png"/><Relationship Id="rId90" Type="http://schemas.openxmlformats.org/officeDocument/2006/relationships/image" Target="../media/image110.png"/><Relationship Id="rId91" Type="http://schemas.openxmlformats.org/officeDocument/2006/relationships/image" Target="../media/image111.png"/><Relationship Id="rId92" Type="http://schemas.openxmlformats.org/officeDocument/2006/relationships/image" Target="../media/image112.png"/><Relationship Id="rId93" Type="http://schemas.openxmlformats.org/officeDocument/2006/relationships/image" Target="../media/image113.png"/><Relationship Id="rId94" Type="http://schemas.openxmlformats.org/officeDocument/2006/relationships/image" Target="../media/image114.png"/><Relationship Id="rId95" Type="http://schemas.openxmlformats.org/officeDocument/2006/relationships/image" Target="../media/image115.png"/><Relationship Id="rId96" Type="http://schemas.openxmlformats.org/officeDocument/2006/relationships/image" Target="../media/image116.png"/><Relationship Id="rId97" Type="http://schemas.openxmlformats.org/officeDocument/2006/relationships/image" Target="../media/image117.png"/><Relationship Id="rId98" Type="http://schemas.openxmlformats.org/officeDocument/2006/relationships/image" Target="../media/image118.png"/><Relationship Id="rId99" Type="http://schemas.openxmlformats.org/officeDocument/2006/relationships/image" Target="../media/image119.png"/><Relationship Id="rId100" Type="http://schemas.openxmlformats.org/officeDocument/2006/relationships/image" Target="../media/image120.png"/><Relationship Id="rId101" Type="http://schemas.openxmlformats.org/officeDocument/2006/relationships/image" Target="../media/image121.png"/><Relationship Id="rId102" Type="http://schemas.openxmlformats.org/officeDocument/2006/relationships/image" Target="../media/image122.png"/><Relationship Id="rId103" Type="http://schemas.openxmlformats.org/officeDocument/2006/relationships/image" Target="../media/image12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26.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33.png"/><Relationship Id="rId14" Type="http://schemas.openxmlformats.org/officeDocument/2006/relationships/image" Target="../media/image132.png"/><Relationship Id="rId15" Type="http://schemas.openxmlformats.org/officeDocument/2006/relationships/image" Target="../media/image35.png"/><Relationship Id="rId16" Type="http://schemas.openxmlformats.org/officeDocument/2006/relationships/image" Target="../media/image133.png"/><Relationship Id="rId17" Type="http://schemas.openxmlformats.org/officeDocument/2006/relationships/image" Target="../media/image134.png"/><Relationship Id="rId18" Type="http://schemas.openxmlformats.org/officeDocument/2006/relationships/image" Target="../media/image38.png"/><Relationship Id="rId19" Type="http://schemas.openxmlformats.org/officeDocument/2006/relationships/image" Target="../media/image135.png"/><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42.png"/><Relationship Id="rId23" Type="http://schemas.openxmlformats.org/officeDocument/2006/relationships/image" Target="../media/image138.png"/><Relationship Id="rId24" Type="http://schemas.openxmlformats.org/officeDocument/2006/relationships/image" Target="../media/image139.png"/><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50.png"/><Relationship Id="rId31" Type="http://schemas.openxmlformats.org/officeDocument/2006/relationships/image" Target="../media/image145.pn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146.png"/><Relationship Id="rId35" Type="http://schemas.openxmlformats.org/officeDocument/2006/relationships/image" Target="../media/image147.png"/><Relationship Id="rId36" Type="http://schemas.openxmlformats.org/officeDocument/2006/relationships/image" Target="../media/image148.png"/><Relationship Id="rId37" Type="http://schemas.openxmlformats.org/officeDocument/2006/relationships/image" Target="../media/image149.png"/><Relationship Id="rId38" Type="http://schemas.openxmlformats.org/officeDocument/2006/relationships/image" Target="../media/image150.png"/><Relationship Id="rId39" Type="http://schemas.openxmlformats.org/officeDocument/2006/relationships/image" Target="../media/image59.png"/><Relationship Id="rId40" Type="http://schemas.openxmlformats.org/officeDocument/2006/relationships/image" Target="../media/image151.png"/><Relationship Id="rId41" Type="http://schemas.openxmlformats.org/officeDocument/2006/relationships/image" Target="../media/image152.png"/><Relationship Id="rId42" Type="http://schemas.openxmlformats.org/officeDocument/2006/relationships/image" Target="../media/image153.png"/><Relationship Id="rId43" Type="http://schemas.openxmlformats.org/officeDocument/2006/relationships/image" Target="../media/image154.png"/><Relationship Id="rId44" Type="http://schemas.openxmlformats.org/officeDocument/2006/relationships/image" Target="../media/image155.png"/><Relationship Id="rId45" Type="http://schemas.openxmlformats.org/officeDocument/2006/relationships/image" Target="../media/image156.png"/><Relationship Id="rId46" Type="http://schemas.openxmlformats.org/officeDocument/2006/relationships/image" Target="../media/image157.png"/><Relationship Id="rId47" Type="http://schemas.openxmlformats.org/officeDocument/2006/relationships/image" Target="../media/image67.png"/><Relationship Id="rId48" Type="http://schemas.openxmlformats.org/officeDocument/2006/relationships/image" Target="../media/image158.png"/><Relationship Id="rId49" Type="http://schemas.openxmlformats.org/officeDocument/2006/relationships/image" Target="../media/image159.png"/><Relationship Id="rId50" Type="http://schemas.openxmlformats.org/officeDocument/2006/relationships/image" Target="../media/image160.png"/><Relationship Id="rId51" Type="http://schemas.openxmlformats.org/officeDocument/2006/relationships/image" Target="../media/image161.png"/><Relationship Id="rId52" Type="http://schemas.openxmlformats.org/officeDocument/2006/relationships/image" Target="../media/image162.png"/><Relationship Id="rId53" Type="http://schemas.openxmlformats.org/officeDocument/2006/relationships/image" Target="../media/image163.png"/><Relationship Id="rId54" Type="http://schemas.openxmlformats.org/officeDocument/2006/relationships/image" Target="../media/image164.png"/><Relationship Id="rId55" Type="http://schemas.openxmlformats.org/officeDocument/2006/relationships/image" Target="../media/image75.png"/><Relationship Id="rId56" Type="http://schemas.openxmlformats.org/officeDocument/2006/relationships/image" Target="../media/image165.png"/><Relationship Id="rId57" Type="http://schemas.openxmlformats.org/officeDocument/2006/relationships/image" Target="../media/image166.png"/><Relationship Id="rId58" Type="http://schemas.openxmlformats.org/officeDocument/2006/relationships/image" Target="../media/image78.png"/><Relationship Id="rId59" Type="http://schemas.openxmlformats.org/officeDocument/2006/relationships/image" Target="../media/image79.png"/><Relationship Id="rId60" Type="http://schemas.openxmlformats.org/officeDocument/2006/relationships/image" Target="../media/image80.png"/><Relationship Id="rId61" Type="http://schemas.openxmlformats.org/officeDocument/2006/relationships/image" Target="../media/image167.png"/><Relationship Id="rId62" Type="http://schemas.openxmlformats.org/officeDocument/2006/relationships/image" Target="../media/image168.png"/><Relationship Id="rId63" Type="http://schemas.openxmlformats.org/officeDocument/2006/relationships/image" Target="../media/image169.png"/><Relationship Id="rId64" Type="http://schemas.openxmlformats.org/officeDocument/2006/relationships/image" Target="../media/image170.png"/><Relationship Id="rId65" Type="http://schemas.openxmlformats.org/officeDocument/2006/relationships/image" Target="../media/image171.png"/><Relationship Id="rId66" Type="http://schemas.openxmlformats.org/officeDocument/2006/relationships/image" Target="../media/image172.png"/><Relationship Id="rId67" Type="http://schemas.openxmlformats.org/officeDocument/2006/relationships/image" Target="../media/image87.png"/><Relationship Id="rId68" Type="http://schemas.openxmlformats.org/officeDocument/2006/relationships/image" Target="../media/image173.png"/><Relationship Id="rId69" Type="http://schemas.openxmlformats.org/officeDocument/2006/relationships/image" Target="../media/image174.png"/><Relationship Id="rId70" Type="http://schemas.openxmlformats.org/officeDocument/2006/relationships/image" Target="../media/image175.png"/><Relationship Id="rId71" Type="http://schemas.openxmlformats.org/officeDocument/2006/relationships/image" Target="../media/image176.png"/><Relationship Id="rId72" Type="http://schemas.openxmlformats.org/officeDocument/2006/relationships/image" Target="../media/image177.png"/><Relationship Id="rId73" Type="http://schemas.openxmlformats.org/officeDocument/2006/relationships/image" Target="../media/image178.png"/><Relationship Id="rId74" Type="http://schemas.openxmlformats.org/officeDocument/2006/relationships/image" Target="../media/image179.png"/><Relationship Id="rId75" Type="http://schemas.openxmlformats.org/officeDocument/2006/relationships/image" Target="../media/image95.png"/><Relationship Id="rId76" Type="http://schemas.openxmlformats.org/officeDocument/2006/relationships/image" Target="../media/image180.png"/><Relationship Id="rId77" Type="http://schemas.openxmlformats.org/officeDocument/2006/relationships/image" Target="../media/image181.png"/><Relationship Id="rId78" Type="http://schemas.openxmlformats.org/officeDocument/2006/relationships/image" Target="../media/image182.png"/><Relationship Id="rId79" Type="http://schemas.openxmlformats.org/officeDocument/2006/relationships/image" Target="../media/image183.png"/><Relationship Id="rId80" Type="http://schemas.openxmlformats.org/officeDocument/2006/relationships/image" Target="../media/image184.png"/><Relationship Id="rId81" Type="http://schemas.openxmlformats.org/officeDocument/2006/relationships/image" Target="../media/image101.png"/><Relationship Id="rId82" Type="http://schemas.openxmlformats.org/officeDocument/2006/relationships/image" Target="../media/image102.png"/><Relationship Id="rId83" Type="http://schemas.openxmlformats.org/officeDocument/2006/relationships/image" Target="../media/image185.png"/><Relationship Id="rId84" Type="http://schemas.openxmlformats.org/officeDocument/2006/relationships/image" Target="../media/image186.png"/><Relationship Id="rId85" Type="http://schemas.openxmlformats.org/officeDocument/2006/relationships/image" Target="../media/image187.png"/><Relationship Id="rId86" Type="http://schemas.openxmlformats.org/officeDocument/2006/relationships/image" Target="../media/image106.png"/><Relationship Id="rId87" Type="http://schemas.openxmlformats.org/officeDocument/2006/relationships/image" Target="../media/image188.png"/><Relationship Id="rId88" Type="http://schemas.openxmlformats.org/officeDocument/2006/relationships/image" Target="../media/image189.png"/><Relationship Id="rId89" Type="http://schemas.openxmlformats.org/officeDocument/2006/relationships/image" Target="../media/image190.png"/><Relationship Id="rId90" Type="http://schemas.openxmlformats.org/officeDocument/2006/relationships/image" Target="../media/image110.png"/><Relationship Id="rId91" Type="http://schemas.openxmlformats.org/officeDocument/2006/relationships/image" Target="../media/image191.png"/><Relationship Id="rId92" Type="http://schemas.openxmlformats.org/officeDocument/2006/relationships/image" Target="../media/image192.png"/><Relationship Id="rId93" Type="http://schemas.openxmlformats.org/officeDocument/2006/relationships/image" Target="../media/image193.png"/><Relationship Id="rId94" Type="http://schemas.openxmlformats.org/officeDocument/2006/relationships/image" Target="../media/image114.png"/><Relationship Id="rId95" Type="http://schemas.openxmlformats.org/officeDocument/2006/relationships/image" Target="../media/image115.png"/><Relationship Id="rId96" Type="http://schemas.openxmlformats.org/officeDocument/2006/relationships/image" Target="../media/image194.png"/><Relationship Id="rId97" Type="http://schemas.openxmlformats.org/officeDocument/2006/relationships/image" Target="../media/image195.png"/><Relationship Id="rId98" Type="http://schemas.openxmlformats.org/officeDocument/2006/relationships/image" Target="../media/image196.png"/><Relationship Id="rId99" Type="http://schemas.openxmlformats.org/officeDocument/2006/relationships/image" Target="../media/image197.png"/><Relationship Id="rId100" Type="http://schemas.openxmlformats.org/officeDocument/2006/relationships/image" Target="../media/image198.png"/><Relationship Id="rId101" Type="http://schemas.openxmlformats.org/officeDocument/2006/relationships/image" Target="../media/image199.png"/><Relationship Id="rId102" Type="http://schemas.openxmlformats.org/officeDocument/2006/relationships/image" Target="../media/image200.png"/><Relationship Id="rId103" Type="http://schemas.openxmlformats.org/officeDocument/2006/relationships/image" Target="../media/image201.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0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03.png"/><Relationship Id="rId5" Type="http://schemas.openxmlformats.org/officeDocument/2006/relationships/image" Target="../media/image204.png"/><Relationship Id="rId6" Type="http://schemas.openxmlformats.org/officeDocument/2006/relationships/image" Target="../media/image205.png"/><Relationship Id="rId7" Type="http://schemas.openxmlformats.org/officeDocument/2006/relationships/image" Target="../media/image206.png"/><Relationship Id="rId8" Type="http://schemas.openxmlformats.org/officeDocument/2006/relationships/image" Target="../media/image207.png"/><Relationship Id="rId9" Type="http://schemas.openxmlformats.org/officeDocument/2006/relationships/image" Target="../media/image208.png"/><Relationship Id="rId10" Type="http://schemas.openxmlformats.org/officeDocument/2006/relationships/image" Target="../media/image209.png"/><Relationship Id="rId11" Type="http://schemas.openxmlformats.org/officeDocument/2006/relationships/image" Target="../media/image210.png"/><Relationship Id="rId12" Type="http://schemas.openxmlformats.org/officeDocument/2006/relationships/image" Target="../media/image211.pn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image" Target="../media/image214.png"/><Relationship Id="rId16" Type="http://schemas.openxmlformats.org/officeDocument/2006/relationships/image" Target="../media/image215.png"/><Relationship Id="rId17" Type="http://schemas.openxmlformats.org/officeDocument/2006/relationships/image" Target="../media/image216.png"/><Relationship Id="rId18" Type="http://schemas.openxmlformats.org/officeDocument/2006/relationships/image" Target="../media/image217.png"/><Relationship Id="rId19" Type="http://schemas.openxmlformats.org/officeDocument/2006/relationships/image" Target="../media/image218.png"/><Relationship Id="rId20" Type="http://schemas.openxmlformats.org/officeDocument/2006/relationships/image" Target="../media/image219.png"/><Relationship Id="rId21" Type="http://schemas.openxmlformats.org/officeDocument/2006/relationships/image" Target="../media/image220.png"/><Relationship Id="rId22" Type="http://schemas.openxmlformats.org/officeDocument/2006/relationships/image" Target="../media/image221.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22.png"/><Relationship Id="rId5" Type="http://schemas.openxmlformats.org/officeDocument/2006/relationships/image" Target="../media/image223.png"/><Relationship Id="rId6" Type="http://schemas.openxmlformats.org/officeDocument/2006/relationships/image" Target="../media/image224.png"/><Relationship Id="rId7" Type="http://schemas.openxmlformats.org/officeDocument/2006/relationships/image" Target="../media/image225.png"/><Relationship Id="rId8" Type="http://schemas.openxmlformats.org/officeDocument/2006/relationships/image" Target="../media/image226.png"/><Relationship Id="rId9" Type="http://schemas.openxmlformats.org/officeDocument/2006/relationships/image" Target="../media/image227.png"/><Relationship Id="rId10" Type="http://schemas.openxmlformats.org/officeDocument/2006/relationships/image" Target="../media/image228.png"/><Relationship Id="rId11" Type="http://schemas.openxmlformats.org/officeDocument/2006/relationships/image" Target="../media/image229.png"/><Relationship Id="rId12" Type="http://schemas.openxmlformats.org/officeDocument/2006/relationships/image" Target="../media/image230.png"/><Relationship Id="rId13" Type="http://schemas.openxmlformats.org/officeDocument/2006/relationships/image" Target="../media/image231.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image" Target="../media/image237.png"/><Relationship Id="rId10" Type="http://schemas.openxmlformats.org/officeDocument/2006/relationships/image" Target="../media/image238.png"/><Relationship Id="rId11" Type="http://schemas.openxmlformats.org/officeDocument/2006/relationships/image" Target="../media/image239.png"/><Relationship Id="rId12" Type="http://schemas.openxmlformats.org/officeDocument/2006/relationships/image" Target="../media/image240.png"/><Relationship Id="rId13" Type="http://schemas.openxmlformats.org/officeDocument/2006/relationships/image" Target="../media/image241.png"/><Relationship Id="rId14" Type="http://schemas.openxmlformats.org/officeDocument/2006/relationships/image" Target="../media/image242.png"/><Relationship Id="rId15" Type="http://schemas.openxmlformats.org/officeDocument/2006/relationships/image" Target="../media/image243.png"/><Relationship Id="rId16" Type="http://schemas.openxmlformats.org/officeDocument/2006/relationships/image" Target="../media/image244.png"/><Relationship Id="rId17" Type="http://schemas.openxmlformats.org/officeDocument/2006/relationships/image" Target="../media/image245.png"/><Relationship Id="rId18" Type="http://schemas.openxmlformats.org/officeDocument/2006/relationships/image" Target="../media/image24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47.png"/><Relationship Id="rId5" Type="http://schemas.openxmlformats.org/officeDocument/2006/relationships/image" Target="../media/image248.png"/><Relationship Id="rId6" Type="http://schemas.openxmlformats.org/officeDocument/2006/relationships/image" Target="../media/image249.png"/><Relationship Id="rId7" Type="http://schemas.openxmlformats.org/officeDocument/2006/relationships/image" Target="../media/image250.png"/><Relationship Id="rId8" Type="http://schemas.openxmlformats.org/officeDocument/2006/relationships/image" Target="../media/image251.png"/><Relationship Id="rId9" Type="http://schemas.openxmlformats.org/officeDocument/2006/relationships/image" Target="../media/image252.png"/><Relationship Id="rId10" Type="http://schemas.openxmlformats.org/officeDocument/2006/relationships/image" Target="../media/image253.png"/><Relationship Id="rId11" Type="http://schemas.openxmlformats.org/officeDocument/2006/relationships/image" Target="../media/image254.png"/><Relationship Id="rId12" Type="http://schemas.openxmlformats.org/officeDocument/2006/relationships/image" Target="../media/image255.png"/><Relationship Id="rId13" Type="http://schemas.openxmlformats.org/officeDocument/2006/relationships/image" Target="../media/image256.png"/><Relationship Id="rId14" Type="http://schemas.openxmlformats.org/officeDocument/2006/relationships/image" Target="../media/image257.png"/><Relationship Id="rId15" Type="http://schemas.openxmlformats.org/officeDocument/2006/relationships/image" Target="../media/image258.png"/><Relationship Id="rId16" Type="http://schemas.openxmlformats.org/officeDocument/2006/relationships/image" Target="../media/image259.png"/><Relationship Id="rId17" Type="http://schemas.openxmlformats.org/officeDocument/2006/relationships/image" Target="../media/image212.png"/><Relationship Id="rId18" Type="http://schemas.openxmlformats.org/officeDocument/2006/relationships/image" Target="../media/image260.png"/><Relationship Id="rId19" Type="http://schemas.openxmlformats.org/officeDocument/2006/relationships/image" Target="../media/image261.png"/><Relationship Id="rId20" Type="http://schemas.openxmlformats.org/officeDocument/2006/relationships/image" Target="../media/image262.png"/><Relationship Id="rId21" Type="http://schemas.openxmlformats.org/officeDocument/2006/relationships/image" Target="../media/image263.png"/><Relationship Id="rId22" Type="http://schemas.openxmlformats.org/officeDocument/2006/relationships/image" Target="../media/image264.png"/><Relationship Id="rId23" Type="http://schemas.openxmlformats.org/officeDocument/2006/relationships/image" Target="../media/image265.png"/><Relationship Id="rId24" Type="http://schemas.openxmlformats.org/officeDocument/2006/relationships/image" Target="../media/image266.png"/><Relationship Id="rId25" Type="http://schemas.openxmlformats.org/officeDocument/2006/relationships/image" Target="../media/image267.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68.png"/><Relationship Id="rId5" Type="http://schemas.openxmlformats.org/officeDocument/2006/relationships/image" Target="../media/image269.png"/><Relationship Id="rId6" Type="http://schemas.openxmlformats.org/officeDocument/2006/relationships/image" Target="../media/image270.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71.png"/><Relationship Id="rId5" Type="http://schemas.openxmlformats.org/officeDocument/2006/relationships/image" Target="../media/image248.png"/><Relationship Id="rId6" Type="http://schemas.openxmlformats.org/officeDocument/2006/relationships/image" Target="../media/image272.png"/><Relationship Id="rId7" Type="http://schemas.openxmlformats.org/officeDocument/2006/relationships/image" Target="../media/image273.png"/><Relationship Id="rId8" Type="http://schemas.openxmlformats.org/officeDocument/2006/relationships/image" Target="../media/image274.png"/><Relationship Id="rId9" Type="http://schemas.openxmlformats.org/officeDocument/2006/relationships/image" Target="../media/image275.png"/><Relationship Id="rId10" Type="http://schemas.openxmlformats.org/officeDocument/2006/relationships/image" Target="../media/image276.png"/><Relationship Id="rId11" Type="http://schemas.openxmlformats.org/officeDocument/2006/relationships/image" Target="../media/image277.png"/><Relationship Id="rId12" Type="http://schemas.openxmlformats.org/officeDocument/2006/relationships/image" Target="../media/image278.png"/><Relationship Id="rId13" Type="http://schemas.openxmlformats.org/officeDocument/2006/relationships/image" Target="../media/image279.png"/><Relationship Id="rId14" Type="http://schemas.openxmlformats.org/officeDocument/2006/relationships/image" Target="../media/image280.png"/><Relationship Id="rId15" Type="http://schemas.openxmlformats.org/officeDocument/2006/relationships/image" Target="../media/image281.png"/><Relationship Id="rId16" Type="http://schemas.openxmlformats.org/officeDocument/2006/relationships/image" Target="../media/image282.png"/><Relationship Id="rId17" Type="http://schemas.openxmlformats.org/officeDocument/2006/relationships/image" Target="../media/image283.png"/><Relationship Id="rId18" Type="http://schemas.openxmlformats.org/officeDocument/2006/relationships/image" Target="../media/image28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85.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86.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87.png"/><Relationship Id="rId5" Type="http://schemas.openxmlformats.org/officeDocument/2006/relationships/image" Target="../media/image288.png"/><Relationship Id="rId6" Type="http://schemas.openxmlformats.org/officeDocument/2006/relationships/image" Target="../media/image289.png"/><Relationship Id="rId7" Type="http://schemas.openxmlformats.org/officeDocument/2006/relationships/image" Target="../media/image290.png"/><Relationship Id="rId8" Type="http://schemas.openxmlformats.org/officeDocument/2006/relationships/image" Target="../media/image291.png"/><Relationship Id="rId9" Type="http://schemas.openxmlformats.org/officeDocument/2006/relationships/image" Target="../media/image292.png"/><Relationship Id="rId10" Type="http://schemas.openxmlformats.org/officeDocument/2006/relationships/image" Target="../media/image293.png"/><Relationship Id="rId11" Type="http://schemas.openxmlformats.org/officeDocument/2006/relationships/image" Target="../media/image294.png"/><Relationship Id="rId12" Type="http://schemas.openxmlformats.org/officeDocument/2006/relationships/image" Target="../media/image295.png"/><Relationship Id="rId13" Type="http://schemas.openxmlformats.org/officeDocument/2006/relationships/image" Target="../media/image296.png"/><Relationship Id="rId14" Type="http://schemas.openxmlformats.org/officeDocument/2006/relationships/image" Target="../media/image297.png"/><Relationship Id="rId15" Type="http://schemas.openxmlformats.org/officeDocument/2006/relationships/image" Target="../media/image298.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99.png"/><Relationship Id="rId5" Type="http://schemas.openxmlformats.org/officeDocument/2006/relationships/image" Target="../media/image300.png"/><Relationship Id="rId6" Type="http://schemas.openxmlformats.org/officeDocument/2006/relationships/image" Target="../media/image301.png"/><Relationship Id="rId7" Type="http://schemas.openxmlformats.org/officeDocument/2006/relationships/image" Target="../media/image302.png"/><Relationship Id="rId8" Type="http://schemas.openxmlformats.org/officeDocument/2006/relationships/image" Target="../media/image303.png"/><Relationship Id="rId9" Type="http://schemas.openxmlformats.org/officeDocument/2006/relationships/image" Target="../media/image304.png"/><Relationship Id="rId10" Type="http://schemas.openxmlformats.org/officeDocument/2006/relationships/image" Target="../media/image305.png"/><Relationship Id="rId11" Type="http://schemas.openxmlformats.org/officeDocument/2006/relationships/image" Target="../media/image306.png"/><Relationship Id="rId12" Type="http://schemas.openxmlformats.org/officeDocument/2006/relationships/image" Target="../media/image307.png"/><Relationship Id="rId13" Type="http://schemas.openxmlformats.org/officeDocument/2006/relationships/image" Target="../media/image308.png"/><Relationship Id="rId14" Type="http://schemas.openxmlformats.org/officeDocument/2006/relationships/image" Target="../media/image309.png"/><Relationship Id="rId15" Type="http://schemas.openxmlformats.org/officeDocument/2006/relationships/image" Target="../media/image310.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311.png"/><Relationship Id="rId5" Type="http://schemas.openxmlformats.org/officeDocument/2006/relationships/image" Target="../media/image312.png"/><Relationship Id="rId6" Type="http://schemas.openxmlformats.org/officeDocument/2006/relationships/image" Target="../media/image248.png"/><Relationship Id="rId7" Type="http://schemas.openxmlformats.org/officeDocument/2006/relationships/image" Target="../media/image313.png"/><Relationship Id="rId8" Type="http://schemas.openxmlformats.org/officeDocument/2006/relationships/image" Target="../media/image212.png"/><Relationship Id="rId9" Type="http://schemas.openxmlformats.org/officeDocument/2006/relationships/image" Target="../media/image314.png"/><Relationship Id="rId10" Type="http://schemas.openxmlformats.org/officeDocument/2006/relationships/image" Target="../media/image315.png"/><Relationship Id="rId11" Type="http://schemas.openxmlformats.org/officeDocument/2006/relationships/image" Target="../media/image316.png"/><Relationship Id="rId12" Type="http://schemas.openxmlformats.org/officeDocument/2006/relationships/image" Target="../media/image317.png"/><Relationship Id="rId13" Type="http://schemas.openxmlformats.org/officeDocument/2006/relationships/image" Target="../media/image318.png"/><Relationship Id="rId14" Type="http://schemas.openxmlformats.org/officeDocument/2006/relationships/image" Target="../media/image229.png"/><Relationship Id="rId15" Type="http://schemas.openxmlformats.org/officeDocument/2006/relationships/image" Target="../media/image319.png"/><Relationship Id="rId16" Type="http://schemas.openxmlformats.org/officeDocument/2006/relationships/image" Target="../media/image320.png"/><Relationship Id="rId17" Type="http://schemas.openxmlformats.org/officeDocument/2006/relationships/image" Target="../media/image321.png"/><Relationship Id="rId18" Type="http://schemas.openxmlformats.org/officeDocument/2006/relationships/image" Target="../media/image322.png"/><Relationship Id="rId19" Type="http://schemas.openxmlformats.org/officeDocument/2006/relationships/image" Target="../media/image323.png"/><Relationship Id="rId20" Type="http://schemas.openxmlformats.org/officeDocument/2006/relationships/image" Target="../media/image324.png"/><Relationship Id="rId21" Type="http://schemas.openxmlformats.org/officeDocument/2006/relationships/image" Target="../media/image325.png"/><Relationship Id="rId22" Type="http://schemas.openxmlformats.org/officeDocument/2006/relationships/image" Target="../media/image326.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27.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328.png"/><Relationship Id="rId5" Type="http://schemas.openxmlformats.org/officeDocument/2006/relationships/image" Target="../media/image329.png"/><Relationship Id="rId6" Type="http://schemas.openxmlformats.org/officeDocument/2006/relationships/image" Target="../media/image330.png"/><Relationship Id="rId7" Type="http://schemas.openxmlformats.org/officeDocument/2006/relationships/image" Target="../media/image331.png"/><Relationship Id="rId8" Type="http://schemas.openxmlformats.org/officeDocument/2006/relationships/image" Target="../media/image332.png"/><Relationship Id="rId9" Type="http://schemas.openxmlformats.org/officeDocument/2006/relationships/image" Target="../media/image333.png"/><Relationship Id="rId10" Type="http://schemas.openxmlformats.org/officeDocument/2006/relationships/image" Target="../media/image334.png"/><Relationship Id="rId11" Type="http://schemas.openxmlformats.org/officeDocument/2006/relationships/image" Target="../media/image335.png"/><Relationship Id="rId12" Type="http://schemas.openxmlformats.org/officeDocument/2006/relationships/image" Target="../media/image336.png"/><Relationship Id="rId13" Type="http://schemas.openxmlformats.org/officeDocument/2006/relationships/image" Target="../media/image337.png"/><Relationship Id="rId14" Type="http://schemas.openxmlformats.org/officeDocument/2006/relationships/image" Target="../media/image338.png"/><Relationship Id="rId15" Type="http://schemas.openxmlformats.org/officeDocument/2006/relationships/image" Target="../media/image339.png"/><Relationship Id="rId16" Type="http://schemas.openxmlformats.org/officeDocument/2006/relationships/image" Target="../media/image340.png"/><Relationship Id="rId17" Type="http://schemas.openxmlformats.org/officeDocument/2006/relationships/image" Target="../media/image341.png"/><Relationship Id="rId18" Type="http://schemas.openxmlformats.org/officeDocument/2006/relationships/image" Target="../media/image342.png"/><Relationship Id="rId19" Type="http://schemas.openxmlformats.org/officeDocument/2006/relationships/image" Target="../media/image343.png"/><Relationship Id="rId20" Type="http://schemas.openxmlformats.org/officeDocument/2006/relationships/hyperlink" Target="http://european-alternatives.eu" TargetMode="External"/><Relationship Id="rId21" Type="http://schemas.openxmlformats.org/officeDocument/2006/relationships/image" Target="../media/image344.png"/><Relationship Id="rId22" Type="http://schemas.openxmlformats.org/officeDocument/2006/relationships/image" Target="../media/image345.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346.png"/><Relationship Id="rId5" Type="http://schemas.openxmlformats.org/officeDocument/2006/relationships/image" Target="../media/image347.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348.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rolle.social" TargetMode="External"/><Relationship Id="rId4" Type="http://schemas.openxmlformats.org/officeDocument/2006/relationships/hyperlink" Target="http://dude.fi" TargetMode="External"/><Relationship Id="rId5" Type="http://schemas.openxmlformats.org/officeDocument/2006/relationships/hyperlink" Target="http://github.com/rollecode" TargetMode="External"/><Relationship Id="rId6" Type="http://schemas.openxmlformats.org/officeDocument/2006/relationships/hyperlink" Target="http://github.com/rollecode/mindtrek2026-talk-slides" TargetMode="External"/><Relationship Id="rId7" Type="http://schemas.openxmlformats.org/officeDocument/2006/relationships/image" Target="../media/image349.png"/><Relationship Id="rId8" Type="http://schemas.openxmlformats.org/officeDocument/2006/relationships/image" Target="../media/image35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mindtrek.png" descr="mindtrek.png"/>
          <p:cNvPicPr>
            <a:picLocks noChangeAspect="1"/>
          </p:cNvPicPr>
          <p:nvPr/>
        </p:nvPicPr>
        <p:blipFill>
          <a:blip r:embed="rId4">
            <a:extLst/>
          </a:blip>
          <a:stretch>
            <a:fillRect/>
          </a:stretch>
        </p:blipFill>
        <p:spPr>
          <a:xfrm>
            <a:off x="1371600" y="965200"/>
            <a:ext cx="3048000" cy="3937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Mindtrek 2026, Tampere, 6th of October, 2026"/>
          <p:cNvSpPr txBox="1"/>
          <p:nvPr/>
        </p:nvSpPr>
        <p:spPr>
          <a:xfrm>
            <a:off x="1320800" y="1473200"/>
            <a:ext cx="70993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Mindtrek 2026, Tampere, 6th of October, 2026</a:t>
            </a:r>
          </a:p>
        </p:txBody>
      </p:sp>
      <p:sp>
        <p:nvSpPr>
          <p:cNvPr id="176" name="Sovereign"/>
          <p:cNvSpPr txBox="1"/>
          <p:nvPr/>
        </p:nvSpPr>
        <p:spPr>
          <a:xfrm>
            <a:off x="1295400" y="35052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Sovereign</a:t>
            </a:r>
          </a:p>
        </p:txBody>
      </p:sp>
      <p:sp>
        <p:nvSpPr>
          <p:cNvPr id="177" name="by habit"/>
          <p:cNvSpPr txBox="1"/>
          <p:nvPr/>
        </p:nvSpPr>
        <p:spPr>
          <a:xfrm>
            <a:off x="1409700" y="49403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by habit</a:t>
            </a:r>
          </a:p>
        </p:txBody>
      </p:sp>
      <p:sp>
        <p:nvSpPr>
          <p:cNvPr id="178" name="20 years of self-hosting from source"/>
          <p:cNvSpPr txBox="1"/>
          <p:nvPr/>
        </p:nvSpPr>
        <p:spPr>
          <a:xfrm>
            <a:off x="1320800" y="77724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20 years of self-hosting from source</a:t>
            </a:r>
          </a:p>
        </p:txBody>
      </p:sp>
      <p:sp>
        <p:nvSpPr>
          <p:cNvPr id="179" name="on European servers"/>
          <p:cNvSpPr txBox="1"/>
          <p:nvPr/>
        </p:nvSpPr>
        <p:spPr>
          <a:xfrm>
            <a:off x="1320800" y="84201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on European servers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185" name="About Rolle"/>
          <p:cNvSpPr txBox="1"/>
          <p:nvPr/>
        </p:nvSpPr>
        <p:spPr>
          <a:xfrm>
            <a:off x="1308100" y="2743200"/>
            <a:ext cx="111760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6"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4165599"/>
            <a:ext cx="11176000" cy="26720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Founder and CTO of Digitoimisto Dude Oy. Code soon 30 years, WordPress since 2005, online since 1999. Accessibility, open source, Linux servers, and building my own tools. Free time: running, bilingual family, knows sign language.</a:t>
            </a:r>
          </a:p>
        </p:txBody>
      </p:sp>
      <p:sp>
        <p:nvSpPr>
          <p:cNvPr id="187" name="Contributing to WordPress and open source since we founded Dude in 2013: 71 open source repositories on GitHub, including air-light, our starter theme with over 1100 stars. Self-hosting as much as we can."/>
          <p:cNvSpPr txBox="1"/>
          <p:nvPr/>
        </p:nvSpPr>
        <p:spPr>
          <a:xfrm>
            <a:off x="1320800" y="8623300"/>
            <a:ext cx="11176000"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 Self-hosting as much as we can.</a:t>
            </a:r>
          </a:p>
        </p:txBody>
      </p:sp>
      <p:sp>
        <p:nvSpPr>
          <p:cNvPr id="18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189" name="rolle-90s-tall.jpg" descr="rolle-90s-tall.jpg"/>
          <p:cNvPicPr>
            <a:picLocks noChangeAspect="1"/>
          </p:cNvPicPr>
          <p:nvPr/>
        </p:nvPicPr>
        <p:blipFill>
          <a:blip r:embed="rId3">
            <a:extLst/>
          </a:blip>
          <a:stretch>
            <a:fillRect/>
          </a:stretch>
        </p:blipFill>
        <p:spPr>
          <a:xfrm>
            <a:off x="13716000" y="0"/>
            <a:ext cx="5334000" cy="5715000"/>
          </a:xfrm>
          <a:prstGeom prst="rect">
            <a:avLst/>
          </a:prstGeom>
          <a:ln w="12700">
            <a:miter lim="400000"/>
          </a:ln>
        </p:spPr>
      </p:pic>
      <p:pic>
        <p:nvPicPr>
          <p:cNvPr id="190" name="rolle-pc-tall.jpg" descr="rolle-pc-tall.jpg"/>
          <p:cNvPicPr>
            <a:picLocks noChangeAspect="1"/>
          </p:cNvPicPr>
          <p:nvPr/>
        </p:nvPicPr>
        <p:blipFill>
          <a:blip r:embed="rId4">
            <a:extLst/>
          </a:blip>
          <a:stretch>
            <a:fillRect/>
          </a:stretch>
        </p:blipFill>
        <p:spPr>
          <a:xfrm>
            <a:off x="19050000" y="0"/>
            <a:ext cx="5334000" cy="5715000"/>
          </a:xfrm>
          <a:prstGeom prst="rect">
            <a:avLst/>
          </a:prstGeom>
          <a:ln w="12700">
            <a:miter lim="400000"/>
          </a:ln>
        </p:spPr>
      </p:pic>
      <p:pic>
        <p:nvPicPr>
          <p:cNvPr id="191" name="dudella.jpg" descr="dudella.jpg"/>
          <p:cNvPicPr>
            <a:picLocks noChangeAspect="1"/>
          </p:cNvPicPr>
          <p:nvPr/>
        </p:nvPicPr>
        <p:blipFill>
          <a:blip r:embed="rId5">
            <a:extLst/>
          </a:blip>
          <a:stretch>
            <a:fillRect/>
          </a:stretch>
        </p:blipFill>
        <p:spPr>
          <a:xfrm>
            <a:off x="13716000" y="5715000"/>
            <a:ext cx="10668000" cy="8001000"/>
          </a:xfrm>
          <a:prstGeom prst="rect">
            <a:avLst/>
          </a:prstGeom>
          <a:ln w="12700">
            <a:miter lim="400000"/>
          </a:ln>
        </p:spPr>
      </p:pic>
      <p:pic>
        <p:nvPicPr>
          <p:cNvPr id="192" name="dude-logo-ink.png" descr="dude-logo-ink.png"/>
          <p:cNvPicPr>
            <a:picLocks noChangeAspect="1"/>
          </p:cNvPicPr>
          <p:nvPr/>
        </p:nvPicPr>
        <p:blipFill>
          <a:blip r:embed="rId6">
            <a:extLst/>
          </a:blip>
          <a:stretch>
            <a:fillRect/>
          </a:stretch>
        </p:blipFill>
        <p:spPr>
          <a:xfrm>
            <a:off x="1371600" y="7848600"/>
            <a:ext cx="2648612" cy="516629"/>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5" name="What I mean by server and sourc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 mean by </a:t>
            </a:r>
            <a:r>
              <a:rPr i="1" sz="9800">
                <a:solidFill>
                  <a:srgbClr val="6033A6"/>
                </a:solidFill>
                <a:latin typeface="Instrument Serif Regular"/>
                <a:ea typeface="Instrument Serif Regular"/>
                <a:cs typeface="Instrument Serif Regular"/>
                <a:sym typeface="Instrument Serif Regular"/>
              </a:rPr>
              <a:t>server and source</a:t>
            </a:r>
          </a:p>
        </p:txBody>
      </p:sp>
      <p:sp>
        <p:nvSpPr>
          <p:cNvPr id="196" name="Server"/>
          <p:cNvSpPr txBox="1"/>
          <p:nvPr/>
        </p:nvSpPr>
        <p:spPr>
          <a:xfrm>
            <a:off x="1295400" y="73659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Server</a:t>
            </a:r>
          </a:p>
        </p:txBody>
      </p:sp>
      <p:sp>
        <p:nvSpPr>
          <p:cNvPr id="197" name="A computer the outside world can reach online."/>
          <p:cNvSpPr txBox="1"/>
          <p:nvPr/>
        </p:nvSpPr>
        <p:spPr>
          <a:xfrm>
            <a:off x="1320800" y="8191499"/>
            <a:ext cx="650108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computer the outside world can reach online.</a:t>
            </a:r>
          </a:p>
        </p:txBody>
      </p:sp>
      <p:sp>
        <p:nvSpPr>
          <p:cNvPr id="198" name="Source"/>
          <p:cNvSpPr txBox="1"/>
          <p:nvPr/>
        </p:nvSpPr>
        <p:spPr>
          <a:xfrm>
            <a:off x="12801600" y="73659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Source</a:t>
            </a:r>
          </a:p>
        </p:txBody>
      </p:sp>
      <p:sp>
        <p:nvSpPr>
          <p:cNvPr id="199" name="A file I can read and study myself, without barriers."/>
          <p:cNvSpPr txBox="1"/>
          <p:nvPr/>
        </p:nvSpPr>
        <p:spPr>
          <a:xfrm>
            <a:off x="12827000" y="8191499"/>
            <a:ext cx="695381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file I can read and study myself, without barriers.</a:t>
            </a:r>
          </a:p>
        </p:txBody>
      </p:sp>
      <p:sp>
        <p:nvSpPr>
          <p:cNvPr id="20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01" name="server.png" descr="server.png"/>
          <p:cNvPicPr>
            <a:picLocks noChangeAspect="1"/>
          </p:cNvPicPr>
          <p:nvPr/>
        </p:nvPicPr>
        <p:blipFill>
          <a:blip r:embed="rId4">
            <a:extLst/>
          </a:blip>
          <a:stretch>
            <a:fillRect/>
          </a:stretch>
        </p:blipFill>
        <p:spPr>
          <a:xfrm>
            <a:off x="1371600" y="5842000"/>
            <a:ext cx="4299887" cy="965200"/>
          </a:xfrm>
          <a:prstGeom prst="rect">
            <a:avLst/>
          </a:prstGeom>
          <a:ln w="12700">
            <a:miter lim="400000"/>
          </a:ln>
        </p:spPr>
      </p:pic>
      <p:pic>
        <p:nvPicPr>
          <p:cNvPr id="202" name="source.png" descr="source.png"/>
          <p:cNvPicPr>
            <a:picLocks noChangeAspect="1"/>
          </p:cNvPicPr>
          <p:nvPr/>
        </p:nvPicPr>
        <p:blipFill>
          <a:blip r:embed="rId5">
            <a:extLst/>
          </a:blip>
          <a:stretch>
            <a:fillRect/>
          </a:stretch>
        </p:blipFill>
        <p:spPr>
          <a:xfrm>
            <a:off x="12877800" y="5842000"/>
            <a:ext cx="4246880" cy="965200"/>
          </a:xfrm>
          <a:prstGeom prst="rect">
            <a:avLst/>
          </a:prstGeom>
          <a:ln w="12700">
            <a:miter lim="400000"/>
          </a:ln>
        </p:spPr>
      </p:pic>
      <p:pic>
        <p:nvPicPr>
          <p:cNvPr id="203" name="prog-3.png" descr="prog-3.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8" name="When some of us started,"/>
          <p:cNvSpPr txBox="1"/>
          <p:nvPr/>
        </p:nvSpPr>
        <p:spPr>
          <a:xfrm>
            <a:off x="1295400" y="39750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When some of us started,</a:t>
            </a:r>
          </a:p>
        </p:txBody>
      </p:sp>
      <p:sp>
        <p:nvSpPr>
          <p:cNvPr id="209" name="this was the whole stack"/>
          <p:cNvSpPr txBox="1"/>
          <p:nvPr/>
        </p:nvSpPr>
        <p:spPr>
          <a:xfrm>
            <a:off x="1308100" y="51434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this was the whole stack</a:t>
            </a:r>
          </a:p>
        </p:txBody>
      </p:sp>
      <p:sp>
        <p:nvSpPr>
          <p:cNvPr id="21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11" name="commodore.png" descr="commodore.png"/>
          <p:cNvPicPr>
            <a:picLocks noChangeAspect="1"/>
          </p:cNvPicPr>
          <p:nvPr/>
        </p:nvPicPr>
        <p:blipFill>
          <a:blip r:embed="rId4">
            <a:extLst/>
          </a:blip>
          <a:stretch>
            <a:fillRect/>
          </a:stretch>
        </p:blipFill>
        <p:spPr>
          <a:xfrm>
            <a:off x="1320800" y="7924800"/>
            <a:ext cx="2538173" cy="406400"/>
          </a:xfrm>
          <a:prstGeom prst="rect">
            <a:avLst/>
          </a:prstGeom>
          <a:ln w="12700">
            <a:miter lim="400000"/>
          </a:ln>
        </p:spPr>
      </p:pic>
      <p:pic>
        <p:nvPicPr>
          <p:cNvPr id="212" name="gnu.png" descr="gnu.png"/>
          <p:cNvPicPr>
            <a:picLocks noChangeAspect="1"/>
          </p:cNvPicPr>
          <p:nvPr/>
        </p:nvPicPr>
        <p:blipFill>
          <a:blip r:embed="rId5">
            <a:extLst/>
          </a:blip>
          <a:stretch>
            <a:fillRect/>
          </a:stretch>
        </p:blipFill>
        <p:spPr>
          <a:xfrm>
            <a:off x="4787900" y="7848600"/>
            <a:ext cx="1655911" cy="558800"/>
          </a:xfrm>
          <a:prstGeom prst="rect">
            <a:avLst/>
          </a:prstGeom>
          <a:ln w="12700">
            <a:miter lim="400000"/>
          </a:ln>
        </p:spPr>
      </p:pic>
      <p:pic>
        <p:nvPicPr>
          <p:cNvPr id="213" name="freebsd.png" descr="freebsd.png"/>
          <p:cNvPicPr>
            <a:picLocks noChangeAspect="1"/>
          </p:cNvPicPr>
          <p:nvPr/>
        </p:nvPicPr>
        <p:blipFill>
          <a:blip r:embed="rId6">
            <a:extLst/>
          </a:blip>
          <a:stretch>
            <a:fillRect/>
          </a:stretch>
        </p:blipFill>
        <p:spPr>
          <a:xfrm>
            <a:off x="7391400" y="7874000"/>
            <a:ext cx="2451007" cy="495300"/>
          </a:xfrm>
          <a:prstGeom prst="rect">
            <a:avLst/>
          </a:prstGeom>
          <a:ln w="12700">
            <a:miter lim="400000"/>
          </a:ln>
        </p:spPr>
      </p:pic>
      <p:pic>
        <p:nvPicPr>
          <p:cNvPr id="214" name="perl.png" descr="perl.png"/>
          <p:cNvPicPr>
            <a:picLocks noChangeAspect="1"/>
          </p:cNvPicPr>
          <p:nvPr/>
        </p:nvPicPr>
        <p:blipFill>
          <a:blip r:embed="rId7">
            <a:extLst/>
          </a:blip>
          <a:stretch>
            <a:fillRect/>
          </a:stretch>
        </p:blipFill>
        <p:spPr>
          <a:xfrm>
            <a:off x="10833100" y="7848600"/>
            <a:ext cx="1491997" cy="558800"/>
          </a:xfrm>
          <a:prstGeom prst="rect">
            <a:avLst/>
          </a:prstGeom>
          <a:ln w="12700">
            <a:miter lim="400000"/>
          </a:ln>
        </p:spPr>
      </p:pic>
      <p:pic>
        <p:nvPicPr>
          <p:cNvPr id="215" name="linux.png" descr="linux.png"/>
          <p:cNvPicPr>
            <a:picLocks noChangeAspect="1"/>
          </p:cNvPicPr>
          <p:nvPr/>
        </p:nvPicPr>
        <p:blipFill>
          <a:blip r:embed="rId8">
            <a:extLst/>
          </a:blip>
          <a:stretch>
            <a:fillRect/>
          </a:stretch>
        </p:blipFill>
        <p:spPr>
          <a:xfrm>
            <a:off x="13271500" y="7848600"/>
            <a:ext cx="1745319" cy="558800"/>
          </a:xfrm>
          <a:prstGeom prst="rect">
            <a:avLst/>
          </a:prstGeom>
          <a:ln w="12700">
            <a:miter lim="400000"/>
          </a:ln>
        </p:spPr>
      </p:pic>
      <p:pic>
        <p:nvPicPr>
          <p:cNvPr id="216" name="slackware.png" descr="slackware.png"/>
          <p:cNvPicPr>
            <a:picLocks noChangeAspect="1"/>
          </p:cNvPicPr>
          <p:nvPr/>
        </p:nvPicPr>
        <p:blipFill>
          <a:blip r:embed="rId9">
            <a:extLst/>
          </a:blip>
          <a:stretch>
            <a:fillRect/>
          </a:stretch>
        </p:blipFill>
        <p:spPr>
          <a:xfrm>
            <a:off x="15963900" y="7899400"/>
            <a:ext cx="2238947" cy="444500"/>
          </a:xfrm>
          <a:prstGeom prst="rect">
            <a:avLst/>
          </a:prstGeom>
          <a:ln w="12700">
            <a:miter lim="400000"/>
          </a:ln>
        </p:spPr>
      </p:pic>
      <p:pic>
        <p:nvPicPr>
          <p:cNvPr id="217" name="debian.png" descr="debian.png"/>
          <p:cNvPicPr>
            <a:picLocks noChangeAspect="1"/>
          </p:cNvPicPr>
          <p:nvPr/>
        </p:nvPicPr>
        <p:blipFill>
          <a:blip r:embed="rId10">
            <a:extLst/>
          </a:blip>
          <a:stretch>
            <a:fillRect/>
          </a:stretch>
        </p:blipFill>
        <p:spPr>
          <a:xfrm>
            <a:off x="19177000" y="7683500"/>
            <a:ext cx="671653" cy="889000"/>
          </a:xfrm>
          <a:prstGeom prst="rect">
            <a:avLst/>
          </a:prstGeom>
          <a:ln w="12700">
            <a:miter lim="400000"/>
          </a:ln>
        </p:spPr>
      </p:pic>
      <p:pic>
        <p:nvPicPr>
          <p:cNvPr id="218" name="redhat.png" descr="redhat.png"/>
          <p:cNvPicPr>
            <a:picLocks noChangeAspect="1"/>
          </p:cNvPicPr>
          <p:nvPr/>
        </p:nvPicPr>
        <p:blipFill>
          <a:blip r:embed="rId11">
            <a:extLst/>
          </a:blip>
          <a:stretch>
            <a:fillRect/>
          </a:stretch>
        </p:blipFill>
        <p:spPr>
          <a:xfrm>
            <a:off x="1320800" y="9258300"/>
            <a:ext cx="886565" cy="889000"/>
          </a:xfrm>
          <a:prstGeom prst="rect">
            <a:avLst/>
          </a:prstGeom>
          <a:ln w="12700">
            <a:miter lim="400000"/>
          </a:ln>
        </p:spPr>
      </p:pic>
      <p:pic>
        <p:nvPicPr>
          <p:cNvPr id="219" name="suse.png" descr="suse.png"/>
          <p:cNvPicPr>
            <a:picLocks noChangeAspect="1"/>
          </p:cNvPicPr>
          <p:nvPr/>
        </p:nvPicPr>
        <p:blipFill>
          <a:blip r:embed="rId12">
            <a:extLst/>
          </a:blip>
          <a:stretch>
            <a:fillRect/>
          </a:stretch>
        </p:blipFill>
        <p:spPr>
          <a:xfrm>
            <a:off x="3175000" y="9309100"/>
            <a:ext cx="1270733" cy="787400"/>
          </a:xfrm>
          <a:prstGeom prst="rect">
            <a:avLst/>
          </a:prstGeom>
          <a:ln w="12700">
            <a:miter lim="400000"/>
          </a:ln>
        </p:spPr>
      </p:pic>
      <p:pic>
        <p:nvPicPr>
          <p:cNvPr id="220" name="apache.png" descr="apache.png"/>
          <p:cNvPicPr>
            <a:picLocks noChangeAspect="1"/>
          </p:cNvPicPr>
          <p:nvPr/>
        </p:nvPicPr>
        <p:blipFill>
          <a:blip r:embed="rId13">
            <a:extLst/>
          </a:blip>
          <a:stretch>
            <a:fillRect/>
          </a:stretch>
        </p:blipFill>
        <p:spPr>
          <a:xfrm>
            <a:off x="5410200" y="9398000"/>
            <a:ext cx="1624653" cy="622300"/>
          </a:xfrm>
          <a:prstGeom prst="rect">
            <a:avLst/>
          </a:prstGeom>
          <a:ln w="12700">
            <a:miter lim="400000"/>
          </a:ln>
        </p:spPr>
      </p:pic>
      <p:pic>
        <p:nvPicPr>
          <p:cNvPr id="221" name="mysql.png" descr="mysql.png"/>
          <p:cNvPicPr>
            <a:picLocks noChangeAspect="1"/>
          </p:cNvPicPr>
          <p:nvPr/>
        </p:nvPicPr>
        <p:blipFill>
          <a:blip r:embed="rId14">
            <a:extLst/>
          </a:blip>
          <a:stretch>
            <a:fillRect/>
          </a:stretch>
        </p:blipFill>
        <p:spPr>
          <a:xfrm>
            <a:off x="7988300" y="9347200"/>
            <a:ext cx="1393073" cy="723900"/>
          </a:xfrm>
          <a:prstGeom prst="rect">
            <a:avLst/>
          </a:prstGeom>
          <a:ln w="12700">
            <a:miter lim="400000"/>
          </a:ln>
        </p:spPr>
      </p:pic>
      <p:pic>
        <p:nvPicPr>
          <p:cNvPr id="222" name="php.png" descr="php.png"/>
          <p:cNvPicPr>
            <a:picLocks noChangeAspect="1"/>
          </p:cNvPicPr>
          <p:nvPr/>
        </p:nvPicPr>
        <p:blipFill>
          <a:blip r:embed="rId15">
            <a:extLst/>
          </a:blip>
          <a:stretch>
            <a:fillRect/>
          </a:stretch>
        </p:blipFill>
        <p:spPr>
          <a:xfrm>
            <a:off x="10337800" y="9347200"/>
            <a:ext cx="1374184" cy="723900"/>
          </a:xfrm>
          <a:prstGeom prst="rect">
            <a:avLst/>
          </a:prstGeom>
          <a:ln w="12700">
            <a:miter lim="400000"/>
          </a:ln>
        </p:spPr>
      </p:pic>
      <p:pic>
        <p:nvPicPr>
          <p:cNvPr id="223" name="vim.png" descr="vim.png"/>
          <p:cNvPicPr>
            <a:picLocks noChangeAspect="1"/>
          </p:cNvPicPr>
          <p:nvPr/>
        </p:nvPicPr>
        <p:blipFill>
          <a:blip r:embed="rId16">
            <a:extLst/>
          </a:blip>
          <a:stretch>
            <a:fillRect/>
          </a:stretch>
        </p:blipFill>
        <p:spPr>
          <a:xfrm>
            <a:off x="12674600" y="9258300"/>
            <a:ext cx="888182" cy="889000"/>
          </a:xfrm>
          <a:prstGeom prst="rect">
            <a:avLst/>
          </a:prstGeom>
          <a:ln w="12700">
            <a:miter lim="400000"/>
          </a:ln>
        </p:spPr>
      </p:pic>
      <p:pic>
        <p:nvPicPr>
          <p:cNvPr id="224" name="emacs.png" descr="emacs.png"/>
          <p:cNvPicPr>
            <a:picLocks noChangeAspect="1"/>
          </p:cNvPicPr>
          <p:nvPr/>
        </p:nvPicPr>
        <p:blipFill>
          <a:blip r:embed="rId17">
            <a:extLst/>
          </a:blip>
          <a:stretch>
            <a:fillRect/>
          </a:stretch>
        </p:blipFill>
        <p:spPr>
          <a:xfrm>
            <a:off x="14528800" y="9423400"/>
            <a:ext cx="2089912" cy="558800"/>
          </a:xfrm>
          <a:prstGeom prst="rect">
            <a:avLst/>
          </a:prstGeom>
          <a:ln w="12700">
            <a:miter lim="400000"/>
          </a:ln>
        </p:spPr>
      </p:pic>
      <p:pic>
        <p:nvPicPr>
          <p:cNvPr id="225" name="prog-4.png" descr="prog-4.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0" name="My first servers ran at hom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My first servers </a:t>
            </a:r>
            <a:r>
              <a:rPr i="1" sz="9800">
                <a:solidFill>
                  <a:srgbClr val="6033A6"/>
                </a:solidFill>
                <a:latin typeface="Instrument Serif Regular"/>
                <a:ea typeface="Instrument Serif Regular"/>
                <a:cs typeface="Instrument Serif Regular"/>
                <a:sym typeface="Instrument Serif Regular"/>
              </a:rPr>
              <a:t>ran at home</a:t>
            </a:r>
          </a:p>
        </p:txBody>
      </p:sp>
      <p:sp>
        <p:nvSpPr>
          <p:cNvPr id="231" name="Dynamic D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Dynamic DNS</a:t>
            </a:r>
          </a:p>
        </p:txBody>
      </p:sp>
      <p:sp>
        <p:nvSpPr>
          <p:cNvPr id="232" name="A script updated the DNS the moment my home IP changed."/>
          <p:cNvSpPr txBox="1"/>
          <p:nvPr/>
        </p:nvSpPr>
        <p:spPr>
          <a:xfrm>
            <a:off x="1320800" y="5638799"/>
            <a:ext cx="927816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script updated the DNS the moment my home IP changed.</a:t>
            </a:r>
          </a:p>
        </p:txBody>
      </p:sp>
      <p:sp>
        <p:nvSpPr>
          <p:cNvPr id="233" name="The problem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problems</a:t>
            </a:r>
          </a:p>
        </p:txBody>
      </p:sp>
      <p:sp>
        <p:nvSpPr>
          <p:cNvPr id="234" name="It ate the family bandwidth, upload was tiny, and it hummed in a wardrobe."/>
          <p:cNvSpPr txBox="1"/>
          <p:nvPr/>
        </p:nvSpPr>
        <p:spPr>
          <a:xfrm>
            <a:off x="12827000" y="5638799"/>
            <a:ext cx="899413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It ate the family bandwidth, upload was tiny, and it hummed in a wardrobe.</a:t>
            </a:r>
          </a:p>
        </p:txBody>
      </p:sp>
      <p:sp>
        <p:nvSpPr>
          <p:cNvPr id="235" name="Renting server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Renting servers</a:t>
            </a:r>
          </a:p>
        </p:txBody>
      </p:sp>
      <p:sp>
        <p:nvSpPr>
          <p:cNvPr id="236" name="Anything that needed bandwidth moved out of the wardrobe to rented servers."/>
          <p:cNvSpPr txBox="1"/>
          <p:nvPr/>
        </p:nvSpPr>
        <p:spPr>
          <a:xfrm>
            <a:off x="1320800" y="8811259"/>
            <a:ext cx="866215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Anything that needed bandwidth moved out of the wardrobe to rented servers.</a:t>
            </a:r>
          </a:p>
        </p:txBody>
      </p:sp>
      <p:sp>
        <p:nvSpPr>
          <p:cNvPr id="237" name="Still at ho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Still at home</a:t>
            </a:r>
          </a:p>
        </p:txBody>
      </p:sp>
      <p:sp>
        <p:nvSpPr>
          <p:cNvPr id="238" name="My IoT still runs at home on my own hardware, and I still tinker and self-host at home."/>
          <p:cNvSpPr txBox="1"/>
          <p:nvPr/>
        </p:nvSpPr>
        <p:spPr>
          <a:xfrm>
            <a:off x="12827000" y="8559799"/>
            <a:ext cx="939537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My IoT still runs at home on my own hardware, and I still tinker and self-host at home.</a:t>
            </a:r>
          </a:p>
        </p:txBody>
      </p:sp>
      <p:sp>
        <p:nvSpPr>
          <p:cNvPr id="239"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40"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46" name="pulumi-color.png" descr="pulumi-color.png"/>
          <p:cNvPicPr>
            <a:picLocks noChangeAspect="1"/>
          </p:cNvPicPr>
          <p:nvPr/>
        </p:nvPicPr>
        <p:blipFill>
          <a:blip r:embed="rId4">
            <a:extLst/>
          </a:blip>
          <a:stretch>
            <a:fillRect/>
          </a:stretch>
        </p:blipFill>
        <p:spPr>
          <a:xfrm>
            <a:off x="1320800" y="1358900"/>
            <a:ext cx="1524000" cy="381000"/>
          </a:xfrm>
          <a:prstGeom prst="rect">
            <a:avLst/>
          </a:prstGeom>
          <a:ln w="12700">
            <a:miter lim="400000"/>
          </a:ln>
        </p:spPr>
      </p:pic>
      <p:pic>
        <p:nvPicPr>
          <p:cNvPr id="247" name="cloudflareworkers-color.png" descr="cloudflareworkers-color.png"/>
          <p:cNvPicPr>
            <a:picLocks noChangeAspect="1"/>
          </p:cNvPicPr>
          <p:nvPr/>
        </p:nvPicPr>
        <p:blipFill>
          <a:blip r:embed="rId5">
            <a:extLst/>
          </a:blip>
          <a:stretch>
            <a:fillRect/>
          </a:stretch>
        </p:blipFill>
        <p:spPr>
          <a:xfrm>
            <a:off x="4241800" y="1371600"/>
            <a:ext cx="3104974" cy="368300"/>
          </a:xfrm>
          <a:prstGeom prst="rect">
            <a:avLst/>
          </a:prstGeom>
          <a:ln w="12700">
            <a:miter lim="400000"/>
          </a:ln>
        </p:spPr>
      </p:pic>
      <p:pic>
        <p:nvPicPr>
          <p:cNvPr id="248" name="ansible-color.png" descr="ansible-color.png"/>
          <p:cNvPicPr>
            <a:picLocks noChangeAspect="1"/>
          </p:cNvPicPr>
          <p:nvPr/>
        </p:nvPicPr>
        <p:blipFill>
          <a:blip r:embed="rId6">
            <a:extLst/>
          </a:blip>
          <a:stretch>
            <a:fillRect/>
          </a:stretch>
        </p:blipFill>
        <p:spPr>
          <a:xfrm>
            <a:off x="8737600" y="1371600"/>
            <a:ext cx="1463040" cy="355600"/>
          </a:xfrm>
          <a:prstGeom prst="rect">
            <a:avLst/>
          </a:prstGeom>
          <a:ln w="12700">
            <a:miter lim="400000"/>
          </a:ln>
        </p:spPr>
      </p:pic>
      <p:pic>
        <p:nvPicPr>
          <p:cNvPr id="249" name="openstack-color.png" descr="openstack-color.png"/>
          <p:cNvPicPr>
            <a:picLocks noChangeAspect="1"/>
          </p:cNvPicPr>
          <p:nvPr/>
        </p:nvPicPr>
        <p:blipFill>
          <a:blip r:embed="rId7">
            <a:extLst/>
          </a:blip>
          <a:stretch>
            <a:fillRect/>
          </a:stretch>
        </p:blipFill>
        <p:spPr>
          <a:xfrm>
            <a:off x="11595100" y="1397000"/>
            <a:ext cx="1950358" cy="317500"/>
          </a:xfrm>
          <a:prstGeom prst="rect">
            <a:avLst/>
          </a:prstGeom>
          <a:ln w="12700">
            <a:miter lim="400000"/>
          </a:ln>
        </p:spPr>
      </p:pic>
      <p:pic>
        <p:nvPicPr>
          <p:cNvPr id="250" name="sentry-color.png" descr="sentry-color.png"/>
          <p:cNvPicPr>
            <a:picLocks noChangeAspect="1"/>
          </p:cNvPicPr>
          <p:nvPr/>
        </p:nvPicPr>
        <p:blipFill>
          <a:blip r:embed="rId8">
            <a:extLst/>
          </a:blip>
          <a:stretch>
            <a:fillRect/>
          </a:stretch>
        </p:blipFill>
        <p:spPr>
          <a:xfrm>
            <a:off x="14960600" y="1371600"/>
            <a:ext cx="1572127" cy="355600"/>
          </a:xfrm>
          <a:prstGeom prst="rect">
            <a:avLst/>
          </a:prstGeom>
          <a:ln w="12700">
            <a:miter lim="400000"/>
          </a:ln>
        </p:spPr>
      </p:pic>
      <p:pic>
        <p:nvPicPr>
          <p:cNvPr id="251" name="serverless-color.png" descr="serverless-color.png"/>
          <p:cNvPicPr>
            <a:picLocks noChangeAspect="1"/>
          </p:cNvPicPr>
          <p:nvPr/>
        </p:nvPicPr>
        <p:blipFill>
          <a:blip r:embed="rId9">
            <a:extLst/>
          </a:blip>
          <a:stretch>
            <a:fillRect/>
          </a:stretch>
        </p:blipFill>
        <p:spPr>
          <a:xfrm>
            <a:off x="17970500" y="1397000"/>
            <a:ext cx="1891096" cy="292100"/>
          </a:xfrm>
          <a:prstGeom prst="rect">
            <a:avLst/>
          </a:prstGeom>
          <a:ln w="12700">
            <a:miter lim="400000"/>
          </a:ln>
        </p:spPr>
      </p:pic>
      <p:pic>
        <p:nvPicPr>
          <p:cNvPr id="252" name="scaleway-color.png" descr="scaleway-color.png"/>
          <p:cNvPicPr>
            <a:picLocks noChangeAspect="1"/>
          </p:cNvPicPr>
          <p:nvPr/>
        </p:nvPicPr>
        <p:blipFill>
          <a:blip r:embed="rId10">
            <a:extLst/>
          </a:blip>
          <a:stretch>
            <a:fillRect/>
          </a:stretch>
        </p:blipFill>
        <p:spPr>
          <a:xfrm>
            <a:off x="21272500" y="1371600"/>
            <a:ext cx="1749425" cy="368300"/>
          </a:xfrm>
          <a:prstGeom prst="rect">
            <a:avLst/>
          </a:prstGeom>
          <a:ln w="12700">
            <a:miter lim="400000"/>
          </a:ln>
        </p:spPr>
      </p:pic>
      <p:pic>
        <p:nvPicPr>
          <p:cNvPr id="253" name="bitbucket-color.png" descr="bitbucket-color.png"/>
          <p:cNvPicPr>
            <a:picLocks noChangeAspect="1"/>
          </p:cNvPicPr>
          <p:nvPr/>
        </p:nvPicPr>
        <p:blipFill>
          <a:blip r:embed="rId11">
            <a:extLst/>
          </a:blip>
          <a:stretch>
            <a:fillRect/>
          </a:stretch>
        </p:blipFill>
        <p:spPr>
          <a:xfrm>
            <a:off x="1320800" y="2260600"/>
            <a:ext cx="1747521" cy="330200"/>
          </a:xfrm>
          <a:prstGeom prst="rect">
            <a:avLst/>
          </a:prstGeom>
          <a:ln w="12700">
            <a:miter lim="400000"/>
          </a:ln>
        </p:spPr>
      </p:pic>
      <p:pic>
        <p:nvPicPr>
          <p:cNvPr id="254" name="jenkins-color.png" descr="jenkins-color.png"/>
          <p:cNvPicPr>
            <a:picLocks noChangeAspect="1"/>
          </p:cNvPicPr>
          <p:nvPr/>
        </p:nvPicPr>
        <p:blipFill>
          <a:blip r:embed="rId12">
            <a:extLst/>
          </a:blip>
          <a:stretch>
            <a:fillRect/>
          </a:stretch>
        </p:blipFill>
        <p:spPr>
          <a:xfrm>
            <a:off x="4114800" y="2247900"/>
            <a:ext cx="1509007" cy="368300"/>
          </a:xfrm>
          <a:prstGeom prst="rect">
            <a:avLst/>
          </a:prstGeom>
          <a:ln w="12700">
            <a:miter lim="400000"/>
          </a:ln>
        </p:spPr>
      </p:pic>
      <p:pic>
        <p:nvPicPr>
          <p:cNvPr id="255" name="archlinux-color.png" descr="archlinux-color.png"/>
          <p:cNvPicPr>
            <a:picLocks noChangeAspect="1"/>
          </p:cNvPicPr>
          <p:nvPr/>
        </p:nvPicPr>
        <p:blipFill>
          <a:blip r:embed="rId13">
            <a:extLst/>
          </a:blip>
          <a:stretch>
            <a:fillRect/>
          </a:stretch>
        </p:blipFill>
        <p:spPr>
          <a:xfrm>
            <a:off x="6667500" y="2222500"/>
            <a:ext cx="1417807" cy="419100"/>
          </a:xfrm>
          <a:prstGeom prst="rect">
            <a:avLst/>
          </a:prstGeom>
          <a:ln w="12700">
            <a:miter lim="400000"/>
          </a:ln>
        </p:spPr>
      </p:pic>
      <p:pic>
        <p:nvPicPr>
          <p:cNvPr id="256" name="varnish-color.png" descr="varnish-color.png"/>
          <p:cNvPicPr>
            <a:picLocks noChangeAspect="1"/>
          </p:cNvPicPr>
          <p:nvPr/>
        </p:nvPicPr>
        <p:blipFill>
          <a:blip r:embed="rId14">
            <a:extLst/>
          </a:blip>
          <a:stretch>
            <a:fillRect/>
          </a:stretch>
        </p:blipFill>
        <p:spPr>
          <a:xfrm>
            <a:off x="9118600" y="2311400"/>
            <a:ext cx="1028700" cy="228600"/>
          </a:xfrm>
          <a:prstGeom prst="rect">
            <a:avLst/>
          </a:prstGeom>
          <a:ln w="12700">
            <a:miter lim="400000"/>
          </a:ln>
        </p:spPr>
      </p:pic>
      <p:pic>
        <p:nvPicPr>
          <p:cNvPr id="257" name="ubuntu-color.png" descr="ubuntu-color.png"/>
          <p:cNvPicPr>
            <a:picLocks noChangeAspect="1"/>
          </p:cNvPicPr>
          <p:nvPr/>
        </p:nvPicPr>
        <p:blipFill>
          <a:blip r:embed="rId15">
            <a:extLst/>
          </a:blip>
          <a:stretch>
            <a:fillRect/>
          </a:stretch>
        </p:blipFill>
        <p:spPr>
          <a:xfrm>
            <a:off x="11163300" y="2197100"/>
            <a:ext cx="1238865" cy="457200"/>
          </a:xfrm>
          <a:prstGeom prst="rect">
            <a:avLst/>
          </a:prstGeom>
          <a:ln w="12700">
            <a:miter lim="400000"/>
          </a:ln>
        </p:spPr>
      </p:pic>
      <p:pic>
        <p:nvPicPr>
          <p:cNvPr id="258" name="prometheus-color.png" descr="prometheus-color.png"/>
          <p:cNvPicPr>
            <a:picLocks noChangeAspect="1"/>
          </p:cNvPicPr>
          <p:nvPr/>
        </p:nvPicPr>
        <p:blipFill>
          <a:blip r:embed="rId16">
            <a:extLst/>
          </a:blip>
          <a:stretch>
            <a:fillRect/>
          </a:stretch>
        </p:blipFill>
        <p:spPr>
          <a:xfrm>
            <a:off x="13462000" y="2247900"/>
            <a:ext cx="2110053" cy="368300"/>
          </a:xfrm>
          <a:prstGeom prst="rect">
            <a:avLst/>
          </a:prstGeom>
          <a:ln w="12700">
            <a:miter lim="400000"/>
          </a:ln>
        </p:spPr>
      </p:pic>
      <p:pic>
        <p:nvPicPr>
          <p:cNvPr id="259" name="netlify-color.png" descr="netlify-color.png"/>
          <p:cNvPicPr>
            <a:picLocks noChangeAspect="1"/>
          </p:cNvPicPr>
          <p:nvPr/>
        </p:nvPicPr>
        <p:blipFill>
          <a:blip r:embed="rId17">
            <a:extLst/>
          </a:blip>
          <a:stretch>
            <a:fillRect/>
          </a:stretch>
        </p:blipFill>
        <p:spPr>
          <a:xfrm>
            <a:off x="16598900" y="2197100"/>
            <a:ext cx="1097281" cy="457200"/>
          </a:xfrm>
          <a:prstGeom prst="rect">
            <a:avLst/>
          </a:prstGeom>
          <a:ln w="12700">
            <a:miter lim="400000"/>
          </a:ln>
        </p:spPr>
      </p:pic>
      <p:pic>
        <p:nvPicPr>
          <p:cNvPr id="260" name="supabase-color.png" descr="supabase-color.png"/>
          <p:cNvPicPr>
            <a:picLocks noChangeAspect="1"/>
          </p:cNvPicPr>
          <p:nvPr/>
        </p:nvPicPr>
        <p:blipFill>
          <a:blip r:embed="rId18">
            <a:extLst/>
          </a:blip>
          <a:stretch>
            <a:fillRect/>
          </a:stretch>
        </p:blipFill>
        <p:spPr>
          <a:xfrm>
            <a:off x="18745200" y="2247900"/>
            <a:ext cx="1821039" cy="368300"/>
          </a:xfrm>
          <a:prstGeom prst="rect">
            <a:avLst/>
          </a:prstGeom>
          <a:ln w="12700">
            <a:miter lim="400000"/>
          </a:ln>
        </p:spPr>
      </p:pic>
      <p:pic>
        <p:nvPicPr>
          <p:cNvPr id="261" name="nixos-color.png" descr="nixos-color.png"/>
          <p:cNvPicPr>
            <a:picLocks noChangeAspect="1"/>
          </p:cNvPicPr>
          <p:nvPr/>
        </p:nvPicPr>
        <p:blipFill>
          <a:blip r:embed="rId19">
            <a:extLst/>
          </a:blip>
          <a:stretch>
            <a:fillRect/>
          </a:stretch>
        </p:blipFill>
        <p:spPr>
          <a:xfrm>
            <a:off x="21590000" y="2222500"/>
            <a:ext cx="1409430" cy="406400"/>
          </a:xfrm>
          <a:prstGeom prst="rect">
            <a:avLst/>
          </a:prstGeom>
          <a:ln w="12700">
            <a:miter lim="400000"/>
          </a:ln>
        </p:spPr>
      </p:pic>
      <p:pic>
        <p:nvPicPr>
          <p:cNvPr id="262" name="argo-color.png" descr="argo-color.png"/>
          <p:cNvPicPr>
            <a:picLocks noChangeAspect="1"/>
          </p:cNvPicPr>
          <p:nvPr/>
        </p:nvPicPr>
        <p:blipFill>
          <a:blip r:embed="rId20">
            <a:extLst/>
          </a:blip>
          <a:stretch>
            <a:fillRect/>
          </a:stretch>
        </p:blipFill>
        <p:spPr>
          <a:xfrm>
            <a:off x="1320800" y="3124200"/>
            <a:ext cx="1570391" cy="368300"/>
          </a:xfrm>
          <a:prstGeom prst="rect">
            <a:avLst/>
          </a:prstGeom>
          <a:ln w="12700">
            <a:miter lim="400000"/>
          </a:ln>
        </p:spPr>
      </p:pic>
      <p:pic>
        <p:nvPicPr>
          <p:cNvPr id="263" name="docker-color.png" descr="docker-color.png"/>
          <p:cNvPicPr>
            <a:picLocks noChangeAspect="1"/>
          </p:cNvPicPr>
          <p:nvPr/>
        </p:nvPicPr>
        <p:blipFill>
          <a:blip r:embed="rId21">
            <a:extLst/>
          </a:blip>
          <a:stretch>
            <a:fillRect/>
          </a:stretch>
        </p:blipFill>
        <p:spPr>
          <a:xfrm>
            <a:off x="4191000" y="3200400"/>
            <a:ext cx="1432561" cy="215900"/>
          </a:xfrm>
          <a:prstGeom prst="rect">
            <a:avLst/>
          </a:prstGeom>
          <a:ln w="12700">
            <a:miter lim="400000"/>
          </a:ln>
        </p:spPr>
      </p:pic>
      <p:pic>
        <p:nvPicPr>
          <p:cNvPr id="264" name="netdata-color.png" descr="netdata-color.png"/>
          <p:cNvPicPr>
            <a:picLocks noChangeAspect="1"/>
          </p:cNvPicPr>
          <p:nvPr/>
        </p:nvPicPr>
        <p:blipFill>
          <a:blip r:embed="rId22">
            <a:extLst/>
          </a:blip>
          <a:stretch>
            <a:fillRect/>
          </a:stretch>
        </p:blipFill>
        <p:spPr>
          <a:xfrm>
            <a:off x="6934200" y="3162300"/>
            <a:ext cx="1547248" cy="304800"/>
          </a:xfrm>
          <a:prstGeom prst="rect">
            <a:avLst/>
          </a:prstGeom>
          <a:ln w="12700">
            <a:miter lim="400000"/>
          </a:ln>
        </p:spPr>
      </p:pic>
      <p:pic>
        <p:nvPicPr>
          <p:cNvPr id="265" name="terraform-color.png" descr="terraform-color.png"/>
          <p:cNvPicPr>
            <a:picLocks noChangeAspect="1"/>
          </p:cNvPicPr>
          <p:nvPr/>
        </p:nvPicPr>
        <p:blipFill>
          <a:blip r:embed="rId23">
            <a:extLst/>
          </a:blip>
          <a:stretch>
            <a:fillRect/>
          </a:stretch>
        </p:blipFill>
        <p:spPr>
          <a:xfrm>
            <a:off x="9766300" y="3149600"/>
            <a:ext cx="1743556" cy="330200"/>
          </a:xfrm>
          <a:prstGeom prst="rect">
            <a:avLst/>
          </a:prstGeom>
          <a:ln w="12700">
            <a:miter lim="400000"/>
          </a:ln>
        </p:spPr>
      </p:pic>
      <p:pic>
        <p:nvPicPr>
          <p:cNvPr id="266" name="podman-color.png" descr="podman-color.png"/>
          <p:cNvPicPr>
            <a:picLocks noChangeAspect="1"/>
          </p:cNvPicPr>
          <p:nvPr/>
        </p:nvPicPr>
        <p:blipFill>
          <a:blip r:embed="rId24">
            <a:extLst/>
          </a:blip>
          <a:stretch>
            <a:fillRect/>
          </a:stretch>
        </p:blipFill>
        <p:spPr>
          <a:xfrm>
            <a:off x="12839700" y="3136900"/>
            <a:ext cx="1572127" cy="355600"/>
          </a:xfrm>
          <a:prstGeom prst="rect">
            <a:avLst/>
          </a:prstGeom>
          <a:ln w="12700">
            <a:miter lim="400000"/>
          </a:ln>
        </p:spPr>
      </p:pic>
      <p:pic>
        <p:nvPicPr>
          <p:cNvPr id="267" name="nomad-color.png" descr="nomad-color.png"/>
          <p:cNvPicPr>
            <a:picLocks noChangeAspect="1"/>
          </p:cNvPicPr>
          <p:nvPr/>
        </p:nvPicPr>
        <p:blipFill>
          <a:blip r:embed="rId25">
            <a:extLst/>
          </a:blip>
          <a:stretch>
            <a:fillRect/>
          </a:stretch>
        </p:blipFill>
        <p:spPr>
          <a:xfrm>
            <a:off x="15748000" y="3124200"/>
            <a:ext cx="1411817" cy="368300"/>
          </a:xfrm>
          <a:prstGeom prst="rect">
            <a:avLst/>
          </a:prstGeom>
          <a:ln w="12700">
            <a:miter lim="400000"/>
          </a:ln>
        </p:spPr>
      </p:pic>
      <p:pic>
        <p:nvPicPr>
          <p:cNvPr id="268" name="appwrite-color.png" descr="appwrite-color.png"/>
          <p:cNvPicPr>
            <a:picLocks noChangeAspect="1"/>
          </p:cNvPicPr>
          <p:nvPr/>
        </p:nvPicPr>
        <p:blipFill>
          <a:blip r:embed="rId26">
            <a:extLst/>
          </a:blip>
          <a:stretch>
            <a:fillRect/>
          </a:stretch>
        </p:blipFill>
        <p:spPr>
          <a:xfrm>
            <a:off x="18453100" y="3149600"/>
            <a:ext cx="1733550" cy="330200"/>
          </a:xfrm>
          <a:prstGeom prst="rect">
            <a:avLst/>
          </a:prstGeom>
          <a:ln w="12700">
            <a:miter lim="400000"/>
          </a:ln>
        </p:spPr>
      </p:pic>
      <p:pic>
        <p:nvPicPr>
          <p:cNvPr id="269" name="grafana-color.png" descr="grafana-color.png"/>
          <p:cNvPicPr>
            <a:picLocks noChangeAspect="1"/>
          </p:cNvPicPr>
          <p:nvPr/>
        </p:nvPicPr>
        <p:blipFill>
          <a:blip r:embed="rId27">
            <a:extLst/>
          </a:blip>
          <a:stretch>
            <a:fillRect/>
          </a:stretch>
        </p:blipFill>
        <p:spPr>
          <a:xfrm>
            <a:off x="21501100" y="3124200"/>
            <a:ext cx="1526911" cy="368300"/>
          </a:xfrm>
          <a:prstGeom prst="rect">
            <a:avLst/>
          </a:prstGeom>
          <a:ln w="12700">
            <a:miter lim="400000"/>
          </a:ln>
        </p:spPr>
      </p:pic>
      <p:pic>
        <p:nvPicPr>
          <p:cNvPr id="270" name="wordpressvip-color.png" descr="wordpressvip-color.png"/>
          <p:cNvPicPr>
            <a:picLocks noChangeAspect="1"/>
          </p:cNvPicPr>
          <p:nvPr/>
        </p:nvPicPr>
        <p:blipFill>
          <a:blip r:embed="rId28">
            <a:extLst/>
          </a:blip>
          <a:stretch>
            <a:fillRect/>
          </a:stretch>
        </p:blipFill>
        <p:spPr>
          <a:xfrm>
            <a:off x="1320800" y="4013200"/>
            <a:ext cx="2493698" cy="368300"/>
          </a:xfrm>
          <a:prstGeom prst="rect">
            <a:avLst/>
          </a:prstGeom>
          <a:ln w="12700">
            <a:miter lim="400000"/>
          </a:ln>
        </p:spPr>
      </p:pic>
      <p:pic>
        <p:nvPicPr>
          <p:cNvPr id="271" name="vercel-color.png" descr="vercel-color.png"/>
          <p:cNvPicPr>
            <a:picLocks noChangeAspect="1"/>
          </p:cNvPicPr>
          <p:nvPr/>
        </p:nvPicPr>
        <p:blipFill>
          <a:blip r:embed="rId29">
            <a:extLst/>
          </a:blip>
          <a:stretch>
            <a:fillRect/>
          </a:stretch>
        </p:blipFill>
        <p:spPr>
          <a:xfrm>
            <a:off x="5041900" y="4013200"/>
            <a:ext cx="1572127" cy="355600"/>
          </a:xfrm>
          <a:prstGeom prst="rect">
            <a:avLst/>
          </a:prstGeom>
          <a:ln w="12700">
            <a:miter lim="400000"/>
          </a:ln>
        </p:spPr>
      </p:pic>
      <p:pic>
        <p:nvPicPr>
          <p:cNvPr id="272" name="cloudflare-color.png" descr="cloudflare-color.png"/>
          <p:cNvPicPr>
            <a:picLocks noChangeAspect="1"/>
          </p:cNvPicPr>
          <p:nvPr/>
        </p:nvPicPr>
        <p:blipFill>
          <a:blip r:embed="rId30">
            <a:extLst/>
          </a:blip>
          <a:stretch>
            <a:fillRect/>
          </a:stretch>
        </p:blipFill>
        <p:spPr>
          <a:xfrm>
            <a:off x="7874000" y="3975100"/>
            <a:ext cx="1301750" cy="444500"/>
          </a:xfrm>
          <a:prstGeom prst="rect">
            <a:avLst/>
          </a:prstGeom>
          <a:ln w="12700">
            <a:miter lim="400000"/>
          </a:ln>
        </p:spPr>
      </p:pic>
      <p:pic>
        <p:nvPicPr>
          <p:cNvPr id="273" name="wpengine-color.png" descr="wpengine-color.png"/>
          <p:cNvPicPr>
            <a:picLocks noChangeAspect="1"/>
          </p:cNvPicPr>
          <p:nvPr/>
        </p:nvPicPr>
        <p:blipFill>
          <a:blip r:embed="rId31">
            <a:extLst/>
          </a:blip>
          <a:stretch>
            <a:fillRect/>
          </a:stretch>
        </p:blipFill>
        <p:spPr>
          <a:xfrm>
            <a:off x="10426700" y="4013200"/>
            <a:ext cx="1941248" cy="368300"/>
          </a:xfrm>
          <a:prstGeom prst="rect">
            <a:avLst/>
          </a:prstGeom>
          <a:ln w="12700">
            <a:miter lim="400000"/>
          </a:ln>
        </p:spPr>
      </p:pic>
      <p:pic>
        <p:nvPicPr>
          <p:cNvPr id="274" name="php-color.png" descr="php-color.png"/>
          <p:cNvPicPr>
            <a:picLocks noChangeAspect="1"/>
          </p:cNvPicPr>
          <p:nvPr/>
        </p:nvPicPr>
        <p:blipFill>
          <a:blip r:embed="rId32">
            <a:extLst/>
          </a:blip>
          <a:stretch>
            <a:fillRect/>
          </a:stretch>
        </p:blipFill>
        <p:spPr>
          <a:xfrm>
            <a:off x="13601700" y="3962400"/>
            <a:ext cx="853440" cy="457200"/>
          </a:xfrm>
          <a:prstGeom prst="rect">
            <a:avLst/>
          </a:prstGeom>
          <a:ln w="12700">
            <a:miter lim="400000"/>
          </a:ln>
        </p:spPr>
      </p:pic>
      <p:pic>
        <p:nvPicPr>
          <p:cNvPr id="275" name="postgresql-color.png" descr="postgresql-color.png"/>
          <p:cNvPicPr>
            <a:picLocks noChangeAspect="1"/>
          </p:cNvPicPr>
          <p:nvPr/>
        </p:nvPicPr>
        <p:blipFill>
          <a:blip r:embed="rId33">
            <a:extLst/>
          </a:blip>
          <a:stretch>
            <a:fillRect/>
          </a:stretch>
        </p:blipFill>
        <p:spPr>
          <a:xfrm>
            <a:off x="15697200" y="4013200"/>
            <a:ext cx="2084641" cy="355600"/>
          </a:xfrm>
          <a:prstGeom prst="rect">
            <a:avLst/>
          </a:prstGeom>
          <a:ln w="12700">
            <a:miter lim="400000"/>
          </a:ln>
        </p:spPr>
      </p:pic>
      <p:pic>
        <p:nvPicPr>
          <p:cNvPr id="276" name="elastic-color.png" descr="elastic-color.png"/>
          <p:cNvPicPr>
            <a:picLocks noChangeAspect="1"/>
          </p:cNvPicPr>
          <p:nvPr/>
        </p:nvPicPr>
        <p:blipFill>
          <a:blip r:embed="rId34">
            <a:extLst/>
          </a:blip>
          <a:stretch>
            <a:fillRect/>
          </a:stretch>
        </p:blipFill>
        <p:spPr>
          <a:xfrm>
            <a:off x="18986500" y="4013200"/>
            <a:ext cx="1673412" cy="355600"/>
          </a:xfrm>
          <a:prstGeom prst="rect">
            <a:avLst/>
          </a:prstGeom>
          <a:ln w="12700">
            <a:miter lim="400000"/>
          </a:ln>
        </p:spPr>
      </p:pic>
      <p:pic>
        <p:nvPicPr>
          <p:cNvPr id="277" name="helm-color.png" descr="helm-color.png"/>
          <p:cNvPicPr>
            <a:picLocks noChangeAspect="1"/>
          </p:cNvPicPr>
          <p:nvPr/>
        </p:nvPicPr>
        <p:blipFill>
          <a:blip r:embed="rId35">
            <a:extLst/>
          </a:blip>
          <a:stretch>
            <a:fillRect/>
          </a:stretch>
        </p:blipFill>
        <p:spPr>
          <a:xfrm>
            <a:off x="21882100" y="4013200"/>
            <a:ext cx="1138150" cy="368300"/>
          </a:xfrm>
          <a:prstGeom prst="rect">
            <a:avLst/>
          </a:prstGeom>
          <a:ln w="12700">
            <a:miter lim="400000"/>
          </a:ln>
        </p:spPr>
      </p:pic>
      <p:pic>
        <p:nvPicPr>
          <p:cNvPr id="278" name="proxmox-color.png" descr="proxmox-color.png"/>
          <p:cNvPicPr>
            <a:picLocks noChangeAspect="1"/>
          </p:cNvPicPr>
          <p:nvPr/>
        </p:nvPicPr>
        <p:blipFill>
          <a:blip r:embed="rId36">
            <a:extLst/>
          </a:blip>
          <a:stretch>
            <a:fillRect/>
          </a:stretch>
        </p:blipFill>
        <p:spPr>
          <a:xfrm>
            <a:off x="1320800" y="4914900"/>
            <a:ext cx="1637897" cy="317500"/>
          </a:xfrm>
          <a:prstGeom prst="rect">
            <a:avLst/>
          </a:prstGeom>
          <a:ln w="12700">
            <a:miter lim="400000"/>
          </a:ln>
        </p:spPr>
      </p:pic>
      <p:pic>
        <p:nvPicPr>
          <p:cNvPr id="279" name="pressidium-color.png" descr="pressidium-color.png"/>
          <p:cNvPicPr>
            <a:picLocks noChangeAspect="1"/>
          </p:cNvPicPr>
          <p:nvPr/>
        </p:nvPicPr>
        <p:blipFill>
          <a:blip r:embed="rId37">
            <a:extLst/>
          </a:blip>
          <a:stretch>
            <a:fillRect/>
          </a:stretch>
        </p:blipFill>
        <p:spPr>
          <a:xfrm>
            <a:off x="4000500" y="4965700"/>
            <a:ext cx="1498889" cy="228600"/>
          </a:xfrm>
          <a:prstGeom prst="rect">
            <a:avLst/>
          </a:prstGeom>
          <a:ln w="12700">
            <a:miter lim="400000"/>
          </a:ln>
        </p:spPr>
      </p:pic>
      <p:pic>
        <p:nvPicPr>
          <p:cNvPr id="280" name="kubernetes-color.png" descr="kubernetes-color.png"/>
          <p:cNvPicPr>
            <a:picLocks noChangeAspect="1"/>
          </p:cNvPicPr>
          <p:nvPr/>
        </p:nvPicPr>
        <p:blipFill>
          <a:blip r:embed="rId38">
            <a:extLst/>
          </a:blip>
          <a:stretch>
            <a:fillRect/>
          </a:stretch>
        </p:blipFill>
        <p:spPr>
          <a:xfrm>
            <a:off x="6502400" y="4902200"/>
            <a:ext cx="2021840" cy="355600"/>
          </a:xfrm>
          <a:prstGeom prst="rect">
            <a:avLst/>
          </a:prstGeom>
          <a:ln w="12700">
            <a:miter lim="400000"/>
          </a:ln>
        </p:spPr>
      </p:pic>
      <p:pic>
        <p:nvPicPr>
          <p:cNvPr id="281" name="bun-color.png" descr="bun-color.png"/>
          <p:cNvPicPr>
            <a:picLocks noChangeAspect="1"/>
          </p:cNvPicPr>
          <p:nvPr/>
        </p:nvPicPr>
        <p:blipFill>
          <a:blip r:embed="rId39">
            <a:extLst/>
          </a:blip>
          <a:stretch>
            <a:fillRect/>
          </a:stretch>
        </p:blipFill>
        <p:spPr>
          <a:xfrm>
            <a:off x="9550400" y="4914900"/>
            <a:ext cx="993180" cy="330200"/>
          </a:xfrm>
          <a:prstGeom prst="rect">
            <a:avLst/>
          </a:prstGeom>
          <a:ln w="12700">
            <a:miter lim="400000"/>
          </a:ln>
        </p:spPr>
      </p:pic>
      <p:pic>
        <p:nvPicPr>
          <p:cNvPr id="282" name="vmware-color.png" descr="vmware-color.png"/>
          <p:cNvPicPr>
            <a:picLocks noChangeAspect="1"/>
          </p:cNvPicPr>
          <p:nvPr/>
        </p:nvPicPr>
        <p:blipFill>
          <a:blip r:embed="rId40">
            <a:extLst/>
          </a:blip>
          <a:stretch>
            <a:fillRect/>
          </a:stretch>
        </p:blipFill>
        <p:spPr>
          <a:xfrm>
            <a:off x="11557000" y="4927600"/>
            <a:ext cx="1828800" cy="304800"/>
          </a:xfrm>
          <a:prstGeom prst="rect">
            <a:avLst/>
          </a:prstGeom>
          <a:ln w="12700">
            <a:miter lim="400000"/>
          </a:ln>
        </p:spPr>
      </p:pic>
      <p:pic>
        <p:nvPicPr>
          <p:cNvPr id="283" name="istio-color.png" descr="istio-color.png"/>
          <p:cNvPicPr>
            <a:picLocks noChangeAspect="1"/>
          </p:cNvPicPr>
          <p:nvPr/>
        </p:nvPicPr>
        <p:blipFill>
          <a:blip r:embed="rId41">
            <a:extLst/>
          </a:blip>
          <a:stretch>
            <a:fillRect/>
          </a:stretch>
        </p:blipFill>
        <p:spPr>
          <a:xfrm>
            <a:off x="14452600" y="4889500"/>
            <a:ext cx="971903" cy="368300"/>
          </a:xfrm>
          <a:prstGeom prst="rect">
            <a:avLst/>
          </a:prstGeom>
          <a:ln w="12700">
            <a:miter lim="400000"/>
          </a:ln>
        </p:spPr>
      </p:pic>
      <p:pic>
        <p:nvPicPr>
          <p:cNvPr id="284" name="fedora-color.png" descr="fedora-color.png"/>
          <p:cNvPicPr>
            <a:picLocks noChangeAspect="1"/>
          </p:cNvPicPr>
          <p:nvPr/>
        </p:nvPicPr>
        <p:blipFill>
          <a:blip r:embed="rId42">
            <a:extLst/>
          </a:blip>
          <a:stretch>
            <a:fillRect/>
          </a:stretch>
        </p:blipFill>
        <p:spPr>
          <a:xfrm>
            <a:off x="16459200" y="4889500"/>
            <a:ext cx="1401587" cy="368300"/>
          </a:xfrm>
          <a:prstGeom prst="rect">
            <a:avLst/>
          </a:prstGeom>
          <a:ln w="12700">
            <a:miter lim="400000"/>
          </a:ln>
        </p:spPr>
      </p:pic>
      <p:pic>
        <p:nvPicPr>
          <p:cNvPr id="285" name="rancher-color.png" descr="rancher-color.png"/>
          <p:cNvPicPr>
            <a:picLocks noChangeAspect="1"/>
          </p:cNvPicPr>
          <p:nvPr/>
        </p:nvPicPr>
        <p:blipFill>
          <a:blip r:embed="rId43">
            <a:extLst/>
          </a:blip>
          <a:stretch>
            <a:fillRect/>
          </a:stretch>
        </p:blipFill>
        <p:spPr>
          <a:xfrm>
            <a:off x="18884900" y="4965700"/>
            <a:ext cx="1592581" cy="215900"/>
          </a:xfrm>
          <a:prstGeom prst="rect">
            <a:avLst/>
          </a:prstGeom>
          <a:ln w="12700">
            <a:miter lim="400000"/>
          </a:ln>
        </p:spPr>
      </p:pic>
      <p:pic>
        <p:nvPicPr>
          <p:cNvPr id="286" name="railway-color.png" descr="railway-color.png"/>
          <p:cNvPicPr>
            <a:picLocks noChangeAspect="1"/>
          </p:cNvPicPr>
          <p:nvPr/>
        </p:nvPicPr>
        <p:blipFill>
          <a:blip r:embed="rId44">
            <a:extLst/>
          </a:blip>
          <a:stretch>
            <a:fillRect/>
          </a:stretch>
        </p:blipFill>
        <p:spPr>
          <a:xfrm>
            <a:off x="21501100" y="4889500"/>
            <a:ext cx="1516680" cy="368300"/>
          </a:xfrm>
          <a:prstGeom prst="rect">
            <a:avLst/>
          </a:prstGeom>
          <a:ln w="12700">
            <a:miter lim="400000"/>
          </a:ln>
        </p:spPr>
      </p:pic>
      <p:pic>
        <p:nvPicPr>
          <p:cNvPr id="287" name="githubactions-color.png" descr="githubactions-color.png"/>
          <p:cNvPicPr>
            <a:picLocks noChangeAspect="1"/>
          </p:cNvPicPr>
          <p:nvPr/>
        </p:nvPicPr>
        <p:blipFill>
          <a:blip r:embed="rId45">
            <a:extLst/>
          </a:blip>
          <a:stretch>
            <a:fillRect/>
          </a:stretch>
        </p:blipFill>
        <p:spPr>
          <a:xfrm>
            <a:off x="1320800" y="5778500"/>
            <a:ext cx="2519275" cy="368300"/>
          </a:xfrm>
          <a:prstGeom prst="rect">
            <a:avLst/>
          </a:prstGeom>
          <a:ln w="12700">
            <a:miter lim="400000"/>
          </a:ln>
        </p:spPr>
      </p:pic>
      <p:pic>
        <p:nvPicPr>
          <p:cNvPr id="288" name="datadog-color.png" descr="datadog-color.png"/>
          <p:cNvPicPr>
            <a:picLocks noChangeAspect="1"/>
          </p:cNvPicPr>
          <p:nvPr/>
        </p:nvPicPr>
        <p:blipFill>
          <a:blip r:embed="rId46">
            <a:extLst/>
          </a:blip>
          <a:stretch>
            <a:fillRect/>
          </a:stretch>
        </p:blipFill>
        <p:spPr>
          <a:xfrm>
            <a:off x="5359400" y="5778500"/>
            <a:ext cx="1601082" cy="368300"/>
          </a:xfrm>
          <a:prstGeom prst="rect">
            <a:avLst/>
          </a:prstGeom>
          <a:ln w="12700">
            <a:miter lim="400000"/>
          </a:ln>
        </p:spPr>
      </p:pic>
      <p:pic>
        <p:nvPicPr>
          <p:cNvPr id="289" name="mariadb-color.png" descr="mariadb-color.png"/>
          <p:cNvPicPr>
            <a:picLocks noChangeAspect="1"/>
          </p:cNvPicPr>
          <p:nvPr/>
        </p:nvPicPr>
        <p:blipFill>
          <a:blip r:embed="rId47">
            <a:extLst/>
          </a:blip>
          <a:stretch>
            <a:fillRect/>
          </a:stretch>
        </p:blipFill>
        <p:spPr>
          <a:xfrm>
            <a:off x="8470900" y="5842000"/>
            <a:ext cx="1630059" cy="241300"/>
          </a:xfrm>
          <a:prstGeom prst="rect">
            <a:avLst/>
          </a:prstGeom>
          <a:ln w="12700">
            <a:miter lim="400000"/>
          </a:ln>
        </p:spPr>
      </p:pic>
      <p:pic>
        <p:nvPicPr>
          <p:cNvPr id="290" name="ovh-color.png" descr="ovh-color.png"/>
          <p:cNvPicPr>
            <a:picLocks noChangeAspect="1"/>
          </p:cNvPicPr>
          <p:nvPr/>
        </p:nvPicPr>
        <p:blipFill>
          <a:blip r:embed="rId48">
            <a:extLst/>
          </a:blip>
          <a:stretch>
            <a:fillRect/>
          </a:stretch>
        </p:blipFill>
        <p:spPr>
          <a:xfrm>
            <a:off x="11607800" y="5854700"/>
            <a:ext cx="1802515" cy="215900"/>
          </a:xfrm>
          <a:prstGeom prst="rect">
            <a:avLst/>
          </a:prstGeom>
          <a:ln w="12700">
            <a:miter lim="400000"/>
          </a:ln>
        </p:spPr>
      </p:pic>
      <p:pic>
        <p:nvPicPr>
          <p:cNvPr id="291" name="knative-color.png" descr="knative-color.png"/>
          <p:cNvPicPr>
            <a:picLocks noChangeAspect="1"/>
          </p:cNvPicPr>
          <p:nvPr/>
        </p:nvPicPr>
        <p:blipFill>
          <a:blip r:embed="rId49">
            <a:extLst/>
          </a:blip>
          <a:stretch>
            <a:fillRect/>
          </a:stretch>
        </p:blipFill>
        <p:spPr>
          <a:xfrm>
            <a:off x="14973300" y="5803900"/>
            <a:ext cx="1503336" cy="304800"/>
          </a:xfrm>
          <a:prstGeom prst="rect">
            <a:avLst/>
          </a:prstGeom>
          <a:ln w="12700">
            <a:miter lim="400000"/>
          </a:ln>
        </p:spPr>
      </p:pic>
      <p:pic>
        <p:nvPicPr>
          <p:cNvPr id="292" name="googlecloud-color.png" descr="googlecloud-color.png"/>
          <p:cNvPicPr>
            <a:picLocks noChangeAspect="1"/>
          </p:cNvPicPr>
          <p:nvPr/>
        </p:nvPicPr>
        <p:blipFill>
          <a:blip r:embed="rId50">
            <a:extLst/>
          </a:blip>
          <a:stretch>
            <a:fillRect/>
          </a:stretch>
        </p:blipFill>
        <p:spPr>
          <a:xfrm>
            <a:off x="17983200" y="5803900"/>
            <a:ext cx="2243528" cy="304800"/>
          </a:xfrm>
          <a:prstGeom prst="rect">
            <a:avLst/>
          </a:prstGeom>
          <a:ln w="12700">
            <a:miter lim="400000"/>
          </a:ln>
        </p:spPr>
      </p:pic>
      <p:pic>
        <p:nvPicPr>
          <p:cNvPr id="293" name="turso-color.png" descr="turso-color.png"/>
          <p:cNvPicPr>
            <a:picLocks noChangeAspect="1"/>
          </p:cNvPicPr>
          <p:nvPr/>
        </p:nvPicPr>
        <p:blipFill>
          <a:blip r:embed="rId51">
            <a:extLst/>
          </a:blip>
          <a:stretch>
            <a:fillRect/>
          </a:stretch>
        </p:blipFill>
        <p:spPr>
          <a:xfrm>
            <a:off x="21793200" y="5778500"/>
            <a:ext cx="1225110" cy="368300"/>
          </a:xfrm>
          <a:prstGeom prst="rect">
            <a:avLst/>
          </a:prstGeom>
          <a:ln w="12700">
            <a:miter lim="400000"/>
          </a:ln>
        </p:spPr>
      </p:pic>
      <p:pic>
        <p:nvPicPr>
          <p:cNvPr id="294" name="flydotio-color.png" descr="flydotio-color.png"/>
          <p:cNvPicPr>
            <a:picLocks noChangeAspect="1"/>
          </p:cNvPicPr>
          <p:nvPr/>
        </p:nvPicPr>
        <p:blipFill>
          <a:blip r:embed="rId52">
            <a:extLst/>
          </a:blip>
          <a:stretch>
            <a:fillRect/>
          </a:stretch>
        </p:blipFill>
        <p:spPr>
          <a:xfrm>
            <a:off x="1320800" y="6654800"/>
            <a:ext cx="1127919" cy="368300"/>
          </a:xfrm>
          <a:prstGeom prst="rect">
            <a:avLst/>
          </a:prstGeom>
          <a:ln w="12700">
            <a:miter lim="400000"/>
          </a:ln>
        </p:spPr>
      </p:pic>
      <p:pic>
        <p:nvPicPr>
          <p:cNvPr id="295" name="rabbitmq-color.png" descr="rabbitmq-color.png"/>
          <p:cNvPicPr>
            <a:picLocks noChangeAspect="1"/>
          </p:cNvPicPr>
          <p:nvPr/>
        </p:nvPicPr>
        <p:blipFill>
          <a:blip r:embed="rId53">
            <a:extLst/>
          </a:blip>
          <a:stretch>
            <a:fillRect/>
          </a:stretch>
        </p:blipFill>
        <p:spPr>
          <a:xfrm>
            <a:off x="3492500" y="6654800"/>
            <a:ext cx="1808251" cy="368300"/>
          </a:xfrm>
          <a:prstGeom prst="rect">
            <a:avLst/>
          </a:prstGeom>
          <a:ln w="12700">
            <a:miter lim="400000"/>
          </a:ln>
        </p:spPr>
      </p:pic>
      <p:pic>
        <p:nvPicPr>
          <p:cNvPr id="296" name="traefikproxy-color.png" descr="traefikproxy-color.png"/>
          <p:cNvPicPr>
            <a:picLocks noChangeAspect="1"/>
          </p:cNvPicPr>
          <p:nvPr/>
        </p:nvPicPr>
        <p:blipFill>
          <a:blip r:embed="rId54">
            <a:extLst/>
          </a:blip>
          <a:stretch>
            <a:fillRect/>
          </a:stretch>
        </p:blipFill>
        <p:spPr>
          <a:xfrm>
            <a:off x="6337300" y="6616700"/>
            <a:ext cx="1200150" cy="457200"/>
          </a:xfrm>
          <a:prstGeom prst="rect">
            <a:avLst/>
          </a:prstGeom>
          <a:ln w="12700">
            <a:miter lim="400000"/>
          </a:ln>
        </p:spPr>
      </p:pic>
      <p:pic>
        <p:nvPicPr>
          <p:cNvPr id="297" name="hetzner-color.png" descr="hetzner-color.png"/>
          <p:cNvPicPr>
            <a:picLocks noChangeAspect="1"/>
          </p:cNvPicPr>
          <p:nvPr/>
        </p:nvPicPr>
        <p:blipFill>
          <a:blip r:embed="rId55">
            <a:extLst/>
          </a:blip>
          <a:stretch>
            <a:fillRect/>
          </a:stretch>
        </p:blipFill>
        <p:spPr>
          <a:xfrm>
            <a:off x="8585200" y="6654800"/>
            <a:ext cx="1557603" cy="368300"/>
          </a:xfrm>
          <a:prstGeom prst="rect">
            <a:avLst/>
          </a:prstGeom>
          <a:ln w="12700">
            <a:miter lim="400000"/>
          </a:ln>
        </p:spPr>
      </p:pic>
      <p:pic>
        <p:nvPicPr>
          <p:cNvPr id="298" name="pantheon-color.png" descr="pantheon-color.png"/>
          <p:cNvPicPr>
            <a:picLocks noChangeAspect="1"/>
          </p:cNvPicPr>
          <p:nvPr/>
        </p:nvPicPr>
        <p:blipFill>
          <a:blip r:embed="rId56">
            <a:extLst/>
          </a:blip>
          <a:stretch>
            <a:fillRect/>
          </a:stretch>
        </p:blipFill>
        <p:spPr>
          <a:xfrm>
            <a:off x="11188700" y="6654800"/>
            <a:ext cx="1654793" cy="368300"/>
          </a:xfrm>
          <a:prstGeom prst="rect">
            <a:avLst/>
          </a:prstGeom>
          <a:ln w="12700">
            <a:miter lim="400000"/>
          </a:ln>
        </p:spPr>
      </p:pic>
      <p:pic>
        <p:nvPicPr>
          <p:cNvPr id="299" name="azure-color.png" descr="azure-color.png"/>
          <p:cNvPicPr>
            <a:picLocks noChangeAspect="1"/>
          </p:cNvPicPr>
          <p:nvPr/>
        </p:nvPicPr>
        <p:blipFill>
          <a:blip r:embed="rId57">
            <a:extLst/>
          </a:blip>
          <a:stretch>
            <a:fillRect/>
          </a:stretch>
        </p:blipFill>
        <p:spPr>
          <a:xfrm>
            <a:off x="13881100" y="6629400"/>
            <a:ext cx="1345224" cy="431800"/>
          </a:xfrm>
          <a:prstGeom prst="rect">
            <a:avLst/>
          </a:prstGeom>
          <a:ln w="12700">
            <a:miter lim="400000"/>
          </a:ln>
        </p:spPr>
      </p:pic>
      <p:pic>
        <p:nvPicPr>
          <p:cNvPr id="300" name="github-color.png" descr="github-color.png"/>
          <p:cNvPicPr>
            <a:picLocks noChangeAspect="1"/>
          </p:cNvPicPr>
          <p:nvPr/>
        </p:nvPicPr>
        <p:blipFill>
          <a:blip r:embed="rId58">
            <a:extLst/>
          </a:blip>
          <a:stretch>
            <a:fillRect/>
          </a:stretch>
        </p:blipFill>
        <p:spPr>
          <a:xfrm>
            <a:off x="16281400" y="6667500"/>
            <a:ext cx="1397190" cy="342900"/>
          </a:xfrm>
          <a:prstGeom prst="rect">
            <a:avLst/>
          </a:prstGeom>
          <a:ln w="12700">
            <a:miter lim="400000"/>
          </a:ln>
        </p:spPr>
      </p:pic>
      <p:pic>
        <p:nvPicPr>
          <p:cNvPr id="301" name="betterstack-color.png" descr="betterstack-color.png"/>
          <p:cNvPicPr>
            <a:picLocks noChangeAspect="1"/>
          </p:cNvPicPr>
          <p:nvPr/>
        </p:nvPicPr>
        <p:blipFill>
          <a:blip r:embed="rId59">
            <a:extLst/>
          </a:blip>
          <a:stretch>
            <a:fillRect/>
          </a:stretch>
        </p:blipFill>
        <p:spPr>
          <a:xfrm>
            <a:off x="18719800" y="6692900"/>
            <a:ext cx="2147192" cy="292100"/>
          </a:xfrm>
          <a:prstGeom prst="rect">
            <a:avLst/>
          </a:prstGeom>
          <a:ln w="12700">
            <a:miter lim="400000"/>
          </a:ln>
        </p:spPr>
      </p:pic>
      <p:pic>
        <p:nvPicPr>
          <p:cNvPr id="302" name="gnubash-color.png" descr="gnubash-color.png"/>
          <p:cNvPicPr>
            <a:picLocks noChangeAspect="1"/>
          </p:cNvPicPr>
          <p:nvPr/>
        </p:nvPicPr>
        <p:blipFill>
          <a:blip r:embed="rId60">
            <a:extLst/>
          </a:blip>
          <a:stretch>
            <a:fillRect/>
          </a:stretch>
        </p:blipFill>
        <p:spPr>
          <a:xfrm>
            <a:off x="21907500" y="6654800"/>
            <a:ext cx="1107458" cy="368300"/>
          </a:xfrm>
          <a:prstGeom prst="rect">
            <a:avLst/>
          </a:prstGeom>
          <a:ln w="12700">
            <a:miter lim="400000"/>
          </a:ln>
        </p:spPr>
      </p:pic>
      <p:pic>
        <p:nvPicPr>
          <p:cNvPr id="303" name="splunk-color.png" descr="splunk-color.png"/>
          <p:cNvPicPr>
            <a:picLocks noChangeAspect="1"/>
          </p:cNvPicPr>
          <p:nvPr/>
        </p:nvPicPr>
        <p:blipFill>
          <a:blip r:embed="rId61">
            <a:extLst/>
          </a:blip>
          <a:stretch>
            <a:fillRect/>
          </a:stretch>
        </p:blipFill>
        <p:spPr>
          <a:xfrm>
            <a:off x="1320800" y="7518400"/>
            <a:ext cx="1408176" cy="419100"/>
          </a:xfrm>
          <a:prstGeom prst="rect">
            <a:avLst/>
          </a:prstGeom>
          <a:ln w="12700">
            <a:miter lim="400000"/>
          </a:ln>
        </p:spPr>
      </p:pic>
      <p:pic>
        <p:nvPicPr>
          <p:cNvPr id="304" name="skynet-color.png" descr="skynet-color.png"/>
          <p:cNvPicPr>
            <a:picLocks noChangeAspect="1"/>
          </p:cNvPicPr>
          <p:nvPr/>
        </p:nvPicPr>
        <p:blipFill>
          <a:blip r:embed="rId62">
            <a:extLst/>
          </a:blip>
          <a:stretch>
            <a:fillRect/>
          </a:stretch>
        </p:blipFill>
        <p:spPr>
          <a:xfrm>
            <a:off x="3695700" y="7543800"/>
            <a:ext cx="1750061" cy="355600"/>
          </a:xfrm>
          <a:prstGeom prst="rect">
            <a:avLst/>
          </a:prstGeom>
          <a:ln w="12700">
            <a:miter lim="400000"/>
          </a:ln>
        </p:spPr>
      </p:pic>
      <p:pic>
        <p:nvPicPr>
          <p:cNvPr id="305" name="newrelic-color.png" descr="newrelic-color.png"/>
          <p:cNvPicPr>
            <a:picLocks noChangeAspect="1"/>
          </p:cNvPicPr>
          <p:nvPr/>
        </p:nvPicPr>
        <p:blipFill>
          <a:blip r:embed="rId63">
            <a:extLst/>
          </a:blip>
          <a:stretch>
            <a:fillRect/>
          </a:stretch>
        </p:blipFill>
        <p:spPr>
          <a:xfrm>
            <a:off x="6438900" y="7543800"/>
            <a:ext cx="1790348" cy="368300"/>
          </a:xfrm>
          <a:prstGeom prst="rect">
            <a:avLst/>
          </a:prstGeom>
          <a:ln w="12700">
            <a:miter lim="400000"/>
          </a:ln>
        </p:spPr>
      </p:pic>
      <p:pic>
        <p:nvPicPr>
          <p:cNvPr id="306" name="planetscale-color.png" descr="planetscale-color.png"/>
          <p:cNvPicPr>
            <a:picLocks noChangeAspect="1"/>
          </p:cNvPicPr>
          <p:nvPr/>
        </p:nvPicPr>
        <p:blipFill>
          <a:blip r:embed="rId64">
            <a:extLst/>
          </a:blip>
          <a:stretch>
            <a:fillRect/>
          </a:stretch>
        </p:blipFill>
        <p:spPr>
          <a:xfrm>
            <a:off x="9194800" y="7543800"/>
            <a:ext cx="2071688" cy="368300"/>
          </a:xfrm>
          <a:prstGeom prst="rect">
            <a:avLst/>
          </a:prstGeom>
          <a:ln w="12700">
            <a:miter lim="400000"/>
          </a:ln>
        </p:spPr>
      </p:pic>
      <p:pic>
        <p:nvPicPr>
          <p:cNvPr id="307" name="circleci-color.png" descr="circleci-color.png"/>
          <p:cNvPicPr>
            <a:picLocks noChangeAspect="1"/>
          </p:cNvPicPr>
          <p:nvPr/>
        </p:nvPicPr>
        <p:blipFill>
          <a:blip r:embed="rId65">
            <a:extLst/>
          </a:blip>
          <a:stretch>
            <a:fillRect/>
          </a:stretch>
        </p:blipFill>
        <p:spPr>
          <a:xfrm>
            <a:off x="12242800" y="7543800"/>
            <a:ext cx="1529469" cy="368300"/>
          </a:xfrm>
          <a:prstGeom prst="rect">
            <a:avLst/>
          </a:prstGeom>
          <a:ln w="12700">
            <a:miter lim="400000"/>
          </a:ln>
        </p:spPr>
      </p:pic>
      <p:pic>
        <p:nvPicPr>
          <p:cNvPr id="308" name="deno-color.png" descr="deno-color.png"/>
          <p:cNvPicPr>
            <a:picLocks noChangeAspect="1"/>
          </p:cNvPicPr>
          <p:nvPr/>
        </p:nvPicPr>
        <p:blipFill>
          <a:blip r:embed="rId66">
            <a:extLst/>
          </a:blip>
          <a:stretch>
            <a:fillRect/>
          </a:stretch>
        </p:blipFill>
        <p:spPr>
          <a:xfrm>
            <a:off x="14744700" y="7556500"/>
            <a:ext cx="1153199" cy="330200"/>
          </a:xfrm>
          <a:prstGeom prst="rect">
            <a:avLst/>
          </a:prstGeom>
          <a:ln w="12700">
            <a:miter lim="400000"/>
          </a:ln>
        </p:spPr>
      </p:pic>
      <p:pic>
        <p:nvPicPr>
          <p:cNvPr id="309" name="nginx-color.png" descr="nginx-color.png"/>
          <p:cNvPicPr>
            <a:picLocks noChangeAspect="1"/>
          </p:cNvPicPr>
          <p:nvPr/>
        </p:nvPicPr>
        <p:blipFill>
          <a:blip r:embed="rId67">
            <a:extLst/>
          </a:blip>
          <a:stretch>
            <a:fillRect/>
          </a:stretch>
        </p:blipFill>
        <p:spPr>
          <a:xfrm>
            <a:off x="16891000" y="7543800"/>
            <a:ext cx="1676400" cy="355600"/>
          </a:xfrm>
          <a:prstGeom prst="rect">
            <a:avLst/>
          </a:prstGeom>
          <a:ln w="12700">
            <a:miter lim="400000"/>
          </a:ln>
        </p:spPr>
      </p:pic>
      <p:pic>
        <p:nvPicPr>
          <p:cNvPr id="310" name="litespeed-color.png" descr="litespeed-color.png"/>
          <p:cNvPicPr>
            <a:picLocks noChangeAspect="1"/>
          </p:cNvPicPr>
          <p:nvPr/>
        </p:nvPicPr>
        <p:blipFill>
          <a:blip r:embed="rId68">
            <a:extLst/>
          </a:blip>
          <a:stretch>
            <a:fillRect/>
          </a:stretch>
        </p:blipFill>
        <p:spPr>
          <a:xfrm>
            <a:off x="19532600" y="7581900"/>
            <a:ext cx="1335481" cy="279400"/>
          </a:xfrm>
          <a:prstGeom prst="rect">
            <a:avLst/>
          </a:prstGeom>
          <a:ln w="12700">
            <a:miter lim="400000"/>
          </a:ln>
        </p:spPr>
      </p:pic>
      <p:pic>
        <p:nvPicPr>
          <p:cNvPr id="311" name="apache-color.png" descr="apache-color.png"/>
          <p:cNvPicPr>
            <a:picLocks noChangeAspect="1"/>
          </p:cNvPicPr>
          <p:nvPr/>
        </p:nvPicPr>
        <p:blipFill>
          <a:blip r:embed="rId69">
            <a:extLst/>
          </a:blip>
          <a:stretch>
            <a:fillRect/>
          </a:stretch>
        </p:blipFill>
        <p:spPr>
          <a:xfrm>
            <a:off x="21831300" y="7493000"/>
            <a:ext cx="1181687" cy="457200"/>
          </a:xfrm>
          <a:prstGeom prst="rect">
            <a:avLst/>
          </a:prstGeom>
          <a:ln w="12700">
            <a:miter lim="400000"/>
          </a:ln>
        </p:spPr>
      </p:pic>
      <p:pic>
        <p:nvPicPr>
          <p:cNvPr id="312" name="rockylinux-color.png" descr="rockylinux-color.png"/>
          <p:cNvPicPr>
            <a:picLocks noChangeAspect="1"/>
          </p:cNvPicPr>
          <p:nvPr/>
        </p:nvPicPr>
        <p:blipFill>
          <a:blip r:embed="rId70">
            <a:extLst/>
          </a:blip>
          <a:stretch>
            <a:fillRect/>
          </a:stretch>
        </p:blipFill>
        <p:spPr>
          <a:xfrm>
            <a:off x="1320800" y="8420100"/>
            <a:ext cx="2125398" cy="368300"/>
          </a:xfrm>
          <a:prstGeom prst="rect">
            <a:avLst/>
          </a:prstGeom>
          <a:ln w="12700">
            <a:miter lim="400000"/>
          </a:ln>
        </p:spPr>
      </p:pic>
      <p:pic>
        <p:nvPicPr>
          <p:cNvPr id="313" name="redis-color.png" descr="redis-color.png"/>
          <p:cNvPicPr>
            <a:picLocks noChangeAspect="1"/>
          </p:cNvPicPr>
          <p:nvPr/>
        </p:nvPicPr>
        <p:blipFill>
          <a:blip r:embed="rId71">
            <a:extLst/>
          </a:blip>
          <a:stretch>
            <a:fillRect/>
          </a:stretch>
        </p:blipFill>
        <p:spPr>
          <a:xfrm>
            <a:off x="4622800" y="8432800"/>
            <a:ext cx="1212945" cy="342900"/>
          </a:xfrm>
          <a:prstGeom prst="rect">
            <a:avLst/>
          </a:prstGeom>
          <a:ln w="12700">
            <a:miter lim="400000"/>
          </a:ln>
        </p:spPr>
      </p:pic>
      <p:pic>
        <p:nvPicPr>
          <p:cNvPr id="314" name="aws-color.png" descr="aws-color.png"/>
          <p:cNvPicPr>
            <a:picLocks noChangeAspect="1"/>
          </p:cNvPicPr>
          <p:nvPr/>
        </p:nvPicPr>
        <p:blipFill>
          <a:blip r:embed="rId72">
            <a:extLst/>
          </a:blip>
          <a:stretch>
            <a:fillRect/>
          </a:stretch>
        </p:blipFill>
        <p:spPr>
          <a:xfrm>
            <a:off x="7035800" y="8382000"/>
            <a:ext cx="763524" cy="457200"/>
          </a:xfrm>
          <a:prstGeom prst="rect">
            <a:avLst/>
          </a:prstGeom>
          <a:ln w="12700">
            <a:miter lim="400000"/>
          </a:ln>
        </p:spPr>
      </p:pic>
      <p:pic>
        <p:nvPicPr>
          <p:cNvPr id="315" name="opentelemetry-color.png" descr="opentelemetry-color.png"/>
          <p:cNvPicPr>
            <a:picLocks noChangeAspect="1"/>
          </p:cNvPicPr>
          <p:nvPr/>
        </p:nvPicPr>
        <p:blipFill>
          <a:blip r:embed="rId73">
            <a:extLst/>
          </a:blip>
          <a:stretch>
            <a:fillRect/>
          </a:stretch>
        </p:blipFill>
        <p:spPr>
          <a:xfrm>
            <a:off x="8991600" y="8420100"/>
            <a:ext cx="2557639" cy="368300"/>
          </a:xfrm>
          <a:prstGeom prst="rect">
            <a:avLst/>
          </a:prstGeom>
          <a:ln w="12700">
            <a:miter lim="400000"/>
          </a:ln>
        </p:spPr>
      </p:pic>
      <p:pic>
        <p:nvPicPr>
          <p:cNvPr id="316" name="alpinelinux-color.png" descr="alpinelinux-color.png"/>
          <p:cNvPicPr>
            <a:picLocks noChangeAspect="1"/>
          </p:cNvPicPr>
          <p:nvPr/>
        </p:nvPicPr>
        <p:blipFill>
          <a:blip r:embed="rId74">
            <a:extLst/>
          </a:blip>
          <a:stretch>
            <a:fillRect/>
          </a:stretch>
        </p:blipFill>
        <p:spPr>
          <a:xfrm>
            <a:off x="12725400" y="8445500"/>
            <a:ext cx="2097501" cy="317500"/>
          </a:xfrm>
          <a:prstGeom prst="rect">
            <a:avLst/>
          </a:prstGeom>
          <a:ln w="12700">
            <a:miter lim="400000"/>
          </a:ln>
        </p:spPr>
      </p:pic>
      <p:pic>
        <p:nvPicPr>
          <p:cNvPr id="317" name="mailgun-color.png" descr="mailgun-color.png"/>
          <p:cNvPicPr>
            <a:picLocks noChangeAspect="1"/>
          </p:cNvPicPr>
          <p:nvPr/>
        </p:nvPicPr>
        <p:blipFill>
          <a:blip r:embed="rId75">
            <a:extLst/>
          </a:blip>
          <a:stretch>
            <a:fillRect/>
          </a:stretch>
        </p:blipFill>
        <p:spPr>
          <a:xfrm>
            <a:off x="16052800" y="8420100"/>
            <a:ext cx="1539699" cy="368300"/>
          </a:xfrm>
          <a:prstGeom prst="rect">
            <a:avLst/>
          </a:prstGeom>
          <a:ln w="12700">
            <a:miter lim="400000"/>
          </a:ln>
        </p:spPr>
      </p:pic>
      <p:pic>
        <p:nvPicPr>
          <p:cNvPr id="318" name="cpanel-color.png" descr="cpanel-color.png"/>
          <p:cNvPicPr>
            <a:picLocks noChangeAspect="1"/>
          </p:cNvPicPr>
          <p:nvPr/>
        </p:nvPicPr>
        <p:blipFill>
          <a:blip r:embed="rId76">
            <a:extLst/>
          </a:blip>
          <a:stretch>
            <a:fillRect/>
          </a:stretch>
        </p:blipFill>
        <p:spPr>
          <a:xfrm>
            <a:off x="18783300" y="8432800"/>
            <a:ext cx="1572127" cy="355600"/>
          </a:xfrm>
          <a:prstGeom prst="rect">
            <a:avLst/>
          </a:prstGeom>
          <a:ln w="12700">
            <a:miter lim="400000"/>
          </a:ln>
        </p:spPr>
      </p:pic>
      <p:pic>
        <p:nvPicPr>
          <p:cNvPr id="319" name="render-color.png" descr="render-color.png"/>
          <p:cNvPicPr>
            <a:picLocks noChangeAspect="1"/>
          </p:cNvPicPr>
          <p:nvPr/>
        </p:nvPicPr>
        <p:blipFill>
          <a:blip r:embed="rId77">
            <a:extLst/>
          </a:blip>
          <a:stretch>
            <a:fillRect/>
          </a:stretch>
        </p:blipFill>
        <p:spPr>
          <a:xfrm>
            <a:off x="21577300" y="8420100"/>
            <a:ext cx="1445066" cy="368300"/>
          </a:xfrm>
          <a:prstGeom prst="rect">
            <a:avLst/>
          </a:prstGeom>
          <a:ln w="12700">
            <a:miter lim="400000"/>
          </a:ln>
        </p:spPr>
      </p:pic>
      <p:pic>
        <p:nvPicPr>
          <p:cNvPr id="320" name="caddy-color.png" descr="caddy-color.png"/>
          <p:cNvPicPr>
            <a:picLocks noChangeAspect="1"/>
          </p:cNvPicPr>
          <p:nvPr/>
        </p:nvPicPr>
        <p:blipFill>
          <a:blip r:embed="rId78">
            <a:extLst/>
          </a:blip>
          <a:stretch>
            <a:fillRect/>
          </a:stretch>
        </p:blipFill>
        <p:spPr>
          <a:xfrm>
            <a:off x="1320800" y="9309100"/>
            <a:ext cx="1351281" cy="355600"/>
          </a:xfrm>
          <a:prstGeom prst="rect">
            <a:avLst/>
          </a:prstGeom>
          <a:ln w="12700">
            <a:miter lim="400000"/>
          </a:ln>
        </p:spPr>
      </p:pic>
      <p:pic>
        <p:nvPicPr>
          <p:cNvPr id="321" name="mysql-color.png" descr="mysql-color.png"/>
          <p:cNvPicPr>
            <a:picLocks noChangeAspect="1"/>
          </p:cNvPicPr>
          <p:nvPr/>
        </p:nvPicPr>
        <p:blipFill>
          <a:blip r:embed="rId79">
            <a:extLst/>
          </a:blip>
          <a:stretch>
            <a:fillRect/>
          </a:stretch>
        </p:blipFill>
        <p:spPr>
          <a:xfrm>
            <a:off x="3924300" y="9309100"/>
            <a:ext cx="1424905" cy="355600"/>
          </a:xfrm>
          <a:prstGeom prst="rect">
            <a:avLst/>
          </a:prstGeom>
          <a:ln w="12700">
            <a:miter lim="400000"/>
          </a:ln>
        </p:spPr>
      </p:pic>
      <p:pic>
        <p:nvPicPr>
          <p:cNvPr id="322" name="digitalocean-color.png" descr="digitalocean-color.png"/>
          <p:cNvPicPr>
            <a:picLocks noChangeAspect="1"/>
          </p:cNvPicPr>
          <p:nvPr/>
        </p:nvPicPr>
        <p:blipFill>
          <a:blip r:embed="rId80">
            <a:extLst/>
          </a:blip>
          <a:stretch>
            <a:fillRect/>
          </a:stretch>
        </p:blipFill>
        <p:spPr>
          <a:xfrm>
            <a:off x="6642100" y="9309100"/>
            <a:ext cx="2204685" cy="368300"/>
          </a:xfrm>
          <a:prstGeom prst="rect">
            <a:avLst/>
          </a:prstGeom>
          <a:ln w="12700">
            <a:miter lim="400000"/>
          </a:ln>
        </p:spPr>
      </p:pic>
      <p:pic>
        <p:nvPicPr>
          <p:cNvPr id="323" name="valkey-color.png" descr="valkey-color.png"/>
          <p:cNvPicPr>
            <a:picLocks noChangeAspect="1"/>
          </p:cNvPicPr>
          <p:nvPr/>
        </p:nvPicPr>
        <p:blipFill>
          <a:blip r:embed="rId81">
            <a:extLst/>
          </a:blip>
          <a:stretch>
            <a:fillRect/>
          </a:stretch>
        </p:blipFill>
        <p:spPr>
          <a:xfrm>
            <a:off x="10083800" y="9283700"/>
            <a:ext cx="1408056" cy="419100"/>
          </a:xfrm>
          <a:prstGeom prst="rect">
            <a:avLst/>
          </a:prstGeom>
          <a:ln w="12700">
            <a:miter lim="400000"/>
          </a:ln>
        </p:spPr>
      </p:pic>
      <p:pic>
        <p:nvPicPr>
          <p:cNvPr id="324" name="mongodb-color.png" descr="mongodb-color.png"/>
          <p:cNvPicPr>
            <a:picLocks noChangeAspect="1"/>
          </p:cNvPicPr>
          <p:nvPr/>
        </p:nvPicPr>
        <p:blipFill>
          <a:blip r:embed="rId82">
            <a:extLst/>
          </a:blip>
          <a:stretch>
            <a:fillRect/>
          </a:stretch>
        </p:blipFill>
        <p:spPr>
          <a:xfrm>
            <a:off x="12738100" y="9309100"/>
            <a:ext cx="1718734" cy="355600"/>
          </a:xfrm>
          <a:prstGeom prst="rect">
            <a:avLst/>
          </a:prstGeom>
          <a:ln w="12700">
            <a:miter lim="400000"/>
          </a:ln>
        </p:spPr>
      </p:pic>
      <p:pic>
        <p:nvPicPr>
          <p:cNvPr id="325" name="kinsta-color.png" descr="kinsta-color.png"/>
          <p:cNvPicPr>
            <a:picLocks noChangeAspect="1"/>
          </p:cNvPicPr>
          <p:nvPr/>
        </p:nvPicPr>
        <p:blipFill>
          <a:blip r:embed="rId83">
            <a:extLst/>
          </a:blip>
          <a:stretch>
            <a:fillRect/>
          </a:stretch>
        </p:blipFill>
        <p:spPr>
          <a:xfrm>
            <a:off x="15684500" y="9321800"/>
            <a:ext cx="1694330" cy="342900"/>
          </a:xfrm>
          <a:prstGeom prst="rect">
            <a:avLst/>
          </a:prstGeom>
          <a:ln w="12700">
            <a:miter lim="400000"/>
          </a:ln>
        </p:spPr>
      </p:pic>
      <p:pic>
        <p:nvPicPr>
          <p:cNvPr id="326" name="vagrant-color.png" descr="vagrant-color.png"/>
          <p:cNvPicPr>
            <a:picLocks noChangeAspect="1"/>
          </p:cNvPicPr>
          <p:nvPr/>
        </p:nvPicPr>
        <p:blipFill>
          <a:blip r:embed="rId84">
            <a:extLst/>
          </a:blip>
          <a:stretch>
            <a:fillRect/>
          </a:stretch>
        </p:blipFill>
        <p:spPr>
          <a:xfrm>
            <a:off x="18643600" y="9283700"/>
            <a:ext cx="1466574" cy="406400"/>
          </a:xfrm>
          <a:prstGeom prst="rect">
            <a:avLst/>
          </a:prstGeom>
          <a:ln w="12700">
            <a:miter lim="400000"/>
          </a:ln>
        </p:spPr>
      </p:pic>
      <p:pic>
        <p:nvPicPr>
          <p:cNvPr id="327" name="subversion-color.png" descr="subversion-color.png"/>
          <p:cNvPicPr>
            <a:picLocks noChangeAspect="1"/>
          </p:cNvPicPr>
          <p:nvPr/>
        </p:nvPicPr>
        <p:blipFill>
          <a:blip r:embed="rId85">
            <a:extLst/>
          </a:blip>
          <a:stretch>
            <a:fillRect/>
          </a:stretch>
        </p:blipFill>
        <p:spPr>
          <a:xfrm>
            <a:off x="21348700" y="9321800"/>
            <a:ext cx="1645104" cy="342900"/>
          </a:xfrm>
          <a:prstGeom prst="rect">
            <a:avLst/>
          </a:prstGeom>
          <a:ln w="12700">
            <a:miter lim="400000"/>
          </a:ln>
        </p:spPr>
      </p:pic>
      <p:pic>
        <p:nvPicPr>
          <p:cNvPr id="328" name="letsencrypt-color.png" descr="letsencrypt-color.png"/>
          <p:cNvPicPr>
            <a:picLocks noChangeAspect="1"/>
          </p:cNvPicPr>
          <p:nvPr/>
        </p:nvPicPr>
        <p:blipFill>
          <a:blip r:embed="rId86">
            <a:extLst/>
          </a:blip>
          <a:stretch>
            <a:fillRect/>
          </a:stretch>
        </p:blipFill>
        <p:spPr>
          <a:xfrm>
            <a:off x="1320800" y="10185400"/>
            <a:ext cx="2268626" cy="368300"/>
          </a:xfrm>
          <a:prstGeom prst="rect">
            <a:avLst/>
          </a:prstGeom>
          <a:ln w="12700">
            <a:miter lim="400000"/>
          </a:ln>
        </p:spPr>
      </p:pic>
      <p:pic>
        <p:nvPicPr>
          <p:cNvPr id="329" name="redhat-color.png" descr="redhat-color.png"/>
          <p:cNvPicPr>
            <a:picLocks noChangeAspect="1"/>
          </p:cNvPicPr>
          <p:nvPr/>
        </p:nvPicPr>
        <p:blipFill>
          <a:blip r:embed="rId87">
            <a:extLst/>
          </a:blip>
          <a:stretch>
            <a:fillRect/>
          </a:stretch>
        </p:blipFill>
        <p:spPr>
          <a:xfrm>
            <a:off x="4584700" y="10236200"/>
            <a:ext cx="1534161" cy="279400"/>
          </a:xfrm>
          <a:prstGeom prst="rect">
            <a:avLst/>
          </a:prstGeom>
          <a:ln w="12700">
            <a:miter lim="400000"/>
          </a:ln>
        </p:spPr>
      </p:pic>
      <p:pic>
        <p:nvPicPr>
          <p:cNvPr id="330" name="centos-color.png" descr="centos-color.png"/>
          <p:cNvPicPr>
            <a:picLocks noChangeAspect="1"/>
          </p:cNvPicPr>
          <p:nvPr/>
        </p:nvPicPr>
        <p:blipFill>
          <a:blip r:embed="rId88">
            <a:extLst/>
          </a:blip>
          <a:stretch>
            <a:fillRect/>
          </a:stretch>
        </p:blipFill>
        <p:spPr>
          <a:xfrm>
            <a:off x="7137400" y="10172700"/>
            <a:ext cx="1440873" cy="406400"/>
          </a:xfrm>
          <a:prstGeom prst="rect">
            <a:avLst/>
          </a:prstGeom>
          <a:ln w="12700">
            <a:miter lim="400000"/>
          </a:ln>
        </p:spPr>
      </p:pic>
      <p:pic>
        <p:nvPicPr>
          <p:cNvPr id="331" name="plesk-color.png" descr="plesk-color.png"/>
          <p:cNvPicPr>
            <a:picLocks noChangeAspect="1"/>
          </p:cNvPicPr>
          <p:nvPr/>
        </p:nvPicPr>
        <p:blipFill>
          <a:blip r:embed="rId89">
            <a:extLst/>
          </a:blip>
          <a:stretch>
            <a:fillRect/>
          </a:stretch>
        </p:blipFill>
        <p:spPr>
          <a:xfrm>
            <a:off x="9575800" y="10147300"/>
            <a:ext cx="1097281" cy="457200"/>
          </a:xfrm>
          <a:prstGeom prst="rect">
            <a:avLst/>
          </a:prstGeom>
          <a:ln w="12700">
            <a:miter lim="400000"/>
          </a:ln>
        </p:spPr>
      </p:pic>
      <p:pic>
        <p:nvPicPr>
          <p:cNvPr id="332" name="debian-color.png" descr="debian-color.png"/>
          <p:cNvPicPr>
            <a:picLocks noChangeAspect="1"/>
          </p:cNvPicPr>
          <p:nvPr/>
        </p:nvPicPr>
        <p:blipFill>
          <a:blip r:embed="rId90">
            <a:extLst/>
          </a:blip>
          <a:stretch>
            <a:fillRect/>
          </a:stretch>
        </p:blipFill>
        <p:spPr>
          <a:xfrm>
            <a:off x="11684000" y="10198100"/>
            <a:ext cx="1363981" cy="355600"/>
          </a:xfrm>
          <a:prstGeom prst="rect">
            <a:avLst/>
          </a:prstGeom>
          <a:ln w="12700">
            <a:miter lim="400000"/>
          </a:ln>
        </p:spPr>
      </p:pic>
      <p:pic>
        <p:nvPicPr>
          <p:cNvPr id="333" name="perl-color.png" descr="perl-color.png"/>
          <p:cNvPicPr>
            <a:picLocks noChangeAspect="1"/>
          </p:cNvPicPr>
          <p:nvPr/>
        </p:nvPicPr>
        <p:blipFill>
          <a:blip r:embed="rId91">
            <a:extLst/>
          </a:blip>
          <a:stretch>
            <a:fillRect/>
          </a:stretch>
        </p:blipFill>
        <p:spPr>
          <a:xfrm>
            <a:off x="14058900" y="10185400"/>
            <a:ext cx="989807" cy="368300"/>
          </a:xfrm>
          <a:prstGeom prst="rect">
            <a:avLst/>
          </a:prstGeom>
          <a:ln w="12700">
            <a:miter lim="400000"/>
          </a:ln>
        </p:spPr>
      </p:pic>
      <p:pic>
        <p:nvPicPr>
          <p:cNvPr id="334" name="gitlab-color.png" descr="gitlab-color.png"/>
          <p:cNvPicPr>
            <a:picLocks noChangeAspect="1"/>
          </p:cNvPicPr>
          <p:nvPr/>
        </p:nvPicPr>
        <p:blipFill>
          <a:blip r:embed="rId92">
            <a:extLst/>
          </a:blip>
          <a:stretch>
            <a:fillRect/>
          </a:stretch>
        </p:blipFill>
        <p:spPr>
          <a:xfrm>
            <a:off x="16052800" y="10198100"/>
            <a:ext cx="1352827" cy="355600"/>
          </a:xfrm>
          <a:prstGeom prst="rect">
            <a:avLst/>
          </a:prstGeom>
          <a:ln w="12700">
            <a:miter lim="400000"/>
          </a:ln>
        </p:spPr>
      </p:pic>
      <p:pic>
        <p:nvPicPr>
          <p:cNvPr id="335" name="memcached-color.png" descr="memcached-color.png"/>
          <p:cNvPicPr>
            <a:picLocks noChangeAspect="1"/>
          </p:cNvPicPr>
          <p:nvPr/>
        </p:nvPicPr>
        <p:blipFill>
          <a:blip r:embed="rId93">
            <a:extLst/>
          </a:blip>
          <a:stretch>
            <a:fillRect/>
          </a:stretch>
        </p:blipFill>
        <p:spPr>
          <a:xfrm>
            <a:off x="18389600" y="10185400"/>
            <a:ext cx="2148417" cy="368300"/>
          </a:xfrm>
          <a:prstGeom prst="rect">
            <a:avLst/>
          </a:prstGeom>
          <a:ln w="12700">
            <a:miter lim="400000"/>
          </a:ln>
        </p:spPr>
      </p:pic>
      <p:pic>
        <p:nvPicPr>
          <p:cNvPr id="336" name="nodejs-color.png" descr="nodejs-color.png"/>
          <p:cNvPicPr>
            <a:picLocks noChangeAspect="1"/>
          </p:cNvPicPr>
          <p:nvPr/>
        </p:nvPicPr>
        <p:blipFill>
          <a:blip r:embed="rId94">
            <a:extLst/>
          </a:blip>
          <a:stretch>
            <a:fillRect/>
          </a:stretch>
        </p:blipFill>
        <p:spPr>
          <a:xfrm>
            <a:off x="21539200" y="10185400"/>
            <a:ext cx="1485989" cy="368300"/>
          </a:xfrm>
          <a:prstGeom prst="rect">
            <a:avLst/>
          </a:prstGeom>
          <a:ln w="12700">
            <a:miter lim="400000"/>
          </a:ln>
        </p:spPr>
      </p:pic>
      <p:pic>
        <p:nvPicPr>
          <p:cNvPr id="337" name="upcloud-color.png" descr="upcloud-color.png"/>
          <p:cNvPicPr>
            <a:picLocks noChangeAspect="1"/>
          </p:cNvPicPr>
          <p:nvPr/>
        </p:nvPicPr>
        <p:blipFill>
          <a:blip r:embed="rId95">
            <a:extLst/>
          </a:blip>
          <a:stretch>
            <a:fillRect/>
          </a:stretch>
        </p:blipFill>
        <p:spPr>
          <a:xfrm>
            <a:off x="1320800" y="11087100"/>
            <a:ext cx="1796446" cy="330200"/>
          </a:xfrm>
          <a:prstGeom prst="rect">
            <a:avLst/>
          </a:prstGeom>
          <a:ln w="12700">
            <a:miter lim="400000"/>
          </a:ln>
        </p:spPr>
      </p:pic>
      <p:pic>
        <p:nvPicPr>
          <p:cNvPr id="338" name="apachekafka-color.png" descr="apachekafka-color.png"/>
          <p:cNvPicPr>
            <a:picLocks noChangeAspect="1"/>
          </p:cNvPicPr>
          <p:nvPr/>
        </p:nvPicPr>
        <p:blipFill>
          <a:blip r:embed="rId96">
            <a:extLst/>
          </a:blip>
          <a:stretch>
            <a:fillRect/>
          </a:stretch>
        </p:blipFill>
        <p:spPr>
          <a:xfrm>
            <a:off x="4508500" y="11074400"/>
            <a:ext cx="1171399" cy="368300"/>
          </a:xfrm>
          <a:prstGeom prst="rect">
            <a:avLst/>
          </a:prstGeom>
          <a:ln w="12700">
            <a:miter lim="400000"/>
          </a:ln>
        </p:spPr>
      </p:pic>
      <p:pic>
        <p:nvPicPr>
          <p:cNvPr id="339" name="consul-color.png" descr="consul-color.png"/>
          <p:cNvPicPr>
            <a:picLocks noChangeAspect="1"/>
          </p:cNvPicPr>
          <p:nvPr/>
        </p:nvPicPr>
        <p:blipFill>
          <a:blip r:embed="rId97">
            <a:extLst/>
          </a:blip>
          <a:stretch>
            <a:fillRect/>
          </a:stretch>
        </p:blipFill>
        <p:spPr>
          <a:xfrm>
            <a:off x="7086600" y="11074400"/>
            <a:ext cx="1397000" cy="355600"/>
          </a:xfrm>
          <a:prstGeom prst="rect">
            <a:avLst/>
          </a:prstGeom>
          <a:ln w="12700">
            <a:miter lim="400000"/>
          </a:ln>
        </p:spPr>
      </p:pic>
      <p:pic>
        <p:nvPicPr>
          <p:cNvPr id="340" name="heroku-color.png" descr="heroku-color.png"/>
          <p:cNvPicPr>
            <a:picLocks noChangeAspect="1"/>
          </p:cNvPicPr>
          <p:nvPr/>
        </p:nvPicPr>
        <p:blipFill>
          <a:blip r:embed="rId98">
            <a:extLst/>
          </a:blip>
          <a:stretch>
            <a:fillRect/>
          </a:stretch>
        </p:blipFill>
        <p:spPr>
          <a:xfrm>
            <a:off x="9893300" y="11074400"/>
            <a:ext cx="1397000" cy="355600"/>
          </a:xfrm>
          <a:prstGeom prst="rect">
            <a:avLst/>
          </a:prstGeom>
          <a:ln w="12700">
            <a:miter lim="400000"/>
          </a:ln>
        </p:spPr>
      </p:pic>
      <p:pic>
        <p:nvPicPr>
          <p:cNvPr id="341" name="firebase-color.png" descr="firebase-color.png"/>
          <p:cNvPicPr>
            <a:picLocks noChangeAspect="1"/>
          </p:cNvPicPr>
          <p:nvPr/>
        </p:nvPicPr>
        <p:blipFill>
          <a:blip r:embed="rId99">
            <a:extLst/>
          </a:blip>
          <a:stretch>
            <a:fillRect/>
          </a:stretch>
        </p:blipFill>
        <p:spPr>
          <a:xfrm>
            <a:off x="12712700" y="11074400"/>
            <a:ext cx="1590852" cy="368300"/>
          </a:xfrm>
          <a:prstGeom prst="rect">
            <a:avLst/>
          </a:prstGeom>
          <a:ln w="12700">
            <a:miter lim="400000"/>
          </a:ln>
        </p:spPr>
      </p:pic>
      <p:pic>
        <p:nvPicPr>
          <p:cNvPr id="342" name="redhatopenshift-color.png" descr="redhatopenshift-color.png"/>
          <p:cNvPicPr>
            <a:picLocks noChangeAspect="1"/>
          </p:cNvPicPr>
          <p:nvPr/>
        </p:nvPicPr>
        <p:blipFill>
          <a:blip r:embed="rId100">
            <a:extLst/>
          </a:blip>
          <a:stretch>
            <a:fillRect/>
          </a:stretch>
        </p:blipFill>
        <p:spPr>
          <a:xfrm>
            <a:off x="15697200" y="11074400"/>
            <a:ext cx="1829654" cy="342900"/>
          </a:xfrm>
          <a:prstGeom prst="rect">
            <a:avLst/>
          </a:prstGeom>
          <a:ln w="12700">
            <a:miter lim="400000"/>
          </a:ln>
        </p:spPr>
      </p:pic>
      <p:pic>
        <p:nvPicPr>
          <p:cNvPr id="343" name="upstash-color.png" descr="upstash-color.png"/>
          <p:cNvPicPr>
            <a:picLocks noChangeAspect="1"/>
          </p:cNvPicPr>
          <p:nvPr/>
        </p:nvPicPr>
        <p:blipFill>
          <a:blip r:embed="rId101">
            <a:extLst/>
          </a:blip>
          <a:stretch>
            <a:fillRect/>
          </a:stretch>
        </p:blipFill>
        <p:spPr>
          <a:xfrm>
            <a:off x="18923000" y="11074400"/>
            <a:ext cx="1537141" cy="368300"/>
          </a:xfrm>
          <a:prstGeom prst="rect">
            <a:avLst/>
          </a:prstGeom>
          <a:ln w="12700">
            <a:miter lim="400000"/>
          </a:ln>
        </p:spPr>
      </p:pic>
      <p:pic>
        <p:nvPicPr>
          <p:cNvPr id="344" name="vault-color.png" descr="vault-color.png"/>
          <p:cNvPicPr>
            <a:picLocks noChangeAspect="1"/>
          </p:cNvPicPr>
          <p:nvPr/>
        </p:nvPicPr>
        <p:blipFill>
          <a:blip r:embed="rId102">
            <a:extLst/>
          </a:blip>
          <a:stretch>
            <a:fillRect/>
          </a:stretch>
        </p:blipFill>
        <p:spPr>
          <a:xfrm>
            <a:off x="21856700" y="11074400"/>
            <a:ext cx="1163726" cy="368300"/>
          </a:xfrm>
          <a:prstGeom prst="rect">
            <a:avLst/>
          </a:prstGeom>
          <a:ln w="12700">
            <a:miter lim="400000"/>
          </a:ln>
        </p:spPr>
      </p:pic>
      <p:pic>
        <p:nvPicPr>
          <p:cNvPr id="345" name="prog-6.png" descr="prog-6.png"/>
          <p:cNvPicPr>
            <a:picLocks noChangeAspect="1"/>
          </p:cNvPicPr>
          <p:nvPr/>
        </p:nvPicPr>
        <p:blipFill>
          <a:blip r:embed="rId10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351" name="pulumi-dim.png" descr="pulumi-dim.png"/>
          <p:cNvPicPr>
            <a:picLocks noChangeAspect="1"/>
          </p:cNvPicPr>
          <p:nvPr/>
        </p:nvPicPr>
        <p:blipFill>
          <a:blip r:embed="rId4">
            <a:extLst/>
          </a:blip>
          <a:stretch>
            <a:fillRect/>
          </a:stretch>
        </p:blipFill>
        <p:spPr>
          <a:xfrm>
            <a:off x="1320800" y="1358900"/>
            <a:ext cx="1524000" cy="381000"/>
          </a:xfrm>
          <a:prstGeom prst="rect">
            <a:avLst/>
          </a:prstGeom>
          <a:ln w="12700">
            <a:miter lim="400000"/>
          </a:ln>
        </p:spPr>
      </p:pic>
      <p:pic>
        <p:nvPicPr>
          <p:cNvPr id="352" name="cloudflareworkers-dim.png" descr="cloudflareworkers-dim.png"/>
          <p:cNvPicPr>
            <a:picLocks noChangeAspect="1"/>
          </p:cNvPicPr>
          <p:nvPr/>
        </p:nvPicPr>
        <p:blipFill>
          <a:blip r:embed="rId5">
            <a:extLst/>
          </a:blip>
          <a:stretch>
            <a:fillRect/>
          </a:stretch>
        </p:blipFill>
        <p:spPr>
          <a:xfrm>
            <a:off x="4241800" y="1371600"/>
            <a:ext cx="3104974" cy="368300"/>
          </a:xfrm>
          <a:prstGeom prst="rect">
            <a:avLst/>
          </a:prstGeom>
          <a:ln w="12700">
            <a:miter lim="400000"/>
          </a:ln>
        </p:spPr>
      </p:pic>
      <p:pic>
        <p:nvPicPr>
          <p:cNvPr id="353" name="ansible-color.png" descr="ansible-color.png"/>
          <p:cNvPicPr>
            <a:picLocks noChangeAspect="1"/>
          </p:cNvPicPr>
          <p:nvPr/>
        </p:nvPicPr>
        <p:blipFill>
          <a:blip r:embed="rId6">
            <a:extLst/>
          </a:blip>
          <a:stretch>
            <a:fillRect/>
          </a:stretch>
        </p:blipFill>
        <p:spPr>
          <a:xfrm>
            <a:off x="8737600" y="1371600"/>
            <a:ext cx="1463040" cy="355600"/>
          </a:xfrm>
          <a:prstGeom prst="rect">
            <a:avLst/>
          </a:prstGeom>
          <a:ln w="12700">
            <a:miter lim="400000"/>
          </a:ln>
        </p:spPr>
      </p:pic>
      <p:pic>
        <p:nvPicPr>
          <p:cNvPr id="354" name="openstack-dim.png" descr="openstack-dim.png"/>
          <p:cNvPicPr>
            <a:picLocks noChangeAspect="1"/>
          </p:cNvPicPr>
          <p:nvPr/>
        </p:nvPicPr>
        <p:blipFill>
          <a:blip r:embed="rId7">
            <a:extLst/>
          </a:blip>
          <a:stretch>
            <a:fillRect/>
          </a:stretch>
        </p:blipFill>
        <p:spPr>
          <a:xfrm>
            <a:off x="11595100" y="1397000"/>
            <a:ext cx="1950358" cy="317500"/>
          </a:xfrm>
          <a:prstGeom prst="rect">
            <a:avLst/>
          </a:prstGeom>
          <a:ln w="12700">
            <a:miter lim="400000"/>
          </a:ln>
        </p:spPr>
      </p:pic>
      <p:pic>
        <p:nvPicPr>
          <p:cNvPr id="355" name="sentry-dim.png" descr="sentry-dim.png"/>
          <p:cNvPicPr>
            <a:picLocks noChangeAspect="1"/>
          </p:cNvPicPr>
          <p:nvPr/>
        </p:nvPicPr>
        <p:blipFill>
          <a:blip r:embed="rId8">
            <a:extLst/>
          </a:blip>
          <a:stretch>
            <a:fillRect/>
          </a:stretch>
        </p:blipFill>
        <p:spPr>
          <a:xfrm>
            <a:off x="14960600" y="1371600"/>
            <a:ext cx="1572127" cy="355600"/>
          </a:xfrm>
          <a:prstGeom prst="rect">
            <a:avLst/>
          </a:prstGeom>
          <a:ln w="12700">
            <a:miter lim="400000"/>
          </a:ln>
        </p:spPr>
      </p:pic>
      <p:pic>
        <p:nvPicPr>
          <p:cNvPr id="356" name="serverless-dim.png" descr="serverless-dim.png"/>
          <p:cNvPicPr>
            <a:picLocks noChangeAspect="1"/>
          </p:cNvPicPr>
          <p:nvPr/>
        </p:nvPicPr>
        <p:blipFill>
          <a:blip r:embed="rId9">
            <a:extLst/>
          </a:blip>
          <a:stretch>
            <a:fillRect/>
          </a:stretch>
        </p:blipFill>
        <p:spPr>
          <a:xfrm>
            <a:off x="17970500" y="1397000"/>
            <a:ext cx="1891096" cy="292100"/>
          </a:xfrm>
          <a:prstGeom prst="rect">
            <a:avLst/>
          </a:prstGeom>
          <a:ln w="12700">
            <a:miter lim="400000"/>
          </a:ln>
        </p:spPr>
      </p:pic>
      <p:pic>
        <p:nvPicPr>
          <p:cNvPr id="357" name="scaleway-dim.png" descr="scaleway-dim.png"/>
          <p:cNvPicPr>
            <a:picLocks noChangeAspect="1"/>
          </p:cNvPicPr>
          <p:nvPr/>
        </p:nvPicPr>
        <p:blipFill>
          <a:blip r:embed="rId10">
            <a:extLst/>
          </a:blip>
          <a:stretch>
            <a:fillRect/>
          </a:stretch>
        </p:blipFill>
        <p:spPr>
          <a:xfrm>
            <a:off x="21272500" y="1371600"/>
            <a:ext cx="1749425" cy="368300"/>
          </a:xfrm>
          <a:prstGeom prst="rect">
            <a:avLst/>
          </a:prstGeom>
          <a:ln w="12700">
            <a:miter lim="400000"/>
          </a:ln>
        </p:spPr>
      </p:pic>
      <p:pic>
        <p:nvPicPr>
          <p:cNvPr id="358" name="bitbucket-dim.png" descr="bitbucket-dim.png"/>
          <p:cNvPicPr>
            <a:picLocks noChangeAspect="1"/>
          </p:cNvPicPr>
          <p:nvPr/>
        </p:nvPicPr>
        <p:blipFill>
          <a:blip r:embed="rId11">
            <a:extLst/>
          </a:blip>
          <a:stretch>
            <a:fillRect/>
          </a:stretch>
        </p:blipFill>
        <p:spPr>
          <a:xfrm>
            <a:off x="1320800" y="2260600"/>
            <a:ext cx="1747521" cy="330200"/>
          </a:xfrm>
          <a:prstGeom prst="rect">
            <a:avLst/>
          </a:prstGeom>
          <a:ln w="12700">
            <a:miter lim="400000"/>
          </a:ln>
        </p:spPr>
      </p:pic>
      <p:pic>
        <p:nvPicPr>
          <p:cNvPr id="359" name="jenkins-dim.png" descr="jenkins-dim.png"/>
          <p:cNvPicPr>
            <a:picLocks noChangeAspect="1"/>
          </p:cNvPicPr>
          <p:nvPr/>
        </p:nvPicPr>
        <p:blipFill>
          <a:blip r:embed="rId12">
            <a:extLst/>
          </a:blip>
          <a:stretch>
            <a:fillRect/>
          </a:stretch>
        </p:blipFill>
        <p:spPr>
          <a:xfrm>
            <a:off x="4114800" y="2247900"/>
            <a:ext cx="1509007" cy="368300"/>
          </a:xfrm>
          <a:prstGeom prst="rect">
            <a:avLst/>
          </a:prstGeom>
          <a:ln w="12700">
            <a:miter lim="400000"/>
          </a:ln>
        </p:spPr>
      </p:pic>
      <p:pic>
        <p:nvPicPr>
          <p:cNvPr id="360" name="archlinux-color.png" descr="archlinux-color.png"/>
          <p:cNvPicPr>
            <a:picLocks noChangeAspect="1"/>
          </p:cNvPicPr>
          <p:nvPr/>
        </p:nvPicPr>
        <p:blipFill>
          <a:blip r:embed="rId13">
            <a:extLst/>
          </a:blip>
          <a:stretch>
            <a:fillRect/>
          </a:stretch>
        </p:blipFill>
        <p:spPr>
          <a:xfrm>
            <a:off x="6667500" y="2222500"/>
            <a:ext cx="1417807" cy="419100"/>
          </a:xfrm>
          <a:prstGeom prst="rect">
            <a:avLst/>
          </a:prstGeom>
          <a:ln w="12700">
            <a:miter lim="400000"/>
          </a:ln>
        </p:spPr>
      </p:pic>
      <p:pic>
        <p:nvPicPr>
          <p:cNvPr id="361" name="varnish-dim.png" descr="varnish-dim.png"/>
          <p:cNvPicPr>
            <a:picLocks noChangeAspect="1"/>
          </p:cNvPicPr>
          <p:nvPr/>
        </p:nvPicPr>
        <p:blipFill>
          <a:blip r:embed="rId14">
            <a:extLst/>
          </a:blip>
          <a:stretch>
            <a:fillRect/>
          </a:stretch>
        </p:blipFill>
        <p:spPr>
          <a:xfrm>
            <a:off x="9118600" y="2311400"/>
            <a:ext cx="1028700" cy="228600"/>
          </a:xfrm>
          <a:prstGeom prst="rect">
            <a:avLst/>
          </a:prstGeom>
          <a:ln w="12700">
            <a:miter lim="400000"/>
          </a:ln>
        </p:spPr>
      </p:pic>
      <p:pic>
        <p:nvPicPr>
          <p:cNvPr id="362" name="ubuntu-color.png" descr="ubuntu-color.png"/>
          <p:cNvPicPr>
            <a:picLocks noChangeAspect="1"/>
          </p:cNvPicPr>
          <p:nvPr/>
        </p:nvPicPr>
        <p:blipFill>
          <a:blip r:embed="rId15">
            <a:extLst/>
          </a:blip>
          <a:stretch>
            <a:fillRect/>
          </a:stretch>
        </p:blipFill>
        <p:spPr>
          <a:xfrm>
            <a:off x="11163300" y="2197100"/>
            <a:ext cx="1238865" cy="457200"/>
          </a:xfrm>
          <a:prstGeom prst="rect">
            <a:avLst/>
          </a:prstGeom>
          <a:ln w="12700">
            <a:miter lim="400000"/>
          </a:ln>
        </p:spPr>
      </p:pic>
      <p:pic>
        <p:nvPicPr>
          <p:cNvPr id="363" name="prometheus-dim.png" descr="prometheus-dim.png"/>
          <p:cNvPicPr>
            <a:picLocks noChangeAspect="1"/>
          </p:cNvPicPr>
          <p:nvPr/>
        </p:nvPicPr>
        <p:blipFill>
          <a:blip r:embed="rId16">
            <a:extLst/>
          </a:blip>
          <a:stretch>
            <a:fillRect/>
          </a:stretch>
        </p:blipFill>
        <p:spPr>
          <a:xfrm>
            <a:off x="13462000" y="2247900"/>
            <a:ext cx="2110053" cy="368300"/>
          </a:xfrm>
          <a:prstGeom prst="rect">
            <a:avLst/>
          </a:prstGeom>
          <a:ln w="12700">
            <a:miter lim="400000"/>
          </a:ln>
        </p:spPr>
      </p:pic>
      <p:pic>
        <p:nvPicPr>
          <p:cNvPr id="364" name="netlify-dim.png" descr="netlify-dim.png"/>
          <p:cNvPicPr>
            <a:picLocks noChangeAspect="1"/>
          </p:cNvPicPr>
          <p:nvPr/>
        </p:nvPicPr>
        <p:blipFill>
          <a:blip r:embed="rId17">
            <a:extLst/>
          </a:blip>
          <a:stretch>
            <a:fillRect/>
          </a:stretch>
        </p:blipFill>
        <p:spPr>
          <a:xfrm>
            <a:off x="16598900" y="2197100"/>
            <a:ext cx="1097281" cy="457200"/>
          </a:xfrm>
          <a:prstGeom prst="rect">
            <a:avLst/>
          </a:prstGeom>
          <a:ln w="12700">
            <a:miter lim="400000"/>
          </a:ln>
        </p:spPr>
      </p:pic>
      <p:pic>
        <p:nvPicPr>
          <p:cNvPr id="365" name="supabase-color.png" descr="supabase-color.png"/>
          <p:cNvPicPr>
            <a:picLocks noChangeAspect="1"/>
          </p:cNvPicPr>
          <p:nvPr/>
        </p:nvPicPr>
        <p:blipFill>
          <a:blip r:embed="rId18">
            <a:extLst/>
          </a:blip>
          <a:stretch>
            <a:fillRect/>
          </a:stretch>
        </p:blipFill>
        <p:spPr>
          <a:xfrm>
            <a:off x="18745200" y="2247900"/>
            <a:ext cx="1821039" cy="368300"/>
          </a:xfrm>
          <a:prstGeom prst="rect">
            <a:avLst/>
          </a:prstGeom>
          <a:ln w="12700">
            <a:miter lim="400000"/>
          </a:ln>
        </p:spPr>
      </p:pic>
      <p:pic>
        <p:nvPicPr>
          <p:cNvPr id="366" name="nixos-dim.png" descr="nixos-dim.png"/>
          <p:cNvPicPr>
            <a:picLocks noChangeAspect="1"/>
          </p:cNvPicPr>
          <p:nvPr/>
        </p:nvPicPr>
        <p:blipFill>
          <a:blip r:embed="rId19">
            <a:extLst/>
          </a:blip>
          <a:stretch>
            <a:fillRect/>
          </a:stretch>
        </p:blipFill>
        <p:spPr>
          <a:xfrm>
            <a:off x="21590000" y="2222500"/>
            <a:ext cx="1409430" cy="406400"/>
          </a:xfrm>
          <a:prstGeom prst="rect">
            <a:avLst/>
          </a:prstGeom>
          <a:ln w="12700">
            <a:miter lim="400000"/>
          </a:ln>
        </p:spPr>
      </p:pic>
      <p:pic>
        <p:nvPicPr>
          <p:cNvPr id="367" name="argo-dim.png" descr="argo-dim.png"/>
          <p:cNvPicPr>
            <a:picLocks noChangeAspect="1"/>
          </p:cNvPicPr>
          <p:nvPr/>
        </p:nvPicPr>
        <p:blipFill>
          <a:blip r:embed="rId20">
            <a:extLst/>
          </a:blip>
          <a:stretch>
            <a:fillRect/>
          </a:stretch>
        </p:blipFill>
        <p:spPr>
          <a:xfrm>
            <a:off x="1320800" y="3124200"/>
            <a:ext cx="1570391" cy="368300"/>
          </a:xfrm>
          <a:prstGeom prst="rect">
            <a:avLst/>
          </a:prstGeom>
          <a:ln w="12700">
            <a:miter lim="400000"/>
          </a:ln>
        </p:spPr>
      </p:pic>
      <p:pic>
        <p:nvPicPr>
          <p:cNvPr id="368" name="docker-half.png" descr="docker-half.png"/>
          <p:cNvPicPr>
            <a:picLocks noChangeAspect="1"/>
          </p:cNvPicPr>
          <p:nvPr/>
        </p:nvPicPr>
        <p:blipFill>
          <a:blip r:embed="rId21">
            <a:extLst/>
          </a:blip>
          <a:stretch>
            <a:fillRect/>
          </a:stretch>
        </p:blipFill>
        <p:spPr>
          <a:xfrm>
            <a:off x="4191000" y="3200400"/>
            <a:ext cx="1432561" cy="215900"/>
          </a:xfrm>
          <a:prstGeom prst="rect">
            <a:avLst/>
          </a:prstGeom>
          <a:ln w="12700">
            <a:miter lim="400000"/>
          </a:ln>
        </p:spPr>
      </p:pic>
      <p:pic>
        <p:nvPicPr>
          <p:cNvPr id="369" name="netdata-color.png" descr="netdata-color.png"/>
          <p:cNvPicPr>
            <a:picLocks noChangeAspect="1"/>
          </p:cNvPicPr>
          <p:nvPr/>
        </p:nvPicPr>
        <p:blipFill>
          <a:blip r:embed="rId22">
            <a:extLst/>
          </a:blip>
          <a:stretch>
            <a:fillRect/>
          </a:stretch>
        </p:blipFill>
        <p:spPr>
          <a:xfrm>
            <a:off x="6934200" y="3162300"/>
            <a:ext cx="1547248" cy="304800"/>
          </a:xfrm>
          <a:prstGeom prst="rect">
            <a:avLst/>
          </a:prstGeom>
          <a:ln w="12700">
            <a:miter lim="400000"/>
          </a:ln>
        </p:spPr>
      </p:pic>
      <p:pic>
        <p:nvPicPr>
          <p:cNvPr id="370" name="terraform-dim.png" descr="terraform-dim.png"/>
          <p:cNvPicPr>
            <a:picLocks noChangeAspect="1"/>
          </p:cNvPicPr>
          <p:nvPr/>
        </p:nvPicPr>
        <p:blipFill>
          <a:blip r:embed="rId23">
            <a:extLst/>
          </a:blip>
          <a:stretch>
            <a:fillRect/>
          </a:stretch>
        </p:blipFill>
        <p:spPr>
          <a:xfrm>
            <a:off x="9766300" y="3149600"/>
            <a:ext cx="1743556" cy="330200"/>
          </a:xfrm>
          <a:prstGeom prst="rect">
            <a:avLst/>
          </a:prstGeom>
          <a:ln w="12700">
            <a:miter lim="400000"/>
          </a:ln>
        </p:spPr>
      </p:pic>
      <p:pic>
        <p:nvPicPr>
          <p:cNvPr id="371" name="podman-dim.png" descr="podman-dim.png"/>
          <p:cNvPicPr>
            <a:picLocks noChangeAspect="1"/>
          </p:cNvPicPr>
          <p:nvPr/>
        </p:nvPicPr>
        <p:blipFill>
          <a:blip r:embed="rId24">
            <a:extLst/>
          </a:blip>
          <a:stretch>
            <a:fillRect/>
          </a:stretch>
        </p:blipFill>
        <p:spPr>
          <a:xfrm>
            <a:off x="12839700" y="3136900"/>
            <a:ext cx="1572127" cy="355600"/>
          </a:xfrm>
          <a:prstGeom prst="rect">
            <a:avLst/>
          </a:prstGeom>
          <a:ln w="12700">
            <a:miter lim="400000"/>
          </a:ln>
        </p:spPr>
      </p:pic>
      <p:pic>
        <p:nvPicPr>
          <p:cNvPr id="372" name="nomad-dim.png" descr="nomad-dim.png"/>
          <p:cNvPicPr>
            <a:picLocks noChangeAspect="1"/>
          </p:cNvPicPr>
          <p:nvPr/>
        </p:nvPicPr>
        <p:blipFill>
          <a:blip r:embed="rId25">
            <a:extLst/>
          </a:blip>
          <a:stretch>
            <a:fillRect/>
          </a:stretch>
        </p:blipFill>
        <p:spPr>
          <a:xfrm>
            <a:off x="15748000" y="3124200"/>
            <a:ext cx="1411817" cy="368300"/>
          </a:xfrm>
          <a:prstGeom prst="rect">
            <a:avLst/>
          </a:prstGeom>
          <a:ln w="12700">
            <a:miter lim="400000"/>
          </a:ln>
        </p:spPr>
      </p:pic>
      <p:pic>
        <p:nvPicPr>
          <p:cNvPr id="373" name="appwrite-dim.png" descr="appwrite-dim.png"/>
          <p:cNvPicPr>
            <a:picLocks noChangeAspect="1"/>
          </p:cNvPicPr>
          <p:nvPr/>
        </p:nvPicPr>
        <p:blipFill>
          <a:blip r:embed="rId26">
            <a:extLst/>
          </a:blip>
          <a:stretch>
            <a:fillRect/>
          </a:stretch>
        </p:blipFill>
        <p:spPr>
          <a:xfrm>
            <a:off x="18453100" y="3149600"/>
            <a:ext cx="1733550" cy="330200"/>
          </a:xfrm>
          <a:prstGeom prst="rect">
            <a:avLst/>
          </a:prstGeom>
          <a:ln w="12700">
            <a:miter lim="400000"/>
          </a:ln>
        </p:spPr>
      </p:pic>
      <p:pic>
        <p:nvPicPr>
          <p:cNvPr id="374" name="grafana-dim.png" descr="grafana-dim.png"/>
          <p:cNvPicPr>
            <a:picLocks noChangeAspect="1"/>
          </p:cNvPicPr>
          <p:nvPr/>
        </p:nvPicPr>
        <p:blipFill>
          <a:blip r:embed="rId27">
            <a:extLst/>
          </a:blip>
          <a:stretch>
            <a:fillRect/>
          </a:stretch>
        </p:blipFill>
        <p:spPr>
          <a:xfrm>
            <a:off x="21501100" y="3124200"/>
            <a:ext cx="1526911" cy="368300"/>
          </a:xfrm>
          <a:prstGeom prst="rect">
            <a:avLst/>
          </a:prstGeom>
          <a:ln w="12700">
            <a:miter lim="400000"/>
          </a:ln>
        </p:spPr>
      </p:pic>
      <p:pic>
        <p:nvPicPr>
          <p:cNvPr id="375" name="wordpressvip-dim.png" descr="wordpressvip-dim.png"/>
          <p:cNvPicPr>
            <a:picLocks noChangeAspect="1"/>
          </p:cNvPicPr>
          <p:nvPr/>
        </p:nvPicPr>
        <p:blipFill>
          <a:blip r:embed="rId28">
            <a:extLst/>
          </a:blip>
          <a:stretch>
            <a:fillRect/>
          </a:stretch>
        </p:blipFill>
        <p:spPr>
          <a:xfrm>
            <a:off x="1320800" y="4013200"/>
            <a:ext cx="2493698" cy="368300"/>
          </a:xfrm>
          <a:prstGeom prst="rect">
            <a:avLst/>
          </a:prstGeom>
          <a:ln w="12700">
            <a:miter lim="400000"/>
          </a:ln>
        </p:spPr>
      </p:pic>
      <p:pic>
        <p:nvPicPr>
          <p:cNvPr id="376" name="vercel-dim.png" descr="vercel-dim.png"/>
          <p:cNvPicPr>
            <a:picLocks noChangeAspect="1"/>
          </p:cNvPicPr>
          <p:nvPr/>
        </p:nvPicPr>
        <p:blipFill>
          <a:blip r:embed="rId29">
            <a:extLst/>
          </a:blip>
          <a:stretch>
            <a:fillRect/>
          </a:stretch>
        </p:blipFill>
        <p:spPr>
          <a:xfrm>
            <a:off x="5041900" y="4013200"/>
            <a:ext cx="1572127" cy="355600"/>
          </a:xfrm>
          <a:prstGeom prst="rect">
            <a:avLst/>
          </a:prstGeom>
          <a:ln w="12700">
            <a:miter lim="400000"/>
          </a:ln>
        </p:spPr>
      </p:pic>
      <p:pic>
        <p:nvPicPr>
          <p:cNvPr id="377" name="cloudflare-color.png" descr="cloudflare-color.png"/>
          <p:cNvPicPr>
            <a:picLocks noChangeAspect="1"/>
          </p:cNvPicPr>
          <p:nvPr/>
        </p:nvPicPr>
        <p:blipFill>
          <a:blip r:embed="rId30">
            <a:extLst/>
          </a:blip>
          <a:stretch>
            <a:fillRect/>
          </a:stretch>
        </p:blipFill>
        <p:spPr>
          <a:xfrm>
            <a:off x="7874000" y="3975100"/>
            <a:ext cx="1301750" cy="444500"/>
          </a:xfrm>
          <a:prstGeom prst="rect">
            <a:avLst/>
          </a:prstGeom>
          <a:ln w="12700">
            <a:miter lim="400000"/>
          </a:ln>
        </p:spPr>
      </p:pic>
      <p:pic>
        <p:nvPicPr>
          <p:cNvPr id="378" name="wpengine-dim.png" descr="wpengine-dim.png"/>
          <p:cNvPicPr>
            <a:picLocks noChangeAspect="1"/>
          </p:cNvPicPr>
          <p:nvPr/>
        </p:nvPicPr>
        <p:blipFill>
          <a:blip r:embed="rId31">
            <a:extLst/>
          </a:blip>
          <a:stretch>
            <a:fillRect/>
          </a:stretch>
        </p:blipFill>
        <p:spPr>
          <a:xfrm>
            <a:off x="10426700" y="4013200"/>
            <a:ext cx="1941248" cy="368300"/>
          </a:xfrm>
          <a:prstGeom prst="rect">
            <a:avLst/>
          </a:prstGeom>
          <a:ln w="12700">
            <a:miter lim="400000"/>
          </a:ln>
        </p:spPr>
      </p:pic>
      <p:pic>
        <p:nvPicPr>
          <p:cNvPr id="379" name="php-color.png" descr="php-color.png"/>
          <p:cNvPicPr>
            <a:picLocks noChangeAspect="1"/>
          </p:cNvPicPr>
          <p:nvPr/>
        </p:nvPicPr>
        <p:blipFill>
          <a:blip r:embed="rId32">
            <a:extLst/>
          </a:blip>
          <a:stretch>
            <a:fillRect/>
          </a:stretch>
        </p:blipFill>
        <p:spPr>
          <a:xfrm>
            <a:off x="13601700" y="3962400"/>
            <a:ext cx="853440" cy="457200"/>
          </a:xfrm>
          <a:prstGeom prst="rect">
            <a:avLst/>
          </a:prstGeom>
          <a:ln w="12700">
            <a:miter lim="400000"/>
          </a:ln>
        </p:spPr>
      </p:pic>
      <p:pic>
        <p:nvPicPr>
          <p:cNvPr id="380" name="postgresql-color.png" descr="postgresql-color.png"/>
          <p:cNvPicPr>
            <a:picLocks noChangeAspect="1"/>
          </p:cNvPicPr>
          <p:nvPr/>
        </p:nvPicPr>
        <p:blipFill>
          <a:blip r:embed="rId33">
            <a:extLst/>
          </a:blip>
          <a:stretch>
            <a:fillRect/>
          </a:stretch>
        </p:blipFill>
        <p:spPr>
          <a:xfrm>
            <a:off x="15697200" y="4013200"/>
            <a:ext cx="2084641" cy="355600"/>
          </a:xfrm>
          <a:prstGeom prst="rect">
            <a:avLst/>
          </a:prstGeom>
          <a:ln w="12700">
            <a:miter lim="400000"/>
          </a:ln>
        </p:spPr>
      </p:pic>
      <p:pic>
        <p:nvPicPr>
          <p:cNvPr id="381" name="elastic-dim.png" descr="elastic-dim.png"/>
          <p:cNvPicPr>
            <a:picLocks noChangeAspect="1"/>
          </p:cNvPicPr>
          <p:nvPr/>
        </p:nvPicPr>
        <p:blipFill>
          <a:blip r:embed="rId34">
            <a:extLst/>
          </a:blip>
          <a:stretch>
            <a:fillRect/>
          </a:stretch>
        </p:blipFill>
        <p:spPr>
          <a:xfrm>
            <a:off x="18986500" y="4013200"/>
            <a:ext cx="1673412" cy="355600"/>
          </a:xfrm>
          <a:prstGeom prst="rect">
            <a:avLst/>
          </a:prstGeom>
          <a:ln w="12700">
            <a:miter lim="400000"/>
          </a:ln>
        </p:spPr>
      </p:pic>
      <p:pic>
        <p:nvPicPr>
          <p:cNvPr id="382" name="helm-dim.png" descr="helm-dim.png"/>
          <p:cNvPicPr>
            <a:picLocks noChangeAspect="1"/>
          </p:cNvPicPr>
          <p:nvPr/>
        </p:nvPicPr>
        <p:blipFill>
          <a:blip r:embed="rId35">
            <a:extLst/>
          </a:blip>
          <a:stretch>
            <a:fillRect/>
          </a:stretch>
        </p:blipFill>
        <p:spPr>
          <a:xfrm>
            <a:off x="21882100" y="4013200"/>
            <a:ext cx="1138150" cy="368300"/>
          </a:xfrm>
          <a:prstGeom prst="rect">
            <a:avLst/>
          </a:prstGeom>
          <a:ln w="12700">
            <a:miter lim="400000"/>
          </a:ln>
        </p:spPr>
      </p:pic>
      <p:pic>
        <p:nvPicPr>
          <p:cNvPr id="383" name="proxmox-dim.png" descr="proxmox-dim.png"/>
          <p:cNvPicPr>
            <a:picLocks noChangeAspect="1"/>
          </p:cNvPicPr>
          <p:nvPr/>
        </p:nvPicPr>
        <p:blipFill>
          <a:blip r:embed="rId36">
            <a:extLst/>
          </a:blip>
          <a:stretch>
            <a:fillRect/>
          </a:stretch>
        </p:blipFill>
        <p:spPr>
          <a:xfrm>
            <a:off x="1320800" y="4914900"/>
            <a:ext cx="1637897" cy="317500"/>
          </a:xfrm>
          <a:prstGeom prst="rect">
            <a:avLst/>
          </a:prstGeom>
          <a:ln w="12700">
            <a:miter lim="400000"/>
          </a:ln>
        </p:spPr>
      </p:pic>
      <p:pic>
        <p:nvPicPr>
          <p:cNvPr id="384" name="pressidium-dim.png" descr="pressidium-dim.png"/>
          <p:cNvPicPr>
            <a:picLocks noChangeAspect="1"/>
          </p:cNvPicPr>
          <p:nvPr/>
        </p:nvPicPr>
        <p:blipFill>
          <a:blip r:embed="rId37">
            <a:extLst/>
          </a:blip>
          <a:stretch>
            <a:fillRect/>
          </a:stretch>
        </p:blipFill>
        <p:spPr>
          <a:xfrm>
            <a:off x="4000500" y="4965700"/>
            <a:ext cx="1498889" cy="228600"/>
          </a:xfrm>
          <a:prstGeom prst="rect">
            <a:avLst/>
          </a:prstGeom>
          <a:ln w="12700">
            <a:miter lim="400000"/>
          </a:ln>
        </p:spPr>
      </p:pic>
      <p:pic>
        <p:nvPicPr>
          <p:cNvPr id="385" name="kubernetes-dim.png" descr="kubernetes-dim.png"/>
          <p:cNvPicPr>
            <a:picLocks noChangeAspect="1"/>
          </p:cNvPicPr>
          <p:nvPr/>
        </p:nvPicPr>
        <p:blipFill>
          <a:blip r:embed="rId38">
            <a:extLst/>
          </a:blip>
          <a:stretch>
            <a:fillRect/>
          </a:stretch>
        </p:blipFill>
        <p:spPr>
          <a:xfrm>
            <a:off x="6502400" y="4902200"/>
            <a:ext cx="2021840" cy="355600"/>
          </a:xfrm>
          <a:prstGeom prst="rect">
            <a:avLst/>
          </a:prstGeom>
          <a:ln w="12700">
            <a:miter lim="400000"/>
          </a:ln>
        </p:spPr>
      </p:pic>
      <p:pic>
        <p:nvPicPr>
          <p:cNvPr id="386" name="bun-color.png" descr="bun-color.png"/>
          <p:cNvPicPr>
            <a:picLocks noChangeAspect="1"/>
          </p:cNvPicPr>
          <p:nvPr/>
        </p:nvPicPr>
        <p:blipFill>
          <a:blip r:embed="rId39">
            <a:extLst/>
          </a:blip>
          <a:stretch>
            <a:fillRect/>
          </a:stretch>
        </p:blipFill>
        <p:spPr>
          <a:xfrm>
            <a:off x="9550400" y="4914900"/>
            <a:ext cx="993180" cy="330200"/>
          </a:xfrm>
          <a:prstGeom prst="rect">
            <a:avLst/>
          </a:prstGeom>
          <a:ln w="12700">
            <a:miter lim="400000"/>
          </a:ln>
        </p:spPr>
      </p:pic>
      <p:pic>
        <p:nvPicPr>
          <p:cNvPr id="387" name="vmware-dim.png" descr="vmware-dim.png"/>
          <p:cNvPicPr>
            <a:picLocks noChangeAspect="1"/>
          </p:cNvPicPr>
          <p:nvPr/>
        </p:nvPicPr>
        <p:blipFill>
          <a:blip r:embed="rId40">
            <a:extLst/>
          </a:blip>
          <a:stretch>
            <a:fillRect/>
          </a:stretch>
        </p:blipFill>
        <p:spPr>
          <a:xfrm>
            <a:off x="11557000" y="4927600"/>
            <a:ext cx="1828800" cy="304800"/>
          </a:xfrm>
          <a:prstGeom prst="rect">
            <a:avLst/>
          </a:prstGeom>
          <a:ln w="12700">
            <a:miter lim="400000"/>
          </a:ln>
        </p:spPr>
      </p:pic>
      <p:pic>
        <p:nvPicPr>
          <p:cNvPr id="388" name="istio-dim.png" descr="istio-dim.png"/>
          <p:cNvPicPr>
            <a:picLocks noChangeAspect="1"/>
          </p:cNvPicPr>
          <p:nvPr/>
        </p:nvPicPr>
        <p:blipFill>
          <a:blip r:embed="rId41">
            <a:extLst/>
          </a:blip>
          <a:stretch>
            <a:fillRect/>
          </a:stretch>
        </p:blipFill>
        <p:spPr>
          <a:xfrm>
            <a:off x="14452600" y="4889500"/>
            <a:ext cx="971903" cy="368300"/>
          </a:xfrm>
          <a:prstGeom prst="rect">
            <a:avLst/>
          </a:prstGeom>
          <a:ln w="12700">
            <a:miter lim="400000"/>
          </a:ln>
        </p:spPr>
      </p:pic>
      <p:pic>
        <p:nvPicPr>
          <p:cNvPr id="389" name="fedora-dim.png" descr="fedora-dim.png"/>
          <p:cNvPicPr>
            <a:picLocks noChangeAspect="1"/>
          </p:cNvPicPr>
          <p:nvPr/>
        </p:nvPicPr>
        <p:blipFill>
          <a:blip r:embed="rId42">
            <a:extLst/>
          </a:blip>
          <a:stretch>
            <a:fillRect/>
          </a:stretch>
        </p:blipFill>
        <p:spPr>
          <a:xfrm>
            <a:off x="16459200" y="4889500"/>
            <a:ext cx="1401587" cy="368300"/>
          </a:xfrm>
          <a:prstGeom prst="rect">
            <a:avLst/>
          </a:prstGeom>
          <a:ln w="12700">
            <a:miter lim="400000"/>
          </a:ln>
        </p:spPr>
      </p:pic>
      <p:pic>
        <p:nvPicPr>
          <p:cNvPr id="390" name="rancher-dim.png" descr="rancher-dim.png"/>
          <p:cNvPicPr>
            <a:picLocks noChangeAspect="1"/>
          </p:cNvPicPr>
          <p:nvPr/>
        </p:nvPicPr>
        <p:blipFill>
          <a:blip r:embed="rId43">
            <a:extLst/>
          </a:blip>
          <a:stretch>
            <a:fillRect/>
          </a:stretch>
        </p:blipFill>
        <p:spPr>
          <a:xfrm>
            <a:off x="18884900" y="4965700"/>
            <a:ext cx="1592581" cy="215900"/>
          </a:xfrm>
          <a:prstGeom prst="rect">
            <a:avLst/>
          </a:prstGeom>
          <a:ln w="12700">
            <a:miter lim="400000"/>
          </a:ln>
        </p:spPr>
      </p:pic>
      <p:pic>
        <p:nvPicPr>
          <p:cNvPr id="391" name="railway-dim.png" descr="railway-dim.png"/>
          <p:cNvPicPr>
            <a:picLocks noChangeAspect="1"/>
          </p:cNvPicPr>
          <p:nvPr/>
        </p:nvPicPr>
        <p:blipFill>
          <a:blip r:embed="rId44">
            <a:extLst/>
          </a:blip>
          <a:stretch>
            <a:fillRect/>
          </a:stretch>
        </p:blipFill>
        <p:spPr>
          <a:xfrm>
            <a:off x="21501100" y="4889500"/>
            <a:ext cx="1516680" cy="368300"/>
          </a:xfrm>
          <a:prstGeom prst="rect">
            <a:avLst/>
          </a:prstGeom>
          <a:ln w="12700">
            <a:miter lim="400000"/>
          </a:ln>
        </p:spPr>
      </p:pic>
      <p:pic>
        <p:nvPicPr>
          <p:cNvPr id="392" name="githubactions-dim.png" descr="githubactions-dim.png"/>
          <p:cNvPicPr>
            <a:picLocks noChangeAspect="1"/>
          </p:cNvPicPr>
          <p:nvPr/>
        </p:nvPicPr>
        <p:blipFill>
          <a:blip r:embed="rId45">
            <a:extLst/>
          </a:blip>
          <a:stretch>
            <a:fillRect/>
          </a:stretch>
        </p:blipFill>
        <p:spPr>
          <a:xfrm>
            <a:off x="1320800" y="5778500"/>
            <a:ext cx="2519275" cy="368300"/>
          </a:xfrm>
          <a:prstGeom prst="rect">
            <a:avLst/>
          </a:prstGeom>
          <a:ln w="12700">
            <a:miter lim="400000"/>
          </a:ln>
        </p:spPr>
      </p:pic>
      <p:pic>
        <p:nvPicPr>
          <p:cNvPr id="393" name="datadog-dim.png" descr="datadog-dim.png"/>
          <p:cNvPicPr>
            <a:picLocks noChangeAspect="1"/>
          </p:cNvPicPr>
          <p:nvPr/>
        </p:nvPicPr>
        <p:blipFill>
          <a:blip r:embed="rId46">
            <a:extLst/>
          </a:blip>
          <a:stretch>
            <a:fillRect/>
          </a:stretch>
        </p:blipFill>
        <p:spPr>
          <a:xfrm>
            <a:off x="5359400" y="5778500"/>
            <a:ext cx="1601082" cy="368300"/>
          </a:xfrm>
          <a:prstGeom prst="rect">
            <a:avLst/>
          </a:prstGeom>
          <a:ln w="12700">
            <a:miter lim="400000"/>
          </a:ln>
        </p:spPr>
      </p:pic>
      <p:pic>
        <p:nvPicPr>
          <p:cNvPr id="394" name="mariadb-color.png" descr="mariadb-color.png"/>
          <p:cNvPicPr>
            <a:picLocks noChangeAspect="1"/>
          </p:cNvPicPr>
          <p:nvPr/>
        </p:nvPicPr>
        <p:blipFill>
          <a:blip r:embed="rId47">
            <a:extLst/>
          </a:blip>
          <a:stretch>
            <a:fillRect/>
          </a:stretch>
        </p:blipFill>
        <p:spPr>
          <a:xfrm>
            <a:off x="8470900" y="5842000"/>
            <a:ext cx="1630059" cy="241300"/>
          </a:xfrm>
          <a:prstGeom prst="rect">
            <a:avLst/>
          </a:prstGeom>
          <a:ln w="12700">
            <a:miter lim="400000"/>
          </a:ln>
        </p:spPr>
      </p:pic>
      <p:pic>
        <p:nvPicPr>
          <p:cNvPr id="395" name="ovh-dim.png" descr="ovh-dim.png"/>
          <p:cNvPicPr>
            <a:picLocks noChangeAspect="1"/>
          </p:cNvPicPr>
          <p:nvPr/>
        </p:nvPicPr>
        <p:blipFill>
          <a:blip r:embed="rId48">
            <a:extLst/>
          </a:blip>
          <a:stretch>
            <a:fillRect/>
          </a:stretch>
        </p:blipFill>
        <p:spPr>
          <a:xfrm>
            <a:off x="11607800" y="5854700"/>
            <a:ext cx="1802515" cy="215900"/>
          </a:xfrm>
          <a:prstGeom prst="rect">
            <a:avLst/>
          </a:prstGeom>
          <a:ln w="12700">
            <a:miter lim="400000"/>
          </a:ln>
        </p:spPr>
      </p:pic>
      <p:pic>
        <p:nvPicPr>
          <p:cNvPr id="396" name="knative-dim.png" descr="knative-dim.png"/>
          <p:cNvPicPr>
            <a:picLocks noChangeAspect="1"/>
          </p:cNvPicPr>
          <p:nvPr/>
        </p:nvPicPr>
        <p:blipFill>
          <a:blip r:embed="rId49">
            <a:extLst/>
          </a:blip>
          <a:stretch>
            <a:fillRect/>
          </a:stretch>
        </p:blipFill>
        <p:spPr>
          <a:xfrm>
            <a:off x="14973300" y="5803900"/>
            <a:ext cx="1503336" cy="304800"/>
          </a:xfrm>
          <a:prstGeom prst="rect">
            <a:avLst/>
          </a:prstGeom>
          <a:ln w="12700">
            <a:miter lim="400000"/>
          </a:ln>
        </p:spPr>
      </p:pic>
      <p:pic>
        <p:nvPicPr>
          <p:cNvPr id="397" name="googlecloud-dim.png" descr="googlecloud-dim.png"/>
          <p:cNvPicPr>
            <a:picLocks noChangeAspect="1"/>
          </p:cNvPicPr>
          <p:nvPr/>
        </p:nvPicPr>
        <p:blipFill>
          <a:blip r:embed="rId50">
            <a:extLst/>
          </a:blip>
          <a:stretch>
            <a:fillRect/>
          </a:stretch>
        </p:blipFill>
        <p:spPr>
          <a:xfrm>
            <a:off x="17983200" y="5803900"/>
            <a:ext cx="2243528" cy="304800"/>
          </a:xfrm>
          <a:prstGeom prst="rect">
            <a:avLst/>
          </a:prstGeom>
          <a:ln w="12700">
            <a:miter lim="400000"/>
          </a:ln>
        </p:spPr>
      </p:pic>
      <p:pic>
        <p:nvPicPr>
          <p:cNvPr id="398" name="turso-dim.png" descr="turso-dim.png"/>
          <p:cNvPicPr>
            <a:picLocks noChangeAspect="1"/>
          </p:cNvPicPr>
          <p:nvPr/>
        </p:nvPicPr>
        <p:blipFill>
          <a:blip r:embed="rId51">
            <a:extLst/>
          </a:blip>
          <a:stretch>
            <a:fillRect/>
          </a:stretch>
        </p:blipFill>
        <p:spPr>
          <a:xfrm>
            <a:off x="21793200" y="5778500"/>
            <a:ext cx="1225110" cy="368300"/>
          </a:xfrm>
          <a:prstGeom prst="rect">
            <a:avLst/>
          </a:prstGeom>
          <a:ln w="12700">
            <a:miter lim="400000"/>
          </a:ln>
        </p:spPr>
      </p:pic>
      <p:pic>
        <p:nvPicPr>
          <p:cNvPr id="399" name="flydotio-dim.png" descr="flydotio-dim.png"/>
          <p:cNvPicPr>
            <a:picLocks noChangeAspect="1"/>
          </p:cNvPicPr>
          <p:nvPr/>
        </p:nvPicPr>
        <p:blipFill>
          <a:blip r:embed="rId52">
            <a:extLst/>
          </a:blip>
          <a:stretch>
            <a:fillRect/>
          </a:stretch>
        </p:blipFill>
        <p:spPr>
          <a:xfrm>
            <a:off x="1320800" y="6654800"/>
            <a:ext cx="1127919" cy="368300"/>
          </a:xfrm>
          <a:prstGeom prst="rect">
            <a:avLst/>
          </a:prstGeom>
          <a:ln w="12700">
            <a:miter lim="400000"/>
          </a:ln>
        </p:spPr>
      </p:pic>
      <p:pic>
        <p:nvPicPr>
          <p:cNvPr id="400" name="rabbitmq-dim.png" descr="rabbitmq-dim.png"/>
          <p:cNvPicPr>
            <a:picLocks noChangeAspect="1"/>
          </p:cNvPicPr>
          <p:nvPr/>
        </p:nvPicPr>
        <p:blipFill>
          <a:blip r:embed="rId53">
            <a:extLst/>
          </a:blip>
          <a:stretch>
            <a:fillRect/>
          </a:stretch>
        </p:blipFill>
        <p:spPr>
          <a:xfrm>
            <a:off x="3492500" y="6654800"/>
            <a:ext cx="1808251" cy="368300"/>
          </a:xfrm>
          <a:prstGeom prst="rect">
            <a:avLst/>
          </a:prstGeom>
          <a:ln w="12700">
            <a:miter lim="400000"/>
          </a:ln>
        </p:spPr>
      </p:pic>
      <p:pic>
        <p:nvPicPr>
          <p:cNvPr id="401" name="traefikproxy-dim.png" descr="traefikproxy-dim.png"/>
          <p:cNvPicPr>
            <a:picLocks noChangeAspect="1"/>
          </p:cNvPicPr>
          <p:nvPr/>
        </p:nvPicPr>
        <p:blipFill>
          <a:blip r:embed="rId54">
            <a:extLst/>
          </a:blip>
          <a:stretch>
            <a:fillRect/>
          </a:stretch>
        </p:blipFill>
        <p:spPr>
          <a:xfrm>
            <a:off x="6337300" y="6616700"/>
            <a:ext cx="1200150" cy="457200"/>
          </a:xfrm>
          <a:prstGeom prst="rect">
            <a:avLst/>
          </a:prstGeom>
          <a:ln w="12700">
            <a:miter lim="400000"/>
          </a:ln>
        </p:spPr>
      </p:pic>
      <p:pic>
        <p:nvPicPr>
          <p:cNvPr id="402" name="hetzner-color.png" descr="hetzner-color.png"/>
          <p:cNvPicPr>
            <a:picLocks noChangeAspect="1"/>
          </p:cNvPicPr>
          <p:nvPr/>
        </p:nvPicPr>
        <p:blipFill>
          <a:blip r:embed="rId55">
            <a:extLst/>
          </a:blip>
          <a:stretch>
            <a:fillRect/>
          </a:stretch>
        </p:blipFill>
        <p:spPr>
          <a:xfrm>
            <a:off x="8585200" y="6654800"/>
            <a:ext cx="1557603" cy="368300"/>
          </a:xfrm>
          <a:prstGeom prst="rect">
            <a:avLst/>
          </a:prstGeom>
          <a:ln w="12700">
            <a:miter lim="400000"/>
          </a:ln>
        </p:spPr>
      </p:pic>
      <p:pic>
        <p:nvPicPr>
          <p:cNvPr id="403" name="pantheon-dim.png" descr="pantheon-dim.png"/>
          <p:cNvPicPr>
            <a:picLocks noChangeAspect="1"/>
          </p:cNvPicPr>
          <p:nvPr/>
        </p:nvPicPr>
        <p:blipFill>
          <a:blip r:embed="rId56">
            <a:extLst/>
          </a:blip>
          <a:stretch>
            <a:fillRect/>
          </a:stretch>
        </p:blipFill>
        <p:spPr>
          <a:xfrm>
            <a:off x="11188700" y="6654800"/>
            <a:ext cx="1654793" cy="368300"/>
          </a:xfrm>
          <a:prstGeom prst="rect">
            <a:avLst/>
          </a:prstGeom>
          <a:ln w="12700">
            <a:miter lim="400000"/>
          </a:ln>
        </p:spPr>
      </p:pic>
      <p:pic>
        <p:nvPicPr>
          <p:cNvPr id="404" name="azure-dim.png" descr="azure-dim.png"/>
          <p:cNvPicPr>
            <a:picLocks noChangeAspect="1"/>
          </p:cNvPicPr>
          <p:nvPr/>
        </p:nvPicPr>
        <p:blipFill>
          <a:blip r:embed="rId57">
            <a:extLst/>
          </a:blip>
          <a:stretch>
            <a:fillRect/>
          </a:stretch>
        </p:blipFill>
        <p:spPr>
          <a:xfrm>
            <a:off x="13881100" y="6629400"/>
            <a:ext cx="1345224" cy="431800"/>
          </a:xfrm>
          <a:prstGeom prst="rect">
            <a:avLst/>
          </a:prstGeom>
          <a:ln w="12700">
            <a:miter lim="400000"/>
          </a:ln>
        </p:spPr>
      </p:pic>
      <p:pic>
        <p:nvPicPr>
          <p:cNvPr id="405" name="github-color.png" descr="github-color.png"/>
          <p:cNvPicPr>
            <a:picLocks noChangeAspect="1"/>
          </p:cNvPicPr>
          <p:nvPr/>
        </p:nvPicPr>
        <p:blipFill>
          <a:blip r:embed="rId58">
            <a:extLst/>
          </a:blip>
          <a:stretch>
            <a:fillRect/>
          </a:stretch>
        </p:blipFill>
        <p:spPr>
          <a:xfrm>
            <a:off x="16281400" y="6667500"/>
            <a:ext cx="1397190" cy="342900"/>
          </a:xfrm>
          <a:prstGeom prst="rect">
            <a:avLst/>
          </a:prstGeom>
          <a:ln w="12700">
            <a:miter lim="400000"/>
          </a:ln>
        </p:spPr>
      </p:pic>
      <p:pic>
        <p:nvPicPr>
          <p:cNvPr id="406" name="betterstack-color.png" descr="betterstack-color.png"/>
          <p:cNvPicPr>
            <a:picLocks noChangeAspect="1"/>
          </p:cNvPicPr>
          <p:nvPr/>
        </p:nvPicPr>
        <p:blipFill>
          <a:blip r:embed="rId59">
            <a:extLst/>
          </a:blip>
          <a:stretch>
            <a:fillRect/>
          </a:stretch>
        </p:blipFill>
        <p:spPr>
          <a:xfrm>
            <a:off x="18719800" y="6692900"/>
            <a:ext cx="2147192" cy="292100"/>
          </a:xfrm>
          <a:prstGeom prst="rect">
            <a:avLst/>
          </a:prstGeom>
          <a:ln w="12700">
            <a:miter lim="400000"/>
          </a:ln>
        </p:spPr>
      </p:pic>
      <p:pic>
        <p:nvPicPr>
          <p:cNvPr id="407" name="gnubash-color.png" descr="gnubash-color.png"/>
          <p:cNvPicPr>
            <a:picLocks noChangeAspect="1"/>
          </p:cNvPicPr>
          <p:nvPr/>
        </p:nvPicPr>
        <p:blipFill>
          <a:blip r:embed="rId60">
            <a:extLst/>
          </a:blip>
          <a:stretch>
            <a:fillRect/>
          </a:stretch>
        </p:blipFill>
        <p:spPr>
          <a:xfrm>
            <a:off x="21907500" y="6654800"/>
            <a:ext cx="1107458" cy="368300"/>
          </a:xfrm>
          <a:prstGeom prst="rect">
            <a:avLst/>
          </a:prstGeom>
          <a:ln w="12700">
            <a:miter lim="400000"/>
          </a:ln>
        </p:spPr>
      </p:pic>
      <p:pic>
        <p:nvPicPr>
          <p:cNvPr id="408" name="splunk-dim.png" descr="splunk-dim.png"/>
          <p:cNvPicPr>
            <a:picLocks noChangeAspect="1"/>
          </p:cNvPicPr>
          <p:nvPr/>
        </p:nvPicPr>
        <p:blipFill>
          <a:blip r:embed="rId61">
            <a:extLst/>
          </a:blip>
          <a:stretch>
            <a:fillRect/>
          </a:stretch>
        </p:blipFill>
        <p:spPr>
          <a:xfrm>
            <a:off x="1320800" y="7518400"/>
            <a:ext cx="1408176" cy="419100"/>
          </a:xfrm>
          <a:prstGeom prst="rect">
            <a:avLst/>
          </a:prstGeom>
          <a:ln w="12700">
            <a:miter lim="400000"/>
          </a:ln>
        </p:spPr>
      </p:pic>
      <p:pic>
        <p:nvPicPr>
          <p:cNvPr id="409" name="skynet-dim.png" descr="skynet-dim.png"/>
          <p:cNvPicPr>
            <a:picLocks noChangeAspect="1"/>
          </p:cNvPicPr>
          <p:nvPr/>
        </p:nvPicPr>
        <p:blipFill>
          <a:blip r:embed="rId62">
            <a:extLst/>
          </a:blip>
          <a:stretch>
            <a:fillRect/>
          </a:stretch>
        </p:blipFill>
        <p:spPr>
          <a:xfrm>
            <a:off x="3695700" y="7543800"/>
            <a:ext cx="1750061" cy="355600"/>
          </a:xfrm>
          <a:prstGeom prst="rect">
            <a:avLst/>
          </a:prstGeom>
          <a:ln w="12700">
            <a:miter lim="400000"/>
          </a:ln>
        </p:spPr>
      </p:pic>
      <p:pic>
        <p:nvPicPr>
          <p:cNvPr id="410" name="newrelic-dim.png" descr="newrelic-dim.png"/>
          <p:cNvPicPr>
            <a:picLocks noChangeAspect="1"/>
          </p:cNvPicPr>
          <p:nvPr/>
        </p:nvPicPr>
        <p:blipFill>
          <a:blip r:embed="rId63">
            <a:extLst/>
          </a:blip>
          <a:stretch>
            <a:fillRect/>
          </a:stretch>
        </p:blipFill>
        <p:spPr>
          <a:xfrm>
            <a:off x="6438900" y="7543800"/>
            <a:ext cx="1790348" cy="368300"/>
          </a:xfrm>
          <a:prstGeom prst="rect">
            <a:avLst/>
          </a:prstGeom>
          <a:ln w="12700">
            <a:miter lim="400000"/>
          </a:ln>
        </p:spPr>
      </p:pic>
      <p:pic>
        <p:nvPicPr>
          <p:cNvPr id="411" name="planetscale-dim.png" descr="planetscale-dim.png"/>
          <p:cNvPicPr>
            <a:picLocks noChangeAspect="1"/>
          </p:cNvPicPr>
          <p:nvPr/>
        </p:nvPicPr>
        <p:blipFill>
          <a:blip r:embed="rId64">
            <a:extLst/>
          </a:blip>
          <a:stretch>
            <a:fillRect/>
          </a:stretch>
        </p:blipFill>
        <p:spPr>
          <a:xfrm>
            <a:off x="9194800" y="7543800"/>
            <a:ext cx="2071688" cy="368300"/>
          </a:xfrm>
          <a:prstGeom prst="rect">
            <a:avLst/>
          </a:prstGeom>
          <a:ln w="12700">
            <a:miter lim="400000"/>
          </a:ln>
        </p:spPr>
      </p:pic>
      <p:pic>
        <p:nvPicPr>
          <p:cNvPr id="412" name="circleci-dim.png" descr="circleci-dim.png"/>
          <p:cNvPicPr>
            <a:picLocks noChangeAspect="1"/>
          </p:cNvPicPr>
          <p:nvPr/>
        </p:nvPicPr>
        <p:blipFill>
          <a:blip r:embed="rId65">
            <a:extLst/>
          </a:blip>
          <a:stretch>
            <a:fillRect/>
          </a:stretch>
        </p:blipFill>
        <p:spPr>
          <a:xfrm>
            <a:off x="12242800" y="7543800"/>
            <a:ext cx="1529469" cy="368300"/>
          </a:xfrm>
          <a:prstGeom prst="rect">
            <a:avLst/>
          </a:prstGeom>
          <a:ln w="12700">
            <a:miter lim="400000"/>
          </a:ln>
        </p:spPr>
      </p:pic>
      <p:pic>
        <p:nvPicPr>
          <p:cNvPr id="413" name="deno-dim.png" descr="deno-dim.png"/>
          <p:cNvPicPr>
            <a:picLocks noChangeAspect="1"/>
          </p:cNvPicPr>
          <p:nvPr/>
        </p:nvPicPr>
        <p:blipFill>
          <a:blip r:embed="rId66">
            <a:extLst/>
          </a:blip>
          <a:stretch>
            <a:fillRect/>
          </a:stretch>
        </p:blipFill>
        <p:spPr>
          <a:xfrm>
            <a:off x="14744700" y="7556500"/>
            <a:ext cx="1153199" cy="330200"/>
          </a:xfrm>
          <a:prstGeom prst="rect">
            <a:avLst/>
          </a:prstGeom>
          <a:ln w="12700">
            <a:miter lim="400000"/>
          </a:ln>
        </p:spPr>
      </p:pic>
      <p:pic>
        <p:nvPicPr>
          <p:cNvPr id="414" name="nginx-color.png" descr="nginx-color.png"/>
          <p:cNvPicPr>
            <a:picLocks noChangeAspect="1"/>
          </p:cNvPicPr>
          <p:nvPr/>
        </p:nvPicPr>
        <p:blipFill>
          <a:blip r:embed="rId67">
            <a:extLst/>
          </a:blip>
          <a:stretch>
            <a:fillRect/>
          </a:stretch>
        </p:blipFill>
        <p:spPr>
          <a:xfrm>
            <a:off x="16891000" y="7543800"/>
            <a:ext cx="1676400" cy="355600"/>
          </a:xfrm>
          <a:prstGeom prst="rect">
            <a:avLst/>
          </a:prstGeom>
          <a:ln w="12700">
            <a:miter lim="400000"/>
          </a:ln>
        </p:spPr>
      </p:pic>
      <p:pic>
        <p:nvPicPr>
          <p:cNvPr id="415" name="litespeed-dim.png" descr="litespeed-dim.png"/>
          <p:cNvPicPr>
            <a:picLocks noChangeAspect="1"/>
          </p:cNvPicPr>
          <p:nvPr/>
        </p:nvPicPr>
        <p:blipFill>
          <a:blip r:embed="rId68">
            <a:extLst/>
          </a:blip>
          <a:stretch>
            <a:fillRect/>
          </a:stretch>
        </p:blipFill>
        <p:spPr>
          <a:xfrm>
            <a:off x="19532600" y="7581900"/>
            <a:ext cx="1335481" cy="279400"/>
          </a:xfrm>
          <a:prstGeom prst="rect">
            <a:avLst/>
          </a:prstGeom>
          <a:ln w="12700">
            <a:miter lim="400000"/>
          </a:ln>
        </p:spPr>
      </p:pic>
      <p:pic>
        <p:nvPicPr>
          <p:cNvPr id="416" name="apache-dim.png" descr="apache-dim.png"/>
          <p:cNvPicPr>
            <a:picLocks noChangeAspect="1"/>
          </p:cNvPicPr>
          <p:nvPr/>
        </p:nvPicPr>
        <p:blipFill>
          <a:blip r:embed="rId69">
            <a:extLst/>
          </a:blip>
          <a:stretch>
            <a:fillRect/>
          </a:stretch>
        </p:blipFill>
        <p:spPr>
          <a:xfrm>
            <a:off x="21831300" y="7493000"/>
            <a:ext cx="1181687" cy="457200"/>
          </a:xfrm>
          <a:prstGeom prst="rect">
            <a:avLst/>
          </a:prstGeom>
          <a:ln w="12700">
            <a:miter lim="400000"/>
          </a:ln>
        </p:spPr>
      </p:pic>
      <p:pic>
        <p:nvPicPr>
          <p:cNvPr id="417" name="rockylinux-dim.png" descr="rockylinux-dim.png"/>
          <p:cNvPicPr>
            <a:picLocks noChangeAspect="1"/>
          </p:cNvPicPr>
          <p:nvPr/>
        </p:nvPicPr>
        <p:blipFill>
          <a:blip r:embed="rId70">
            <a:extLst/>
          </a:blip>
          <a:stretch>
            <a:fillRect/>
          </a:stretch>
        </p:blipFill>
        <p:spPr>
          <a:xfrm>
            <a:off x="1320800" y="8420100"/>
            <a:ext cx="2125398" cy="368300"/>
          </a:xfrm>
          <a:prstGeom prst="rect">
            <a:avLst/>
          </a:prstGeom>
          <a:ln w="12700">
            <a:miter lim="400000"/>
          </a:ln>
        </p:spPr>
      </p:pic>
      <p:pic>
        <p:nvPicPr>
          <p:cNvPr id="418" name="redis-dim.png" descr="redis-dim.png"/>
          <p:cNvPicPr>
            <a:picLocks noChangeAspect="1"/>
          </p:cNvPicPr>
          <p:nvPr/>
        </p:nvPicPr>
        <p:blipFill>
          <a:blip r:embed="rId71">
            <a:extLst/>
          </a:blip>
          <a:stretch>
            <a:fillRect/>
          </a:stretch>
        </p:blipFill>
        <p:spPr>
          <a:xfrm>
            <a:off x="4622800" y="8432800"/>
            <a:ext cx="1212945" cy="342900"/>
          </a:xfrm>
          <a:prstGeom prst="rect">
            <a:avLst/>
          </a:prstGeom>
          <a:ln w="12700">
            <a:miter lim="400000"/>
          </a:ln>
        </p:spPr>
      </p:pic>
      <p:pic>
        <p:nvPicPr>
          <p:cNvPr id="419" name="aws-dim.png" descr="aws-dim.png"/>
          <p:cNvPicPr>
            <a:picLocks noChangeAspect="1"/>
          </p:cNvPicPr>
          <p:nvPr/>
        </p:nvPicPr>
        <p:blipFill>
          <a:blip r:embed="rId72">
            <a:extLst/>
          </a:blip>
          <a:stretch>
            <a:fillRect/>
          </a:stretch>
        </p:blipFill>
        <p:spPr>
          <a:xfrm>
            <a:off x="7035800" y="8382000"/>
            <a:ext cx="763524" cy="457200"/>
          </a:xfrm>
          <a:prstGeom prst="rect">
            <a:avLst/>
          </a:prstGeom>
          <a:ln w="12700">
            <a:miter lim="400000"/>
          </a:ln>
        </p:spPr>
      </p:pic>
      <p:pic>
        <p:nvPicPr>
          <p:cNvPr id="420" name="opentelemetry-dim.png" descr="opentelemetry-dim.png"/>
          <p:cNvPicPr>
            <a:picLocks noChangeAspect="1"/>
          </p:cNvPicPr>
          <p:nvPr/>
        </p:nvPicPr>
        <p:blipFill>
          <a:blip r:embed="rId73">
            <a:extLst/>
          </a:blip>
          <a:stretch>
            <a:fillRect/>
          </a:stretch>
        </p:blipFill>
        <p:spPr>
          <a:xfrm>
            <a:off x="8991600" y="8420100"/>
            <a:ext cx="2557639" cy="368300"/>
          </a:xfrm>
          <a:prstGeom prst="rect">
            <a:avLst/>
          </a:prstGeom>
          <a:ln w="12700">
            <a:miter lim="400000"/>
          </a:ln>
        </p:spPr>
      </p:pic>
      <p:pic>
        <p:nvPicPr>
          <p:cNvPr id="421" name="alpinelinux-dim.png" descr="alpinelinux-dim.png"/>
          <p:cNvPicPr>
            <a:picLocks noChangeAspect="1"/>
          </p:cNvPicPr>
          <p:nvPr/>
        </p:nvPicPr>
        <p:blipFill>
          <a:blip r:embed="rId74">
            <a:extLst/>
          </a:blip>
          <a:stretch>
            <a:fillRect/>
          </a:stretch>
        </p:blipFill>
        <p:spPr>
          <a:xfrm>
            <a:off x="12725400" y="8445500"/>
            <a:ext cx="2097501" cy="317500"/>
          </a:xfrm>
          <a:prstGeom prst="rect">
            <a:avLst/>
          </a:prstGeom>
          <a:ln w="12700">
            <a:miter lim="400000"/>
          </a:ln>
        </p:spPr>
      </p:pic>
      <p:pic>
        <p:nvPicPr>
          <p:cNvPr id="422" name="mailgun-color.png" descr="mailgun-color.png"/>
          <p:cNvPicPr>
            <a:picLocks noChangeAspect="1"/>
          </p:cNvPicPr>
          <p:nvPr/>
        </p:nvPicPr>
        <p:blipFill>
          <a:blip r:embed="rId75">
            <a:extLst/>
          </a:blip>
          <a:stretch>
            <a:fillRect/>
          </a:stretch>
        </p:blipFill>
        <p:spPr>
          <a:xfrm>
            <a:off x="16052800" y="8420100"/>
            <a:ext cx="1539699" cy="368300"/>
          </a:xfrm>
          <a:prstGeom prst="rect">
            <a:avLst/>
          </a:prstGeom>
          <a:ln w="12700">
            <a:miter lim="400000"/>
          </a:ln>
        </p:spPr>
      </p:pic>
      <p:pic>
        <p:nvPicPr>
          <p:cNvPr id="423" name="cpanel-dim.png" descr="cpanel-dim.png"/>
          <p:cNvPicPr>
            <a:picLocks noChangeAspect="1"/>
          </p:cNvPicPr>
          <p:nvPr/>
        </p:nvPicPr>
        <p:blipFill>
          <a:blip r:embed="rId76">
            <a:extLst/>
          </a:blip>
          <a:stretch>
            <a:fillRect/>
          </a:stretch>
        </p:blipFill>
        <p:spPr>
          <a:xfrm>
            <a:off x="18783300" y="8432800"/>
            <a:ext cx="1572127" cy="355600"/>
          </a:xfrm>
          <a:prstGeom prst="rect">
            <a:avLst/>
          </a:prstGeom>
          <a:ln w="12700">
            <a:miter lim="400000"/>
          </a:ln>
        </p:spPr>
      </p:pic>
      <p:pic>
        <p:nvPicPr>
          <p:cNvPr id="424" name="render-dim.png" descr="render-dim.png"/>
          <p:cNvPicPr>
            <a:picLocks noChangeAspect="1"/>
          </p:cNvPicPr>
          <p:nvPr/>
        </p:nvPicPr>
        <p:blipFill>
          <a:blip r:embed="rId77">
            <a:extLst/>
          </a:blip>
          <a:stretch>
            <a:fillRect/>
          </a:stretch>
        </p:blipFill>
        <p:spPr>
          <a:xfrm>
            <a:off x="21577300" y="8420100"/>
            <a:ext cx="1445066" cy="368300"/>
          </a:xfrm>
          <a:prstGeom prst="rect">
            <a:avLst/>
          </a:prstGeom>
          <a:ln w="12700">
            <a:miter lim="400000"/>
          </a:ln>
        </p:spPr>
      </p:pic>
      <p:pic>
        <p:nvPicPr>
          <p:cNvPr id="425" name="caddy-dim.png" descr="caddy-dim.png"/>
          <p:cNvPicPr>
            <a:picLocks noChangeAspect="1"/>
          </p:cNvPicPr>
          <p:nvPr/>
        </p:nvPicPr>
        <p:blipFill>
          <a:blip r:embed="rId78">
            <a:extLst/>
          </a:blip>
          <a:stretch>
            <a:fillRect/>
          </a:stretch>
        </p:blipFill>
        <p:spPr>
          <a:xfrm>
            <a:off x="1320800" y="9309100"/>
            <a:ext cx="1351281" cy="355600"/>
          </a:xfrm>
          <a:prstGeom prst="rect">
            <a:avLst/>
          </a:prstGeom>
          <a:ln w="12700">
            <a:miter lim="400000"/>
          </a:ln>
        </p:spPr>
      </p:pic>
      <p:pic>
        <p:nvPicPr>
          <p:cNvPr id="426" name="mysql-dim.png" descr="mysql-dim.png"/>
          <p:cNvPicPr>
            <a:picLocks noChangeAspect="1"/>
          </p:cNvPicPr>
          <p:nvPr/>
        </p:nvPicPr>
        <p:blipFill>
          <a:blip r:embed="rId79">
            <a:extLst/>
          </a:blip>
          <a:stretch>
            <a:fillRect/>
          </a:stretch>
        </p:blipFill>
        <p:spPr>
          <a:xfrm>
            <a:off x="3924300" y="9309100"/>
            <a:ext cx="1424905" cy="355600"/>
          </a:xfrm>
          <a:prstGeom prst="rect">
            <a:avLst/>
          </a:prstGeom>
          <a:ln w="12700">
            <a:miter lim="400000"/>
          </a:ln>
        </p:spPr>
      </p:pic>
      <p:pic>
        <p:nvPicPr>
          <p:cNvPr id="427" name="digitalocean-half.png" descr="digitalocean-half.png"/>
          <p:cNvPicPr>
            <a:picLocks noChangeAspect="1"/>
          </p:cNvPicPr>
          <p:nvPr/>
        </p:nvPicPr>
        <p:blipFill>
          <a:blip r:embed="rId80">
            <a:extLst/>
          </a:blip>
          <a:stretch>
            <a:fillRect/>
          </a:stretch>
        </p:blipFill>
        <p:spPr>
          <a:xfrm>
            <a:off x="6642100" y="9309100"/>
            <a:ext cx="2204685" cy="368300"/>
          </a:xfrm>
          <a:prstGeom prst="rect">
            <a:avLst/>
          </a:prstGeom>
          <a:ln w="12700">
            <a:miter lim="400000"/>
          </a:ln>
        </p:spPr>
      </p:pic>
      <p:pic>
        <p:nvPicPr>
          <p:cNvPr id="428" name="valkey-color.png" descr="valkey-color.png"/>
          <p:cNvPicPr>
            <a:picLocks noChangeAspect="1"/>
          </p:cNvPicPr>
          <p:nvPr/>
        </p:nvPicPr>
        <p:blipFill>
          <a:blip r:embed="rId81">
            <a:extLst/>
          </a:blip>
          <a:stretch>
            <a:fillRect/>
          </a:stretch>
        </p:blipFill>
        <p:spPr>
          <a:xfrm>
            <a:off x="10083800" y="9283700"/>
            <a:ext cx="1408056" cy="419100"/>
          </a:xfrm>
          <a:prstGeom prst="rect">
            <a:avLst/>
          </a:prstGeom>
          <a:ln w="12700">
            <a:miter lim="400000"/>
          </a:ln>
        </p:spPr>
      </p:pic>
      <p:pic>
        <p:nvPicPr>
          <p:cNvPr id="429" name="mongodb-color.png" descr="mongodb-color.png"/>
          <p:cNvPicPr>
            <a:picLocks noChangeAspect="1"/>
          </p:cNvPicPr>
          <p:nvPr/>
        </p:nvPicPr>
        <p:blipFill>
          <a:blip r:embed="rId82">
            <a:extLst/>
          </a:blip>
          <a:stretch>
            <a:fillRect/>
          </a:stretch>
        </p:blipFill>
        <p:spPr>
          <a:xfrm>
            <a:off x="12738100" y="9309100"/>
            <a:ext cx="1718734" cy="355600"/>
          </a:xfrm>
          <a:prstGeom prst="rect">
            <a:avLst/>
          </a:prstGeom>
          <a:ln w="12700">
            <a:miter lim="400000"/>
          </a:ln>
        </p:spPr>
      </p:pic>
      <p:pic>
        <p:nvPicPr>
          <p:cNvPr id="430" name="kinsta-dim.png" descr="kinsta-dim.png"/>
          <p:cNvPicPr>
            <a:picLocks noChangeAspect="1"/>
          </p:cNvPicPr>
          <p:nvPr/>
        </p:nvPicPr>
        <p:blipFill>
          <a:blip r:embed="rId83">
            <a:extLst/>
          </a:blip>
          <a:stretch>
            <a:fillRect/>
          </a:stretch>
        </p:blipFill>
        <p:spPr>
          <a:xfrm>
            <a:off x="15684500" y="9321800"/>
            <a:ext cx="1694330" cy="342900"/>
          </a:xfrm>
          <a:prstGeom prst="rect">
            <a:avLst/>
          </a:prstGeom>
          <a:ln w="12700">
            <a:miter lim="400000"/>
          </a:ln>
        </p:spPr>
      </p:pic>
      <p:pic>
        <p:nvPicPr>
          <p:cNvPr id="431" name="vagrant-dim.png" descr="vagrant-dim.png"/>
          <p:cNvPicPr>
            <a:picLocks noChangeAspect="1"/>
          </p:cNvPicPr>
          <p:nvPr/>
        </p:nvPicPr>
        <p:blipFill>
          <a:blip r:embed="rId84">
            <a:extLst/>
          </a:blip>
          <a:stretch>
            <a:fillRect/>
          </a:stretch>
        </p:blipFill>
        <p:spPr>
          <a:xfrm>
            <a:off x="18643600" y="9283700"/>
            <a:ext cx="1466574" cy="406400"/>
          </a:xfrm>
          <a:prstGeom prst="rect">
            <a:avLst/>
          </a:prstGeom>
          <a:ln w="12700">
            <a:miter lim="400000"/>
          </a:ln>
        </p:spPr>
      </p:pic>
      <p:pic>
        <p:nvPicPr>
          <p:cNvPr id="432" name="subversion-dim.png" descr="subversion-dim.png"/>
          <p:cNvPicPr>
            <a:picLocks noChangeAspect="1"/>
          </p:cNvPicPr>
          <p:nvPr/>
        </p:nvPicPr>
        <p:blipFill>
          <a:blip r:embed="rId85">
            <a:extLst/>
          </a:blip>
          <a:stretch>
            <a:fillRect/>
          </a:stretch>
        </p:blipFill>
        <p:spPr>
          <a:xfrm>
            <a:off x="21348700" y="9321800"/>
            <a:ext cx="1645104" cy="342900"/>
          </a:xfrm>
          <a:prstGeom prst="rect">
            <a:avLst/>
          </a:prstGeom>
          <a:ln w="12700">
            <a:miter lim="400000"/>
          </a:ln>
        </p:spPr>
      </p:pic>
      <p:pic>
        <p:nvPicPr>
          <p:cNvPr id="433" name="letsencrypt-color.png" descr="letsencrypt-color.png"/>
          <p:cNvPicPr>
            <a:picLocks noChangeAspect="1"/>
          </p:cNvPicPr>
          <p:nvPr/>
        </p:nvPicPr>
        <p:blipFill>
          <a:blip r:embed="rId86">
            <a:extLst/>
          </a:blip>
          <a:stretch>
            <a:fillRect/>
          </a:stretch>
        </p:blipFill>
        <p:spPr>
          <a:xfrm>
            <a:off x="1320800" y="10185400"/>
            <a:ext cx="2268626" cy="368300"/>
          </a:xfrm>
          <a:prstGeom prst="rect">
            <a:avLst/>
          </a:prstGeom>
          <a:ln w="12700">
            <a:miter lim="400000"/>
          </a:ln>
        </p:spPr>
      </p:pic>
      <p:pic>
        <p:nvPicPr>
          <p:cNvPr id="434" name="redhat-dim.png" descr="redhat-dim.png"/>
          <p:cNvPicPr>
            <a:picLocks noChangeAspect="1"/>
          </p:cNvPicPr>
          <p:nvPr/>
        </p:nvPicPr>
        <p:blipFill>
          <a:blip r:embed="rId87">
            <a:extLst/>
          </a:blip>
          <a:stretch>
            <a:fillRect/>
          </a:stretch>
        </p:blipFill>
        <p:spPr>
          <a:xfrm>
            <a:off x="4584700" y="10236200"/>
            <a:ext cx="1534161" cy="279400"/>
          </a:xfrm>
          <a:prstGeom prst="rect">
            <a:avLst/>
          </a:prstGeom>
          <a:ln w="12700">
            <a:miter lim="400000"/>
          </a:ln>
        </p:spPr>
      </p:pic>
      <p:pic>
        <p:nvPicPr>
          <p:cNvPr id="435" name="centos-dim.png" descr="centos-dim.png"/>
          <p:cNvPicPr>
            <a:picLocks noChangeAspect="1"/>
          </p:cNvPicPr>
          <p:nvPr/>
        </p:nvPicPr>
        <p:blipFill>
          <a:blip r:embed="rId88">
            <a:extLst/>
          </a:blip>
          <a:stretch>
            <a:fillRect/>
          </a:stretch>
        </p:blipFill>
        <p:spPr>
          <a:xfrm>
            <a:off x="7137400" y="10172700"/>
            <a:ext cx="1440873" cy="406400"/>
          </a:xfrm>
          <a:prstGeom prst="rect">
            <a:avLst/>
          </a:prstGeom>
          <a:ln w="12700">
            <a:miter lim="400000"/>
          </a:ln>
        </p:spPr>
      </p:pic>
      <p:pic>
        <p:nvPicPr>
          <p:cNvPr id="436" name="plesk-dim.png" descr="plesk-dim.png"/>
          <p:cNvPicPr>
            <a:picLocks noChangeAspect="1"/>
          </p:cNvPicPr>
          <p:nvPr/>
        </p:nvPicPr>
        <p:blipFill>
          <a:blip r:embed="rId89">
            <a:extLst/>
          </a:blip>
          <a:stretch>
            <a:fillRect/>
          </a:stretch>
        </p:blipFill>
        <p:spPr>
          <a:xfrm>
            <a:off x="9575800" y="10147300"/>
            <a:ext cx="1097281" cy="457200"/>
          </a:xfrm>
          <a:prstGeom prst="rect">
            <a:avLst/>
          </a:prstGeom>
          <a:ln w="12700">
            <a:miter lim="400000"/>
          </a:ln>
        </p:spPr>
      </p:pic>
      <p:pic>
        <p:nvPicPr>
          <p:cNvPr id="437" name="debian-color.png" descr="debian-color.png"/>
          <p:cNvPicPr>
            <a:picLocks noChangeAspect="1"/>
          </p:cNvPicPr>
          <p:nvPr/>
        </p:nvPicPr>
        <p:blipFill>
          <a:blip r:embed="rId90">
            <a:extLst/>
          </a:blip>
          <a:stretch>
            <a:fillRect/>
          </a:stretch>
        </p:blipFill>
        <p:spPr>
          <a:xfrm>
            <a:off x="11684000" y="10198100"/>
            <a:ext cx="1363981" cy="355600"/>
          </a:xfrm>
          <a:prstGeom prst="rect">
            <a:avLst/>
          </a:prstGeom>
          <a:ln w="12700">
            <a:miter lim="400000"/>
          </a:ln>
        </p:spPr>
      </p:pic>
      <p:pic>
        <p:nvPicPr>
          <p:cNvPr id="438" name="perl-dim.png" descr="perl-dim.png"/>
          <p:cNvPicPr>
            <a:picLocks noChangeAspect="1"/>
          </p:cNvPicPr>
          <p:nvPr/>
        </p:nvPicPr>
        <p:blipFill>
          <a:blip r:embed="rId91">
            <a:extLst/>
          </a:blip>
          <a:stretch>
            <a:fillRect/>
          </a:stretch>
        </p:blipFill>
        <p:spPr>
          <a:xfrm>
            <a:off x="14058900" y="10185400"/>
            <a:ext cx="989807" cy="368300"/>
          </a:xfrm>
          <a:prstGeom prst="rect">
            <a:avLst/>
          </a:prstGeom>
          <a:ln w="12700">
            <a:miter lim="400000"/>
          </a:ln>
        </p:spPr>
      </p:pic>
      <p:pic>
        <p:nvPicPr>
          <p:cNvPr id="439" name="gitlab-dim.png" descr="gitlab-dim.png"/>
          <p:cNvPicPr>
            <a:picLocks noChangeAspect="1"/>
          </p:cNvPicPr>
          <p:nvPr/>
        </p:nvPicPr>
        <p:blipFill>
          <a:blip r:embed="rId92">
            <a:extLst/>
          </a:blip>
          <a:stretch>
            <a:fillRect/>
          </a:stretch>
        </p:blipFill>
        <p:spPr>
          <a:xfrm>
            <a:off x="16052800" y="10198100"/>
            <a:ext cx="1352827" cy="355600"/>
          </a:xfrm>
          <a:prstGeom prst="rect">
            <a:avLst/>
          </a:prstGeom>
          <a:ln w="12700">
            <a:miter lim="400000"/>
          </a:ln>
        </p:spPr>
      </p:pic>
      <p:pic>
        <p:nvPicPr>
          <p:cNvPr id="440" name="memcached-dim.png" descr="memcached-dim.png"/>
          <p:cNvPicPr>
            <a:picLocks noChangeAspect="1"/>
          </p:cNvPicPr>
          <p:nvPr/>
        </p:nvPicPr>
        <p:blipFill>
          <a:blip r:embed="rId93">
            <a:extLst/>
          </a:blip>
          <a:stretch>
            <a:fillRect/>
          </a:stretch>
        </p:blipFill>
        <p:spPr>
          <a:xfrm>
            <a:off x="18389600" y="10185400"/>
            <a:ext cx="2148417" cy="368300"/>
          </a:xfrm>
          <a:prstGeom prst="rect">
            <a:avLst/>
          </a:prstGeom>
          <a:ln w="12700">
            <a:miter lim="400000"/>
          </a:ln>
        </p:spPr>
      </p:pic>
      <p:pic>
        <p:nvPicPr>
          <p:cNvPr id="441" name="nodejs-color.png" descr="nodejs-color.png"/>
          <p:cNvPicPr>
            <a:picLocks noChangeAspect="1"/>
          </p:cNvPicPr>
          <p:nvPr/>
        </p:nvPicPr>
        <p:blipFill>
          <a:blip r:embed="rId94">
            <a:extLst/>
          </a:blip>
          <a:stretch>
            <a:fillRect/>
          </a:stretch>
        </p:blipFill>
        <p:spPr>
          <a:xfrm>
            <a:off x="21539200" y="10185400"/>
            <a:ext cx="1485989" cy="368300"/>
          </a:xfrm>
          <a:prstGeom prst="rect">
            <a:avLst/>
          </a:prstGeom>
          <a:ln w="12700">
            <a:miter lim="400000"/>
          </a:ln>
        </p:spPr>
      </p:pic>
      <p:pic>
        <p:nvPicPr>
          <p:cNvPr id="442" name="upcloud-color.png" descr="upcloud-color.png"/>
          <p:cNvPicPr>
            <a:picLocks noChangeAspect="1"/>
          </p:cNvPicPr>
          <p:nvPr/>
        </p:nvPicPr>
        <p:blipFill>
          <a:blip r:embed="rId95">
            <a:extLst/>
          </a:blip>
          <a:stretch>
            <a:fillRect/>
          </a:stretch>
        </p:blipFill>
        <p:spPr>
          <a:xfrm>
            <a:off x="1320800" y="11087100"/>
            <a:ext cx="1796446" cy="330200"/>
          </a:xfrm>
          <a:prstGeom prst="rect">
            <a:avLst/>
          </a:prstGeom>
          <a:ln w="12700">
            <a:miter lim="400000"/>
          </a:ln>
        </p:spPr>
      </p:pic>
      <p:pic>
        <p:nvPicPr>
          <p:cNvPr id="443" name="apachekafka-dim.png" descr="apachekafka-dim.png"/>
          <p:cNvPicPr>
            <a:picLocks noChangeAspect="1"/>
          </p:cNvPicPr>
          <p:nvPr/>
        </p:nvPicPr>
        <p:blipFill>
          <a:blip r:embed="rId96">
            <a:extLst/>
          </a:blip>
          <a:stretch>
            <a:fillRect/>
          </a:stretch>
        </p:blipFill>
        <p:spPr>
          <a:xfrm>
            <a:off x="4508500" y="11074400"/>
            <a:ext cx="1171399" cy="368300"/>
          </a:xfrm>
          <a:prstGeom prst="rect">
            <a:avLst/>
          </a:prstGeom>
          <a:ln w="12700">
            <a:miter lim="400000"/>
          </a:ln>
        </p:spPr>
      </p:pic>
      <p:pic>
        <p:nvPicPr>
          <p:cNvPr id="444" name="consul-dim.png" descr="consul-dim.png"/>
          <p:cNvPicPr>
            <a:picLocks noChangeAspect="1"/>
          </p:cNvPicPr>
          <p:nvPr/>
        </p:nvPicPr>
        <p:blipFill>
          <a:blip r:embed="rId97">
            <a:extLst/>
          </a:blip>
          <a:stretch>
            <a:fillRect/>
          </a:stretch>
        </p:blipFill>
        <p:spPr>
          <a:xfrm>
            <a:off x="7086600" y="11074400"/>
            <a:ext cx="1397000" cy="355600"/>
          </a:xfrm>
          <a:prstGeom prst="rect">
            <a:avLst/>
          </a:prstGeom>
          <a:ln w="12700">
            <a:miter lim="400000"/>
          </a:ln>
        </p:spPr>
      </p:pic>
      <p:pic>
        <p:nvPicPr>
          <p:cNvPr id="445" name="heroku-dim.png" descr="heroku-dim.png"/>
          <p:cNvPicPr>
            <a:picLocks noChangeAspect="1"/>
          </p:cNvPicPr>
          <p:nvPr/>
        </p:nvPicPr>
        <p:blipFill>
          <a:blip r:embed="rId98">
            <a:extLst/>
          </a:blip>
          <a:stretch>
            <a:fillRect/>
          </a:stretch>
        </p:blipFill>
        <p:spPr>
          <a:xfrm>
            <a:off x="9893300" y="11074400"/>
            <a:ext cx="1397000" cy="355600"/>
          </a:xfrm>
          <a:prstGeom prst="rect">
            <a:avLst/>
          </a:prstGeom>
          <a:ln w="12700">
            <a:miter lim="400000"/>
          </a:ln>
        </p:spPr>
      </p:pic>
      <p:pic>
        <p:nvPicPr>
          <p:cNvPr id="446" name="firebase-dim.png" descr="firebase-dim.png"/>
          <p:cNvPicPr>
            <a:picLocks noChangeAspect="1"/>
          </p:cNvPicPr>
          <p:nvPr/>
        </p:nvPicPr>
        <p:blipFill>
          <a:blip r:embed="rId99">
            <a:extLst/>
          </a:blip>
          <a:stretch>
            <a:fillRect/>
          </a:stretch>
        </p:blipFill>
        <p:spPr>
          <a:xfrm>
            <a:off x="12712700" y="11074400"/>
            <a:ext cx="1590852" cy="368300"/>
          </a:xfrm>
          <a:prstGeom prst="rect">
            <a:avLst/>
          </a:prstGeom>
          <a:ln w="12700">
            <a:miter lim="400000"/>
          </a:ln>
        </p:spPr>
      </p:pic>
      <p:pic>
        <p:nvPicPr>
          <p:cNvPr id="447" name="redhatopenshift-dim.png" descr="redhatopenshift-dim.png"/>
          <p:cNvPicPr>
            <a:picLocks noChangeAspect="1"/>
          </p:cNvPicPr>
          <p:nvPr/>
        </p:nvPicPr>
        <p:blipFill>
          <a:blip r:embed="rId100">
            <a:extLst/>
          </a:blip>
          <a:stretch>
            <a:fillRect/>
          </a:stretch>
        </p:blipFill>
        <p:spPr>
          <a:xfrm>
            <a:off x="15697200" y="11074400"/>
            <a:ext cx="1829654" cy="342900"/>
          </a:xfrm>
          <a:prstGeom prst="rect">
            <a:avLst/>
          </a:prstGeom>
          <a:ln w="12700">
            <a:miter lim="400000"/>
          </a:ln>
        </p:spPr>
      </p:pic>
      <p:pic>
        <p:nvPicPr>
          <p:cNvPr id="448" name="upstash-dim.png" descr="upstash-dim.png"/>
          <p:cNvPicPr>
            <a:picLocks noChangeAspect="1"/>
          </p:cNvPicPr>
          <p:nvPr/>
        </p:nvPicPr>
        <p:blipFill>
          <a:blip r:embed="rId101">
            <a:extLst/>
          </a:blip>
          <a:stretch>
            <a:fillRect/>
          </a:stretch>
        </p:blipFill>
        <p:spPr>
          <a:xfrm>
            <a:off x="18923000" y="11074400"/>
            <a:ext cx="1537141" cy="368300"/>
          </a:xfrm>
          <a:prstGeom prst="rect">
            <a:avLst/>
          </a:prstGeom>
          <a:ln w="12700">
            <a:miter lim="400000"/>
          </a:ln>
        </p:spPr>
      </p:pic>
      <p:pic>
        <p:nvPicPr>
          <p:cNvPr id="449" name="vault-dim.png" descr="vault-dim.png"/>
          <p:cNvPicPr>
            <a:picLocks noChangeAspect="1"/>
          </p:cNvPicPr>
          <p:nvPr/>
        </p:nvPicPr>
        <p:blipFill>
          <a:blip r:embed="rId102">
            <a:extLst/>
          </a:blip>
          <a:stretch>
            <a:fillRect/>
          </a:stretch>
        </p:blipFill>
        <p:spPr>
          <a:xfrm>
            <a:off x="21856700" y="11074400"/>
            <a:ext cx="1163726" cy="368300"/>
          </a:xfrm>
          <a:prstGeom prst="rect">
            <a:avLst/>
          </a:prstGeom>
          <a:ln w="12700">
            <a:miter lim="400000"/>
          </a:ln>
        </p:spPr>
      </p:pic>
      <p:pic>
        <p:nvPicPr>
          <p:cNvPr id="450" name="prog-7.png" descr="prog-7.png"/>
          <p:cNvPicPr>
            <a:picLocks noChangeAspect="1"/>
          </p:cNvPicPr>
          <p:nvPr/>
        </p:nvPicPr>
        <p:blipFill>
          <a:blip r:embed="rId103">
            <a:extLst/>
          </a:blip>
          <a:stretch>
            <a:fillRect/>
          </a:stretch>
        </p:blipFill>
        <p:spPr>
          <a:xfrm>
            <a:off x="17170400" y="12395200"/>
            <a:ext cx="5842000" cy="406400"/>
          </a:xfrm>
          <a:prstGeom prst="rect">
            <a:avLst/>
          </a:prstGeom>
          <a:ln w="12700">
            <a:miter lim="400000"/>
          </a:ln>
        </p:spPr>
      </p:pic>
    </p:spTree>
  </p:cSld>
  <p:clrMapOvr>
    <a:masterClrMapping/>
  </p:clrMapOvr>
  <mc:AlternateContent xmlns:mc="http://schemas.openxmlformats.org/markup-compatibility/2006">
    <mc:Choice xmlns:p14="http://schemas.microsoft.com/office/powerpoint/2010/main" Requires="p14">
      <p:transition spd="slow" advClick="1" p14:dur="12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5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5" name="I want to see"/>
          <p:cNvSpPr txBox="1"/>
          <p:nvPr/>
        </p:nvSpPr>
        <p:spPr>
          <a:xfrm>
            <a:off x="12954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I want to see</a:t>
            </a:r>
          </a:p>
        </p:txBody>
      </p:sp>
      <p:sp>
        <p:nvSpPr>
          <p:cNvPr id="456" name="the filesystem"/>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the filesystem</a:t>
            </a:r>
          </a:p>
        </p:txBody>
      </p:sp>
      <p:sp>
        <p:nvSpPr>
          <p:cNvPr id="457" name="Every system runs inside some box. I want to be able to open mine and read it."/>
          <p:cNvSpPr txBox="1"/>
          <p:nvPr/>
        </p:nvSpPr>
        <p:spPr>
          <a:xfrm>
            <a:off x="1320800" y="77088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Every system runs inside some box. I want to be able to open mine and read it.</a:t>
            </a:r>
          </a:p>
        </p:txBody>
      </p:sp>
      <p:sp>
        <p:nvSpPr>
          <p:cNvPr id="45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459"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6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64" name="From partners to our own server"/>
          <p:cNvSpPr txBox="1"/>
          <p:nvPr/>
        </p:nvSpPr>
        <p:spPr>
          <a:xfrm>
            <a:off x="1308100" y="2578100"/>
            <a:ext cx="22707600" cy="28003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partners</a:t>
            </a:r>
            <a:br/>
            <a:r>
              <a:rPr i="1" sz="9800">
                <a:solidFill>
                  <a:srgbClr val="6033A6"/>
                </a:solidFill>
                <a:latin typeface="Instrument Serif Regular"/>
                <a:ea typeface="Instrument Serif Regular"/>
                <a:cs typeface="Instrument Serif Regular"/>
                <a:sym typeface="Instrument Serif Regular"/>
              </a:rPr>
              <a:t>to our own server</a:t>
            </a:r>
          </a:p>
        </p:txBody>
      </p:sp>
      <p:sp>
        <p:nvSpPr>
          <p:cNvPr id="46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466" name="viz-9-00.svg" descr="viz-9-00.svg"/>
          <p:cNvPicPr>
            <a:picLocks noChangeAspect="1"/>
          </p:cNvPicPr>
          <p:nvPr/>
        </p:nvPicPr>
        <p:blipFill>
          <a:blip r:embed="rId4">
            <a:extLst/>
          </a:blip>
          <a:stretch>
            <a:fillRect/>
          </a:stretch>
        </p:blipFill>
        <p:spPr>
          <a:xfrm>
            <a:off x="1168400" y="6477000"/>
            <a:ext cx="4330700" cy="1638300"/>
          </a:xfrm>
          <a:prstGeom prst="rect">
            <a:avLst/>
          </a:prstGeom>
          <a:ln w="12700">
            <a:miter lim="400000"/>
          </a:ln>
        </p:spPr>
      </p:pic>
      <p:pic>
        <p:nvPicPr>
          <p:cNvPr id="467" name="viz-9-01.svg" descr="viz-9-01.svg"/>
          <p:cNvPicPr>
            <a:picLocks noChangeAspect="1"/>
          </p:cNvPicPr>
          <p:nvPr/>
        </p:nvPicPr>
        <p:blipFill>
          <a:blip r:embed="rId5">
            <a:extLst/>
          </a:blip>
          <a:stretch>
            <a:fillRect/>
          </a:stretch>
        </p:blipFill>
        <p:spPr>
          <a:xfrm>
            <a:off x="1524000" y="6959600"/>
            <a:ext cx="863600" cy="660400"/>
          </a:xfrm>
          <a:prstGeom prst="rect">
            <a:avLst/>
          </a:prstGeom>
          <a:ln w="12700">
            <a:miter lim="400000"/>
          </a:ln>
        </p:spPr>
      </p:pic>
      <p:pic>
        <p:nvPicPr>
          <p:cNvPr id="468" name="viz-9-02.svg" descr="viz-9-02.svg"/>
          <p:cNvPicPr>
            <a:picLocks noChangeAspect="1"/>
          </p:cNvPicPr>
          <p:nvPr/>
        </p:nvPicPr>
        <p:blipFill>
          <a:blip r:embed="rId6">
            <a:extLst/>
          </a:blip>
          <a:stretch>
            <a:fillRect/>
          </a:stretch>
        </p:blipFill>
        <p:spPr>
          <a:xfrm>
            <a:off x="7061200" y="6477000"/>
            <a:ext cx="4330700" cy="1638300"/>
          </a:xfrm>
          <a:prstGeom prst="rect">
            <a:avLst/>
          </a:prstGeom>
          <a:ln w="12700">
            <a:miter lim="400000"/>
          </a:ln>
        </p:spPr>
      </p:pic>
      <p:pic>
        <p:nvPicPr>
          <p:cNvPr id="469" name="viz-9-03.svg" descr="viz-9-03.svg"/>
          <p:cNvPicPr>
            <a:picLocks noChangeAspect="1"/>
          </p:cNvPicPr>
          <p:nvPr/>
        </p:nvPicPr>
        <p:blipFill>
          <a:blip r:embed="rId7">
            <a:extLst/>
          </a:blip>
          <a:stretch>
            <a:fillRect/>
          </a:stretch>
        </p:blipFill>
        <p:spPr>
          <a:xfrm>
            <a:off x="7480300" y="6959600"/>
            <a:ext cx="736600" cy="660400"/>
          </a:xfrm>
          <a:prstGeom prst="rect">
            <a:avLst/>
          </a:prstGeom>
          <a:ln w="12700">
            <a:miter lim="400000"/>
          </a:ln>
        </p:spPr>
      </p:pic>
      <p:pic>
        <p:nvPicPr>
          <p:cNvPr id="470" name="viz-9-04.svg" descr="viz-9-04.svg"/>
          <p:cNvPicPr>
            <a:picLocks noChangeAspect="1"/>
          </p:cNvPicPr>
          <p:nvPr/>
        </p:nvPicPr>
        <p:blipFill>
          <a:blip r:embed="rId8">
            <a:extLst/>
          </a:blip>
          <a:stretch>
            <a:fillRect/>
          </a:stretch>
        </p:blipFill>
        <p:spPr>
          <a:xfrm>
            <a:off x="5384800" y="7137400"/>
            <a:ext cx="1790700" cy="317500"/>
          </a:xfrm>
          <a:prstGeom prst="rect">
            <a:avLst/>
          </a:prstGeom>
          <a:ln w="12700">
            <a:miter lim="400000"/>
          </a:ln>
        </p:spPr>
      </p:pic>
      <p:pic>
        <p:nvPicPr>
          <p:cNvPr id="471" name="viz-9-05.svg" descr="viz-9-05.svg"/>
          <p:cNvPicPr>
            <a:picLocks noChangeAspect="1"/>
          </p:cNvPicPr>
          <p:nvPr/>
        </p:nvPicPr>
        <p:blipFill>
          <a:blip r:embed="rId9">
            <a:extLst/>
          </a:blip>
          <a:stretch>
            <a:fillRect/>
          </a:stretch>
        </p:blipFill>
        <p:spPr>
          <a:xfrm>
            <a:off x="12954000" y="6477000"/>
            <a:ext cx="4330700" cy="1638300"/>
          </a:xfrm>
          <a:prstGeom prst="rect">
            <a:avLst/>
          </a:prstGeom>
          <a:ln w="12700">
            <a:miter lim="400000"/>
          </a:ln>
        </p:spPr>
      </p:pic>
      <p:pic>
        <p:nvPicPr>
          <p:cNvPr id="472" name="viz-9-06.svg" descr="viz-9-06.svg"/>
          <p:cNvPicPr>
            <a:picLocks noChangeAspect="1"/>
          </p:cNvPicPr>
          <p:nvPr/>
        </p:nvPicPr>
        <p:blipFill>
          <a:blip r:embed="rId10">
            <a:extLst/>
          </a:blip>
          <a:stretch>
            <a:fillRect/>
          </a:stretch>
        </p:blipFill>
        <p:spPr>
          <a:xfrm>
            <a:off x="13373100" y="6870700"/>
            <a:ext cx="736600" cy="787400"/>
          </a:xfrm>
          <a:prstGeom prst="rect">
            <a:avLst/>
          </a:prstGeom>
          <a:ln w="12700">
            <a:miter lim="400000"/>
          </a:ln>
        </p:spPr>
      </p:pic>
      <p:pic>
        <p:nvPicPr>
          <p:cNvPr id="473" name="viz-9-07.svg" descr="viz-9-07.svg"/>
          <p:cNvPicPr>
            <a:picLocks noChangeAspect="1"/>
          </p:cNvPicPr>
          <p:nvPr/>
        </p:nvPicPr>
        <p:blipFill>
          <a:blip r:embed="rId11">
            <a:extLst/>
          </a:blip>
          <a:stretch>
            <a:fillRect/>
          </a:stretch>
        </p:blipFill>
        <p:spPr>
          <a:xfrm>
            <a:off x="11277600" y="7137400"/>
            <a:ext cx="1790700" cy="317500"/>
          </a:xfrm>
          <a:prstGeom prst="rect">
            <a:avLst/>
          </a:prstGeom>
          <a:ln w="12700">
            <a:miter lim="400000"/>
          </a:ln>
        </p:spPr>
      </p:pic>
      <p:pic>
        <p:nvPicPr>
          <p:cNvPr id="474" name="viz-9-08.svg" descr="viz-9-08.svg"/>
          <p:cNvPicPr>
            <a:picLocks noChangeAspect="1"/>
          </p:cNvPicPr>
          <p:nvPr/>
        </p:nvPicPr>
        <p:blipFill>
          <a:blip r:embed="rId12">
            <a:extLst/>
          </a:blip>
          <a:stretch>
            <a:fillRect/>
          </a:stretch>
        </p:blipFill>
        <p:spPr>
          <a:xfrm>
            <a:off x="18846800" y="6477000"/>
            <a:ext cx="4330700" cy="1638300"/>
          </a:xfrm>
          <a:prstGeom prst="rect">
            <a:avLst/>
          </a:prstGeom>
          <a:ln w="12700">
            <a:miter lim="400000"/>
          </a:ln>
        </p:spPr>
      </p:pic>
      <p:pic>
        <p:nvPicPr>
          <p:cNvPr id="475" name="viz-9-09.svg" descr="viz-9-09.svg"/>
          <p:cNvPicPr>
            <a:picLocks noChangeAspect="1"/>
          </p:cNvPicPr>
          <p:nvPr/>
        </p:nvPicPr>
        <p:blipFill>
          <a:blip r:embed="rId13">
            <a:extLst/>
          </a:blip>
          <a:stretch>
            <a:fillRect/>
          </a:stretch>
        </p:blipFill>
        <p:spPr>
          <a:xfrm>
            <a:off x="19265900" y="6934200"/>
            <a:ext cx="736600" cy="711200"/>
          </a:xfrm>
          <a:prstGeom prst="rect">
            <a:avLst/>
          </a:prstGeom>
          <a:ln w="12700">
            <a:miter lim="400000"/>
          </a:ln>
        </p:spPr>
      </p:pic>
      <p:pic>
        <p:nvPicPr>
          <p:cNvPr id="476" name="viz-9-10.svg" descr="viz-9-10.svg"/>
          <p:cNvPicPr>
            <a:picLocks noChangeAspect="1"/>
          </p:cNvPicPr>
          <p:nvPr/>
        </p:nvPicPr>
        <p:blipFill>
          <a:blip r:embed="rId14">
            <a:extLst/>
          </a:blip>
          <a:stretch>
            <a:fillRect/>
          </a:stretch>
        </p:blipFill>
        <p:spPr>
          <a:xfrm>
            <a:off x="17170400" y="7137400"/>
            <a:ext cx="1790700" cy="317500"/>
          </a:xfrm>
          <a:prstGeom prst="rect">
            <a:avLst/>
          </a:prstGeom>
          <a:ln w="12700">
            <a:miter lim="400000"/>
          </a:ln>
        </p:spPr>
      </p:pic>
      <p:pic>
        <p:nvPicPr>
          <p:cNvPr id="477" name="viz-9-11.svg" descr="viz-9-11.svg"/>
          <p:cNvPicPr>
            <a:picLocks noChangeAspect="1"/>
          </p:cNvPicPr>
          <p:nvPr/>
        </p:nvPicPr>
        <p:blipFill>
          <a:blip r:embed="rId15">
            <a:extLst/>
          </a:blip>
          <a:stretch>
            <a:fillRect/>
          </a:stretch>
        </p:blipFill>
        <p:spPr>
          <a:xfrm>
            <a:off x="7061200" y="8001000"/>
            <a:ext cx="10223500" cy="495300"/>
          </a:xfrm>
          <a:prstGeom prst="rect">
            <a:avLst/>
          </a:prstGeom>
          <a:ln w="12700">
            <a:miter lim="400000"/>
          </a:ln>
        </p:spPr>
      </p:pic>
      <p:pic>
        <p:nvPicPr>
          <p:cNvPr id="478" name="viz-9-12.svg" descr="viz-9-12.svg"/>
          <p:cNvPicPr>
            <a:picLocks noChangeAspect="1"/>
          </p:cNvPicPr>
          <p:nvPr/>
        </p:nvPicPr>
        <p:blipFill>
          <a:blip r:embed="rId16">
            <a:extLst/>
          </a:blip>
          <a:stretch>
            <a:fillRect/>
          </a:stretch>
        </p:blipFill>
        <p:spPr>
          <a:xfrm>
            <a:off x="1168400" y="10058400"/>
            <a:ext cx="4330700" cy="1638300"/>
          </a:xfrm>
          <a:prstGeom prst="rect">
            <a:avLst/>
          </a:prstGeom>
          <a:ln w="12700">
            <a:miter lim="400000"/>
          </a:ln>
        </p:spPr>
      </p:pic>
      <p:pic>
        <p:nvPicPr>
          <p:cNvPr id="479" name="viz-9-13.svg" descr="viz-9-13.svg"/>
          <p:cNvPicPr>
            <a:picLocks noChangeAspect="1"/>
          </p:cNvPicPr>
          <p:nvPr/>
        </p:nvPicPr>
        <p:blipFill>
          <a:blip r:embed="rId5">
            <a:extLst/>
          </a:blip>
          <a:stretch>
            <a:fillRect/>
          </a:stretch>
        </p:blipFill>
        <p:spPr>
          <a:xfrm>
            <a:off x="1524000" y="10541000"/>
            <a:ext cx="863600" cy="660400"/>
          </a:xfrm>
          <a:prstGeom prst="rect">
            <a:avLst/>
          </a:prstGeom>
          <a:ln w="12700">
            <a:miter lim="400000"/>
          </a:ln>
        </p:spPr>
      </p:pic>
      <p:pic>
        <p:nvPicPr>
          <p:cNvPr id="480" name="viz-9-14.svg" descr="viz-9-14.svg"/>
          <p:cNvPicPr>
            <a:picLocks noChangeAspect="1"/>
          </p:cNvPicPr>
          <p:nvPr/>
        </p:nvPicPr>
        <p:blipFill>
          <a:blip r:embed="rId17">
            <a:extLst/>
          </a:blip>
          <a:stretch>
            <a:fillRect/>
          </a:stretch>
        </p:blipFill>
        <p:spPr>
          <a:xfrm>
            <a:off x="7061200" y="10058400"/>
            <a:ext cx="4330700" cy="1638300"/>
          </a:xfrm>
          <a:prstGeom prst="rect">
            <a:avLst/>
          </a:prstGeom>
          <a:ln w="12700">
            <a:miter lim="400000"/>
          </a:ln>
        </p:spPr>
      </p:pic>
      <p:pic>
        <p:nvPicPr>
          <p:cNvPr id="481" name="viz-9-15.svg" descr="viz-9-15.svg"/>
          <p:cNvPicPr>
            <a:picLocks noChangeAspect="1"/>
          </p:cNvPicPr>
          <p:nvPr/>
        </p:nvPicPr>
        <p:blipFill>
          <a:blip r:embed="rId18">
            <a:extLst/>
          </a:blip>
          <a:stretch>
            <a:fillRect/>
          </a:stretch>
        </p:blipFill>
        <p:spPr>
          <a:xfrm>
            <a:off x="7467600" y="10515600"/>
            <a:ext cx="762000" cy="711200"/>
          </a:xfrm>
          <a:prstGeom prst="rect">
            <a:avLst/>
          </a:prstGeom>
          <a:ln w="12700">
            <a:miter lim="400000"/>
          </a:ln>
        </p:spPr>
      </p:pic>
      <p:pic>
        <p:nvPicPr>
          <p:cNvPr id="482" name="viz-9-16.svg" descr="viz-9-16.svg"/>
          <p:cNvPicPr>
            <a:picLocks noChangeAspect="1"/>
          </p:cNvPicPr>
          <p:nvPr/>
        </p:nvPicPr>
        <p:blipFill>
          <a:blip r:embed="rId19">
            <a:extLst/>
          </a:blip>
          <a:stretch>
            <a:fillRect/>
          </a:stretch>
        </p:blipFill>
        <p:spPr>
          <a:xfrm>
            <a:off x="5384800" y="10718800"/>
            <a:ext cx="1790700" cy="317500"/>
          </a:xfrm>
          <a:prstGeom prst="rect">
            <a:avLst/>
          </a:prstGeom>
          <a:ln w="12700">
            <a:miter lim="400000"/>
          </a:ln>
        </p:spPr>
      </p:pic>
      <p:pic>
        <p:nvPicPr>
          <p:cNvPr id="483" name="viz-9-17.svg" descr="viz-9-17.svg"/>
          <p:cNvPicPr>
            <a:picLocks noChangeAspect="1"/>
          </p:cNvPicPr>
          <p:nvPr/>
        </p:nvPicPr>
        <p:blipFill>
          <a:blip r:embed="rId20">
            <a:extLst/>
          </a:blip>
          <a:stretch>
            <a:fillRect/>
          </a:stretch>
        </p:blipFill>
        <p:spPr>
          <a:xfrm>
            <a:off x="12954000" y="10058400"/>
            <a:ext cx="4330700" cy="1638300"/>
          </a:xfrm>
          <a:prstGeom prst="rect">
            <a:avLst/>
          </a:prstGeom>
          <a:ln w="12700">
            <a:miter lim="400000"/>
          </a:ln>
        </p:spPr>
      </p:pic>
      <p:pic>
        <p:nvPicPr>
          <p:cNvPr id="484" name="viz-9-18.svg" descr="viz-9-18.svg"/>
          <p:cNvPicPr>
            <a:picLocks noChangeAspect="1"/>
          </p:cNvPicPr>
          <p:nvPr/>
        </p:nvPicPr>
        <p:blipFill>
          <a:blip r:embed="rId13">
            <a:extLst/>
          </a:blip>
          <a:stretch>
            <a:fillRect/>
          </a:stretch>
        </p:blipFill>
        <p:spPr>
          <a:xfrm>
            <a:off x="13373100" y="10515600"/>
            <a:ext cx="736600" cy="711200"/>
          </a:xfrm>
          <a:prstGeom prst="rect">
            <a:avLst/>
          </a:prstGeom>
          <a:ln w="12700">
            <a:miter lim="400000"/>
          </a:ln>
        </p:spPr>
      </p:pic>
      <p:pic>
        <p:nvPicPr>
          <p:cNvPr id="485" name="viz-9-19.svg" descr="viz-9-19.svg"/>
          <p:cNvPicPr>
            <a:picLocks noChangeAspect="1"/>
          </p:cNvPicPr>
          <p:nvPr/>
        </p:nvPicPr>
        <p:blipFill>
          <a:blip r:embed="rId21">
            <a:extLst/>
          </a:blip>
          <a:stretch>
            <a:fillRect/>
          </a:stretch>
        </p:blipFill>
        <p:spPr>
          <a:xfrm>
            <a:off x="11277600" y="10718800"/>
            <a:ext cx="1790700" cy="317500"/>
          </a:xfrm>
          <a:prstGeom prst="rect">
            <a:avLst/>
          </a:prstGeom>
          <a:ln w="12700">
            <a:miter lim="400000"/>
          </a:ln>
        </p:spPr>
      </p:pic>
      <p:sp>
        <p:nvSpPr>
          <p:cNvPr id="486" name="2013"/>
          <p:cNvSpPr txBox="1"/>
          <p:nvPr/>
        </p:nvSpPr>
        <p:spPr>
          <a:xfrm>
            <a:off x="1320800" y="5918199"/>
            <a:ext cx="1397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2013</a:t>
            </a:r>
          </a:p>
        </p:txBody>
      </p:sp>
      <p:sp>
        <p:nvSpPr>
          <p:cNvPr id="487" name="Client sites on hosting partners' servers."/>
          <p:cNvSpPr txBox="1"/>
          <p:nvPr/>
        </p:nvSpPr>
        <p:spPr>
          <a:xfrm>
            <a:off x="2616200" y="5918200"/>
            <a:ext cx="1524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3D2644"/>
                </a:solidFill>
                <a:latin typeface="Geist Regular Regular"/>
                <a:ea typeface="Geist Regular Regular"/>
                <a:cs typeface="Geist Regular Regular"/>
                <a:sym typeface="Geist Regular Regular"/>
              </a:defRPr>
            </a:lvl1pPr>
          </a:lstStyle>
          <a:p>
            <a:pPr/>
            <a:r>
              <a:t>Client sites on hosting partners' servers.</a:t>
            </a:r>
          </a:p>
        </p:txBody>
      </p:sp>
      <p:sp>
        <p:nvSpPr>
          <p:cNvPr id="488" name="Agency"/>
          <p:cNvSpPr txBox="1"/>
          <p:nvPr/>
        </p:nvSpPr>
        <p:spPr>
          <a:xfrm>
            <a:off x="25146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Agency</a:t>
            </a:r>
          </a:p>
        </p:txBody>
      </p:sp>
      <p:sp>
        <p:nvSpPr>
          <p:cNvPr id="489" name="Control panel"/>
          <p:cNvSpPr txBox="1"/>
          <p:nvPr/>
        </p:nvSpPr>
        <p:spPr>
          <a:xfrm>
            <a:off x="84074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Control panel</a:t>
            </a:r>
          </a:p>
        </p:txBody>
      </p:sp>
      <p:sp>
        <p:nvSpPr>
          <p:cNvPr id="490" name="Jail"/>
          <p:cNvSpPr txBox="1"/>
          <p:nvPr/>
        </p:nvSpPr>
        <p:spPr>
          <a:xfrm>
            <a:off x="143002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Jail</a:t>
            </a:r>
          </a:p>
        </p:txBody>
      </p:sp>
      <p:sp>
        <p:nvSpPr>
          <p:cNvPr id="491" name="Their server"/>
          <p:cNvSpPr txBox="1"/>
          <p:nvPr/>
        </p:nvSpPr>
        <p:spPr>
          <a:xfrm>
            <a:off x="20193000" y="68453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Their server</a:t>
            </a:r>
          </a:p>
        </p:txBody>
      </p:sp>
      <p:sp>
        <p:nvSpPr>
          <p:cNvPr id="492" name="Apache"/>
          <p:cNvSpPr txBox="1"/>
          <p:nvPr/>
        </p:nvSpPr>
        <p:spPr>
          <a:xfrm>
            <a:off x="20193000" y="7327899"/>
            <a:ext cx="25146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Apache</a:t>
            </a:r>
          </a:p>
        </p:txBody>
      </p:sp>
      <p:sp>
        <p:nvSpPr>
          <p:cNvPr id="493" name="Jails and control panels stood between us and the server."/>
          <p:cNvSpPr txBox="1"/>
          <p:nvPr/>
        </p:nvSpPr>
        <p:spPr>
          <a:xfrm>
            <a:off x="7213600" y="8458199"/>
            <a:ext cx="990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Jails and control panels stood between us and the server.</a:t>
            </a:r>
          </a:p>
        </p:txBody>
      </p:sp>
      <p:sp>
        <p:nvSpPr>
          <p:cNvPr id="494" name="2015"/>
          <p:cNvSpPr txBox="1"/>
          <p:nvPr/>
        </p:nvSpPr>
        <p:spPr>
          <a:xfrm>
            <a:off x="1320800" y="9499599"/>
            <a:ext cx="1397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2015</a:t>
            </a:r>
          </a:p>
        </p:txBody>
      </p:sp>
      <p:sp>
        <p:nvSpPr>
          <p:cNvPr id="495" name="Our first own VPS, to run the latest nginx and HHVM-FastCGI."/>
          <p:cNvSpPr txBox="1"/>
          <p:nvPr/>
        </p:nvSpPr>
        <p:spPr>
          <a:xfrm>
            <a:off x="2616200" y="94996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3D2644"/>
                </a:solidFill>
                <a:latin typeface="Geist Regular Regular"/>
                <a:ea typeface="Geist Regular Regular"/>
                <a:cs typeface="Geist Regular Regular"/>
                <a:sym typeface="Geist Regular Regular"/>
              </a:defRPr>
            </a:lvl1pPr>
          </a:lstStyle>
          <a:p>
            <a:pPr/>
            <a:r>
              <a:t>Our first own VPS, to run the latest nginx and HHVM-FastCGI.</a:t>
            </a:r>
          </a:p>
        </p:txBody>
      </p:sp>
      <p:sp>
        <p:nvSpPr>
          <p:cNvPr id="496" name="Agency"/>
          <p:cNvSpPr txBox="1"/>
          <p:nvPr/>
        </p:nvSpPr>
        <p:spPr>
          <a:xfrm>
            <a:off x="2514600" y="106299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Agency</a:t>
            </a:r>
          </a:p>
        </p:txBody>
      </p:sp>
      <p:sp>
        <p:nvSpPr>
          <p:cNvPr id="497" name="SSH"/>
          <p:cNvSpPr txBox="1"/>
          <p:nvPr/>
        </p:nvSpPr>
        <p:spPr>
          <a:xfrm>
            <a:off x="8407400" y="106299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SSH</a:t>
            </a:r>
          </a:p>
        </p:txBody>
      </p:sp>
      <p:sp>
        <p:nvSpPr>
          <p:cNvPr id="498" name="Our own VPS"/>
          <p:cNvSpPr txBox="1"/>
          <p:nvPr/>
        </p:nvSpPr>
        <p:spPr>
          <a:xfrm>
            <a:off x="14300200" y="104267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Our own VPS</a:t>
            </a:r>
          </a:p>
        </p:txBody>
      </p:sp>
      <p:sp>
        <p:nvSpPr>
          <p:cNvPr id="499" name="nginx"/>
          <p:cNvSpPr txBox="1"/>
          <p:nvPr/>
        </p:nvSpPr>
        <p:spPr>
          <a:xfrm>
            <a:off x="14300200" y="10909299"/>
            <a:ext cx="25146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nginx</a:t>
            </a:r>
          </a:p>
        </p:txBody>
      </p:sp>
      <p:pic>
        <p:nvPicPr>
          <p:cNvPr id="500" name="prog-9.png" descr="prog-9.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5" name="Choosing providers, and leaving them"/>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Choosing providers, </a:t>
            </a:r>
            <a:r>
              <a:rPr i="1" sz="9800">
                <a:solidFill>
                  <a:srgbClr val="6033A6"/>
                </a:solidFill>
                <a:latin typeface="Instrument Serif Regular"/>
                <a:ea typeface="Instrument Serif Regular"/>
                <a:cs typeface="Instrument Serif Regular"/>
                <a:sym typeface="Instrument Serif Regular"/>
              </a:rPr>
              <a:t>and leaving them</a:t>
            </a:r>
          </a:p>
        </p:txBody>
      </p:sp>
      <p:sp>
        <p:nvSpPr>
          <p:cNvPr id="506"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507" name="prog-10.png" descr="prog-1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pic>
        <p:nvPicPr>
          <p:cNvPr id="508" name="viz-10-00.svg" descr="viz-10-00.svg"/>
          <p:cNvPicPr>
            <a:picLocks noChangeAspect="1"/>
          </p:cNvPicPr>
          <p:nvPr/>
        </p:nvPicPr>
        <p:blipFill>
          <a:blip r:embed="rId5">
            <a:extLst/>
          </a:blip>
          <a:stretch>
            <a:fillRect/>
          </a:stretch>
        </p:blipFill>
        <p:spPr>
          <a:xfrm>
            <a:off x="1168400" y="7721600"/>
            <a:ext cx="22009100" cy="317500"/>
          </a:xfrm>
          <a:prstGeom prst="rect">
            <a:avLst/>
          </a:prstGeom>
          <a:ln w="12700">
            <a:miter lim="400000"/>
          </a:ln>
        </p:spPr>
      </p:pic>
      <p:pic>
        <p:nvPicPr>
          <p:cNvPr id="509" name="viz-10-01.svg" descr="viz-10-01.svg"/>
          <p:cNvPicPr>
            <a:picLocks noChangeAspect="1"/>
          </p:cNvPicPr>
          <p:nvPr/>
        </p:nvPicPr>
        <p:blipFill>
          <a:blip r:embed="rId6">
            <a:extLst/>
          </a:blip>
          <a:stretch>
            <a:fillRect/>
          </a:stretch>
        </p:blipFill>
        <p:spPr>
          <a:xfrm>
            <a:off x="8712200" y="6972300"/>
            <a:ext cx="3670300" cy="762000"/>
          </a:xfrm>
          <a:prstGeom prst="rect">
            <a:avLst/>
          </a:prstGeom>
          <a:ln w="12700">
            <a:miter lim="400000"/>
          </a:ln>
        </p:spPr>
      </p:pic>
      <p:pic>
        <p:nvPicPr>
          <p:cNvPr id="510" name="viz-10-02.svg" descr="viz-10-02.svg"/>
          <p:cNvPicPr>
            <a:picLocks noChangeAspect="1"/>
          </p:cNvPicPr>
          <p:nvPr/>
        </p:nvPicPr>
        <p:blipFill>
          <a:blip r:embed="rId7">
            <a:extLst/>
          </a:blip>
          <a:stretch>
            <a:fillRect/>
          </a:stretch>
        </p:blipFill>
        <p:spPr>
          <a:xfrm>
            <a:off x="1155700" y="5613400"/>
            <a:ext cx="838200" cy="711200"/>
          </a:xfrm>
          <a:prstGeom prst="rect">
            <a:avLst/>
          </a:prstGeom>
          <a:ln w="12700">
            <a:miter lim="400000"/>
          </a:ln>
        </p:spPr>
      </p:pic>
      <p:pic>
        <p:nvPicPr>
          <p:cNvPr id="511" name="viz-10-03.svg" descr="viz-10-03.svg"/>
          <p:cNvPicPr>
            <a:picLocks noChangeAspect="1"/>
          </p:cNvPicPr>
          <p:nvPr/>
        </p:nvPicPr>
        <p:blipFill>
          <a:blip r:embed="rId8">
            <a:extLst/>
          </a:blip>
          <a:stretch>
            <a:fillRect/>
          </a:stretch>
        </p:blipFill>
        <p:spPr>
          <a:xfrm>
            <a:off x="1155700" y="7569200"/>
            <a:ext cx="622300" cy="622300"/>
          </a:xfrm>
          <a:prstGeom prst="rect">
            <a:avLst/>
          </a:prstGeom>
          <a:ln w="12700">
            <a:miter lim="400000"/>
          </a:ln>
        </p:spPr>
      </p:pic>
      <p:pic>
        <p:nvPicPr>
          <p:cNvPr id="512" name="viz-10-04.svg" descr="viz-10-04.svg"/>
          <p:cNvPicPr>
            <a:picLocks noChangeAspect="1"/>
          </p:cNvPicPr>
          <p:nvPr/>
        </p:nvPicPr>
        <p:blipFill>
          <a:blip r:embed="rId9">
            <a:extLst/>
          </a:blip>
          <a:stretch>
            <a:fillRect/>
          </a:stretch>
        </p:blipFill>
        <p:spPr>
          <a:xfrm>
            <a:off x="4838700" y="5562600"/>
            <a:ext cx="838200" cy="774700"/>
          </a:xfrm>
          <a:prstGeom prst="rect">
            <a:avLst/>
          </a:prstGeom>
          <a:ln w="12700">
            <a:miter lim="400000"/>
          </a:ln>
        </p:spPr>
      </p:pic>
      <p:pic>
        <p:nvPicPr>
          <p:cNvPr id="513" name="viz-10-05.svg" descr="viz-10-05.svg"/>
          <p:cNvPicPr>
            <a:picLocks noChangeAspect="1"/>
          </p:cNvPicPr>
          <p:nvPr/>
        </p:nvPicPr>
        <p:blipFill>
          <a:blip r:embed="rId8">
            <a:extLst/>
          </a:blip>
          <a:stretch>
            <a:fillRect/>
          </a:stretch>
        </p:blipFill>
        <p:spPr>
          <a:xfrm>
            <a:off x="4838700" y="7569200"/>
            <a:ext cx="622300" cy="622300"/>
          </a:xfrm>
          <a:prstGeom prst="rect">
            <a:avLst/>
          </a:prstGeom>
          <a:ln w="12700">
            <a:miter lim="400000"/>
          </a:ln>
        </p:spPr>
      </p:pic>
      <p:pic>
        <p:nvPicPr>
          <p:cNvPr id="514" name="viz-10-06.svg" descr="viz-10-06.svg"/>
          <p:cNvPicPr>
            <a:picLocks noChangeAspect="1"/>
          </p:cNvPicPr>
          <p:nvPr/>
        </p:nvPicPr>
        <p:blipFill>
          <a:blip r:embed="rId10">
            <a:extLst/>
          </a:blip>
          <a:stretch>
            <a:fillRect/>
          </a:stretch>
        </p:blipFill>
        <p:spPr>
          <a:xfrm>
            <a:off x="8585200" y="5549900"/>
            <a:ext cx="711200" cy="838200"/>
          </a:xfrm>
          <a:prstGeom prst="rect">
            <a:avLst/>
          </a:prstGeom>
          <a:ln w="12700">
            <a:miter lim="400000"/>
          </a:ln>
        </p:spPr>
      </p:pic>
      <p:pic>
        <p:nvPicPr>
          <p:cNvPr id="515" name="viz-10-07.svg" descr="viz-10-07.svg"/>
          <p:cNvPicPr>
            <a:picLocks noChangeAspect="1"/>
          </p:cNvPicPr>
          <p:nvPr/>
        </p:nvPicPr>
        <p:blipFill>
          <a:blip r:embed="rId8">
            <a:extLst/>
          </a:blip>
          <a:stretch>
            <a:fillRect/>
          </a:stretch>
        </p:blipFill>
        <p:spPr>
          <a:xfrm>
            <a:off x="8521700" y="7569200"/>
            <a:ext cx="622300" cy="622300"/>
          </a:xfrm>
          <a:prstGeom prst="rect">
            <a:avLst/>
          </a:prstGeom>
          <a:ln w="12700">
            <a:miter lim="400000"/>
          </a:ln>
        </p:spPr>
      </p:pic>
      <p:pic>
        <p:nvPicPr>
          <p:cNvPr id="516" name="viz-10-08.svg" descr="viz-10-08.svg"/>
          <p:cNvPicPr>
            <a:picLocks noChangeAspect="1"/>
          </p:cNvPicPr>
          <p:nvPr/>
        </p:nvPicPr>
        <p:blipFill>
          <a:blip r:embed="rId11">
            <a:extLst/>
          </a:blip>
          <a:stretch>
            <a:fillRect/>
          </a:stretch>
        </p:blipFill>
        <p:spPr>
          <a:xfrm>
            <a:off x="12217400" y="5651500"/>
            <a:ext cx="850900" cy="685800"/>
          </a:xfrm>
          <a:prstGeom prst="rect">
            <a:avLst/>
          </a:prstGeom>
          <a:ln w="12700">
            <a:miter lim="400000"/>
          </a:ln>
        </p:spPr>
      </p:pic>
      <p:pic>
        <p:nvPicPr>
          <p:cNvPr id="517" name="viz-10-09.svg" descr="viz-10-09.svg"/>
          <p:cNvPicPr>
            <a:picLocks noChangeAspect="1"/>
          </p:cNvPicPr>
          <p:nvPr/>
        </p:nvPicPr>
        <p:blipFill>
          <a:blip r:embed="rId8">
            <a:extLst/>
          </a:blip>
          <a:stretch>
            <a:fillRect/>
          </a:stretch>
        </p:blipFill>
        <p:spPr>
          <a:xfrm>
            <a:off x="12204700" y="7569200"/>
            <a:ext cx="622300" cy="622300"/>
          </a:xfrm>
          <a:prstGeom prst="rect">
            <a:avLst/>
          </a:prstGeom>
          <a:ln w="12700">
            <a:miter lim="400000"/>
          </a:ln>
        </p:spPr>
      </p:pic>
      <p:pic>
        <p:nvPicPr>
          <p:cNvPr id="518" name="viz-10-10.svg" descr="viz-10-10.svg"/>
          <p:cNvPicPr>
            <a:picLocks noChangeAspect="1"/>
          </p:cNvPicPr>
          <p:nvPr/>
        </p:nvPicPr>
        <p:blipFill>
          <a:blip r:embed="rId12">
            <a:extLst/>
          </a:blip>
          <a:stretch>
            <a:fillRect/>
          </a:stretch>
        </p:blipFill>
        <p:spPr>
          <a:xfrm>
            <a:off x="15875000" y="5588000"/>
            <a:ext cx="863600" cy="711200"/>
          </a:xfrm>
          <a:prstGeom prst="rect">
            <a:avLst/>
          </a:prstGeom>
          <a:ln w="12700">
            <a:miter lim="400000"/>
          </a:ln>
        </p:spPr>
      </p:pic>
      <p:pic>
        <p:nvPicPr>
          <p:cNvPr id="519" name="viz-10-11.svg" descr="viz-10-11.svg"/>
          <p:cNvPicPr>
            <a:picLocks noChangeAspect="1"/>
          </p:cNvPicPr>
          <p:nvPr/>
        </p:nvPicPr>
        <p:blipFill>
          <a:blip r:embed="rId8">
            <a:extLst/>
          </a:blip>
          <a:stretch>
            <a:fillRect/>
          </a:stretch>
        </p:blipFill>
        <p:spPr>
          <a:xfrm>
            <a:off x="15887700" y="7569200"/>
            <a:ext cx="622300" cy="622300"/>
          </a:xfrm>
          <a:prstGeom prst="rect">
            <a:avLst/>
          </a:prstGeom>
          <a:ln w="12700">
            <a:miter lim="400000"/>
          </a:ln>
        </p:spPr>
      </p:pic>
      <p:pic>
        <p:nvPicPr>
          <p:cNvPr id="520" name="viz-10-12.svg" descr="viz-10-12.svg"/>
          <p:cNvPicPr>
            <a:picLocks noChangeAspect="1"/>
          </p:cNvPicPr>
          <p:nvPr/>
        </p:nvPicPr>
        <p:blipFill>
          <a:blip r:embed="rId13">
            <a:extLst/>
          </a:blip>
          <a:stretch>
            <a:fillRect/>
          </a:stretch>
        </p:blipFill>
        <p:spPr>
          <a:xfrm>
            <a:off x="19634200" y="5562600"/>
            <a:ext cx="711200" cy="812800"/>
          </a:xfrm>
          <a:prstGeom prst="rect">
            <a:avLst/>
          </a:prstGeom>
          <a:ln w="12700">
            <a:miter lim="400000"/>
          </a:ln>
        </p:spPr>
      </p:pic>
      <p:pic>
        <p:nvPicPr>
          <p:cNvPr id="521" name="viz-10-13.svg" descr="viz-10-13.svg"/>
          <p:cNvPicPr>
            <a:picLocks noChangeAspect="1"/>
          </p:cNvPicPr>
          <p:nvPr/>
        </p:nvPicPr>
        <p:blipFill>
          <a:blip r:embed="rId8">
            <a:extLst/>
          </a:blip>
          <a:stretch>
            <a:fillRect/>
          </a:stretch>
        </p:blipFill>
        <p:spPr>
          <a:xfrm>
            <a:off x="19570700" y="7569200"/>
            <a:ext cx="622300" cy="622300"/>
          </a:xfrm>
          <a:prstGeom prst="rect">
            <a:avLst/>
          </a:prstGeom>
          <a:ln w="12700">
            <a:miter lim="400000"/>
          </a:ln>
        </p:spPr>
      </p:pic>
      <p:sp>
        <p:nvSpPr>
          <p:cNvPr id="522" name="2015"/>
          <p:cNvSpPr txBox="1"/>
          <p:nvPr/>
        </p:nvSpPr>
        <p:spPr>
          <a:xfrm>
            <a:off x="1270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2015</a:t>
            </a:r>
          </a:p>
        </p:txBody>
      </p:sp>
      <p:sp>
        <p:nvSpPr>
          <p:cNvPr id="523" name="A US cloud"/>
          <p:cNvSpPr txBox="1"/>
          <p:nvPr/>
        </p:nvSpPr>
        <p:spPr>
          <a:xfrm>
            <a:off x="1270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 US cloud</a:t>
            </a:r>
          </a:p>
        </p:txBody>
      </p:sp>
      <p:sp>
        <p:nvSpPr>
          <p:cNvPr id="524" name="The first VPS."/>
          <p:cNvSpPr txBox="1"/>
          <p:nvPr/>
        </p:nvSpPr>
        <p:spPr>
          <a:xfrm>
            <a:off x="1270000" y="8915399"/>
            <a:ext cx="3175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first VPS.</a:t>
            </a:r>
          </a:p>
        </p:txBody>
      </p:sp>
      <p:sp>
        <p:nvSpPr>
          <p:cNvPr id="525" name="2016"/>
          <p:cNvSpPr txBox="1"/>
          <p:nvPr/>
        </p:nvSpPr>
        <p:spPr>
          <a:xfrm>
            <a:off x="4953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26" name="In France"/>
          <p:cNvSpPr txBox="1"/>
          <p:nvPr/>
        </p:nvSpPr>
        <p:spPr>
          <a:xfrm>
            <a:off x="4953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In France</a:t>
            </a:r>
          </a:p>
        </p:txBody>
      </p:sp>
      <p:sp>
        <p:nvSpPr>
          <p:cNvPr id="527" name="2 web, 2 database and 1 file server."/>
          <p:cNvSpPr txBox="1"/>
          <p:nvPr/>
        </p:nvSpPr>
        <p:spPr>
          <a:xfrm>
            <a:off x="4953000" y="8915399"/>
            <a:ext cx="31750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2 web, 2 database</a:t>
            </a:r>
            <a:br/>
            <a:r>
              <a:t>and 1 file server.</a:t>
            </a:r>
          </a:p>
        </p:txBody>
      </p:sp>
      <p:sp>
        <p:nvSpPr>
          <p:cNvPr id="528" name="2016"/>
          <p:cNvSpPr txBox="1"/>
          <p:nvPr/>
        </p:nvSpPr>
        <p:spPr>
          <a:xfrm>
            <a:off x="8636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29" name="The outage"/>
          <p:cNvSpPr txBox="1"/>
          <p:nvPr/>
        </p:nvSpPr>
        <p:spPr>
          <a:xfrm>
            <a:off x="8636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outage</a:t>
            </a:r>
          </a:p>
        </p:txBody>
      </p:sp>
      <p:sp>
        <p:nvSpPr>
          <p:cNvPr id="530" name="Every client site hangs."/>
          <p:cNvSpPr txBox="1"/>
          <p:nvPr/>
        </p:nvSpPr>
        <p:spPr>
          <a:xfrm>
            <a:off x="8636000" y="8915399"/>
            <a:ext cx="31750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Every client</a:t>
            </a:r>
            <a:br/>
            <a:r>
              <a:t>site hangs.</a:t>
            </a:r>
          </a:p>
        </p:txBody>
      </p:sp>
      <p:sp>
        <p:nvSpPr>
          <p:cNvPr id="531" name="2016"/>
          <p:cNvSpPr txBox="1"/>
          <p:nvPr/>
        </p:nvSpPr>
        <p:spPr>
          <a:xfrm>
            <a:off x="12319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32" name="The move"/>
          <p:cNvSpPr txBox="1"/>
          <p:nvPr/>
        </p:nvSpPr>
        <p:spPr>
          <a:xfrm>
            <a:off x="12319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move</a:t>
            </a:r>
          </a:p>
        </p:txBody>
      </p:sp>
      <p:sp>
        <p:nvSpPr>
          <p:cNvPr id="533" name="Every site moved to a local data center in Finland."/>
          <p:cNvSpPr txBox="1"/>
          <p:nvPr/>
        </p:nvSpPr>
        <p:spPr>
          <a:xfrm>
            <a:off x="12319000" y="8915400"/>
            <a:ext cx="3175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Every site moved</a:t>
            </a:r>
            <a:br/>
            <a:r>
              <a:t>to a local data</a:t>
            </a:r>
            <a:br/>
            <a:r>
              <a:t>center in Finland.</a:t>
            </a:r>
          </a:p>
        </p:txBody>
      </p:sp>
      <p:sp>
        <p:nvSpPr>
          <p:cNvPr id="534" name="Since 2016"/>
          <p:cNvSpPr txBox="1"/>
          <p:nvPr/>
        </p:nvSpPr>
        <p:spPr>
          <a:xfrm>
            <a:off x="16002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Since 2016</a:t>
            </a:r>
          </a:p>
        </p:txBody>
      </p:sp>
      <p:sp>
        <p:nvSpPr>
          <p:cNvPr id="535" name="The rock cave"/>
          <p:cNvSpPr txBox="1"/>
          <p:nvPr/>
        </p:nvSpPr>
        <p:spPr>
          <a:xfrm>
            <a:off x="16002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rock cave</a:t>
            </a:r>
          </a:p>
        </p:txBody>
      </p:sp>
      <p:sp>
        <p:nvSpPr>
          <p:cNvPr id="536" name="A datacentre in a former army rock cave, on wind power."/>
          <p:cNvSpPr txBox="1"/>
          <p:nvPr/>
        </p:nvSpPr>
        <p:spPr>
          <a:xfrm>
            <a:off x="16002000" y="8915400"/>
            <a:ext cx="3175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A datacentre in a</a:t>
            </a:r>
            <a:br/>
            <a:r>
              <a:t>former army rock</a:t>
            </a:r>
            <a:br/>
            <a:r>
              <a:t>cave, on wind power.</a:t>
            </a:r>
          </a:p>
        </p:txBody>
      </p:sp>
      <p:sp>
        <p:nvSpPr>
          <p:cNvPr id="537" name="2026"/>
          <p:cNvSpPr txBox="1"/>
          <p:nvPr/>
        </p:nvSpPr>
        <p:spPr>
          <a:xfrm>
            <a:off x="19685000" y="6553199"/>
            <a:ext cx="3429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538" name="Today"/>
          <p:cNvSpPr txBox="1"/>
          <p:nvPr/>
        </p:nvSpPr>
        <p:spPr>
          <a:xfrm>
            <a:off x="19685000" y="8382000"/>
            <a:ext cx="3429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Today</a:t>
            </a:r>
          </a:p>
        </p:txBody>
      </p:sp>
      <p:sp>
        <p:nvSpPr>
          <p:cNvPr id="539" name="Still on European servers, data on sovereign ground."/>
          <p:cNvSpPr txBox="1"/>
          <p:nvPr/>
        </p:nvSpPr>
        <p:spPr>
          <a:xfrm>
            <a:off x="19685000" y="8915400"/>
            <a:ext cx="3175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Still on European</a:t>
            </a:r>
            <a:br/>
            <a:r>
              <a:t>servers, data on sovereign ground.</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43" name="bg.png" descr="bg.png"/>
          <p:cNvPicPr>
            <a:picLocks noChangeAspect="1"/>
          </p:cNvPicPr>
          <p:nvPr/>
        </p:nvPicPr>
        <p:blipFill>
          <a:blip r:embed="rId3">
            <a:extLst/>
          </a:blip>
          <a:stretch>
            <a:fillRect/>
          </a:stretch>
        </p:blipFill>
        <p:spPr>
          <a:xfrm>
            <a:off x="0" y="279400"/>
            <a:ext cx="24384000" cy="13716000"/>
          </a:xfrm>
          <a:prstGeom prst="rect">
            <a:avLst/>
          </a:prstGeom>
          <a:ln w="12700">
            <a:miter lim="400000"/>
          </a:ln>
        </p:spPr>
      </p:pic>
      <p:sp>
        <p:nvSpPr>
          <p:cNvPr id="544" name="The fleet today"/>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fleet </a:t>
            </a:r>
            <a:r>
              <a:rPr i="1" sz="9800">
                <a:solidFill>
                  <a:srgbClr val="6033A6"/>
                </a:solidFill>
                <a:latin typeface="Instrument Serif Regular"/>
                <a:ea typeface="Instrument Serif Regular"/>
                <a:cs typeface="Instrument Serif Regular"/>
                <a:sym typeface="Instrument Serif Regular"/>
              </a:rPr>
              <a:t>today</a:t>
            </a:r>
          </a:p>
        </p:txBody>
      </p:sp>
      <p:sp>
        <p:nvSpPr>
          <p:cNvPr id="5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546" name="viz-13-00.svg" descr="viz-13-00.svg"/>
          <p:cNvPicPr>
            <a:picLocks noChangeAspect="1"/>
          </p:cNvPicPr>
          <p:nvPr/>
        </p:nvPicPr>
        <p:blipFill>
          <a:blip r:embed="rId4">
            <a:extLst/>
          </a:blip>
          <a:stretch>
            <a:fillRect/>
          </a:stretch>
        </p:blipFill>
        <p:spPr>
          <a:xfrm>
            <a:off x="1231900" y="5181600"/>
            <a:ext cx="711200" cy="685800"/>
          </a:xfrm>
          <a:prstGeom prst="rect">
            <a:avLst/>
          </a:prstGeom>
          <a:ln w="12700">
            <a:miter lim="400000"/>
          </a:ln>
        </p:spPr>
      </p:pic>
      <p:pic>
        <p:nvPicPr>
          <p:cNvPr id="547" name="viz-13-01.svg" descr="viz-13-01.svg"/>
          <p:cNvPicPr>
            <a:picLocks noChangeAspect="1"/>
          </p:cNvPicPr>
          <p:nvPr/>
        </p:nvPicPr>
        <p:blipFill>
          <a:blip r:embed="rId4">
            <a:extLst/>
          </a:blip>
          <a:stretch>
            <a:fillRect/>
          </a:stretch>
        </p:blipFill>
        <p:spPr>
          <a:xfrm>
            <a:off x="2070100" y="5181600"/>
            <a:ext cx="711200" cy="685800"/>
          </a:xfrm>
          <a:prstGeom prst="rect">
            <a:avLst/>
          </a:prstGeom>
          <a:ln w="12700">
            <a:miter lim="400000"/>
          </a:ln>
        </p:spPr>
      </p:pic>
      <p:pic>
        <p:nvPicPr>
          <p:cNvPr id="548" name="viz-13-02.svg" descr="viz-13-02.svg"/>
          <p:cNvPicPr>
            <a:picLocks noChangeAspect="1"/>
          </p:cNvPicPr>
          <p:nvPr/>
        </p:nvPicPr>
        <p:blipFill>
          <a:blip r:embed="rId4">
            <a:extLst/>
          </a:blip>
          <a:stretch>
            <a:fillRect/>
          </a:stretch>
        </p:blipFill>
        <p:spPr>
          <a:xfrm>
            <a:off x="2908300" y="5181600"/>
            <a:ext cx="711200" cy="685800"/>
          </a:xfrm>
          <a:prstGeom prst="rect">
            <a:avLst/>
          </a:prstGeom>
          <a:ln w="12700">
            <a:miter lim="400000"/>
          </a:ln>
        </p:spPr>
      </p:pic>
      <p:pic>
        <p:nvPicPr>
          <p:cNvPr id="549" name="viz-13-03.svg" descr="viz-13-03.svg"/>
          <p:cNvPicPr>
            <a:picLocks noChangeAspect="1"/>
          </p:cNvPicPr>
          <p:nvPr/>
        </p:nvPicPr>
        <p:blipFill>
          <a:blip r:embed="rId4">
            <a:extLst/>
          </a:blip>
          <a:stretch>
            <a:fillRect/>
          </a:stretch>
        </p:blipFill>
        <p:spPr>
          <a:xfrm>
            <a:off x="3746500" y="5181600"/>
            <a:ext cx="711200" cy="685800"/>
          </a:xfrm>
          <a:prstGeom prst="rect">
            <a:avLst/>
          </a:prstGeom>
          <a:ln w="12700">
            <a:miter lim="400000"/>
          </a:ln>
        </p:spPr>
      </p:pic>
      <p:pic>
        <p:nvPicPr>
          <p:cNvPr id="550" name="viz-13-04.svg" descr="viz-13-04.svg"/>
          <p:cNvPicPr>
            <a:picLocks noChangeAspect="1"/>
          </p:cNvPicPr>
          <p:nvPr/>
        </p:nvPicPr>
        <p:blipFill>
          <a:blip r:embed="rId4">
            <a:extLst/>
          </a:blip>
          <a:stretch>
            <a:fillRect/>
          </a:stretch>
        </p:blipFill>
        <p:spPr>
          <a:xfrm>
            <a:off x="4584700" y="5181600"/>
            <a:ext cx="711200" cy="685800"/>
          </a:xfrm>
          <a:prstGeom prst="rect">
            <a:avLst/>
          </a:prstGeom>
          <a:ln w="12700">
            <a:miter lim="400000"/>
          </a:ln>
        </p:spPr>
      </p:pic>
      <p:pic>
        <p:nvPicPr>
          <p:cNvPr id="551" name="viz-13-05.svg" descr="viz-13-05.svg"/>
          <p:cNvPicPr>
            <a:picLocks noChangeAspect="1"/>
          </p:cNvPicPr>
          <p:nvPr/>
        </p:nvPicPr>
        <p:blipFill>
          <a:blip r:embed="rId4">
            <a:extLst/>
          </a:blip>
          <a:stretch>
            <a:fillRect/>
          </a:stretch>
        </p:blipFill>
        <p:spPr>
          <a:xfrm>
            <a:off x="5422900" y="5181600"/>
            <a:ext cx="711200" cy="685800"/>
          </a:xfrm>
          <a:prstGeom prst="rect">
            <a:avLst/>
          </a:prstGeom>
          <a:ln w="12700">
            <a:miter lim="400000"/>
          </a:ln>
        </p:spPr>
      </p:pic>
      <p:pic>
        <p:nvPicPr>
          <p:cNvPr id="552" name="viz-13-06.svg" descr="viz-13-06.svg"/>
          <p:cNvPicPr>
            <a:picLocks noChangeAspect="1"/>
          </p:cNvPicPr>
          <p:nvPr/>
        </p:nvPicPr>
        <p:blipFill>
          <a:blip r:embed="rId4">
            <a:extLst/>
          </a:blip>
          <a:stretch>
            <a:fillRect/>
          </a:stretch>
        </p:blipFill>
        <p:spPr>
          <a:xfrm>
            <a:off x="1231900" y="6019800"/>
            <a:ext cx="711200" cy="685800"/>
          </a:xfrm>
          <a:prstGeom prst="rect">
            <a:avLst/>
          </a:prstGeom>
          <a:ln w="12700">
            <a:miter lim="400000"/>
          </a:ln>
        </p:spPr>
      </p:pic>
      <p:pic>
        <p:nvPicPr>
          <p:cNvPr id="553" name="viz-13-07.svg" descr="viz-13-07.svg"/>
          <p:cNvPicPr>
            <a:picLocks noChangeAspect="1"/>
          </p:cNvPicPr>
          <p:nvPr/>
        </p:nvPicPr>
        <p:blipFill>
          <a:blip r:embed="rId4">
            <a:extLst/>
          </a:blip>
          <a:stretch>
            <a:fillRect/>
          </a:stretch>
        </p:blipFill>
        <p:spPr>
          <a:xfrm>
            <a:off x="2070100" y="6019800"/>
            <a:ext cx="711200" cy="685800"/>
          </a:xfrm>
          <a:prstGeom prst="rect">
            <a:avLst/>
          </a:prstGeom>
          <a:ln w="12700">
            <a:miter lim="400000"/>
          </a:ln>
        </p:spPr>
      </p:pic>
      <p:pic>
        <p:nvPicPr>
          <p:cNvPr id="554" name="viz-13-08.svg" descr="viz-13-08.svg"/>
          <p:cNvPicPr>
            <a:picLocks noChangeAspect="1"/>
          </p:cNvPicPr>
          <p:nvPr/>
        </p:nvPicPr>
        <p:blipFill>
          <a:blip r:embed="rId4">
            <a:extLst/>
          </a:blip>
          <a:stretch>
            <a:fillRect/>
          </a:stretch>
        </p:blipFill>
        <p:spPr>
          <a:xfrm>
            <a:off x="2908300" y="6019800"/>
            <a:ext cx="711200" cy="685800"/>
          </a:xfrm>
          <a:prstGeom prst="rect">
            <a:avLst/>
          </a:prstGeom>
          <a:ln w="12700">
            <a:miter lim="400000"/>
          </a:ln>
        </p:spPr>
      </p:pic>
      <p:pic>
        <p:nvPicPr>
          <p:cNvPr id="555" name="viz-13-09.svg" descr="viz-13-09.svg"/>
          <p:cNvPicPr>
            <a:picLocks noChangeAspect="1"/>
          </p:cNvPicPr>
          <p:nvPr/>
        </p:nvPicPr>
        <p:blipFill>
          <a:blip r:embed="rId4">
            <a:extLst/>
          </a:blip>
          <a:stretch>
            <a:fillRect/>
          </a:stretch>
        </p:blipFill>
        <p:spPr>
          <a:xfrm>
            <a:off x="3746500" y="6019800"/>
            <a:ext cx="711200" cy="685800"/>
          </a:xfrm>
          <a:prstGeom prst="rect">
            <a:avLst/>
          </a:prstGeom>
          <a:ln w="12700">
            <a:miter lim="400000"/>
          </a:ln>
        </p:spPr>
      </p:pic>
      <p:pic>
        <p:nvPicPr>
          <p:cNvPr id="556" name="viz-13-10.svg" descr="viz-13-10.svg"/>
          <p:cNvPicPr>
            <a:picLocks noChangeAspect="1"/>
          </p:cNvPicPr>
          <p:nvPr/>
        </p:nvPicPr>
        <p:blipFill>
          <a:blip r:embed="rId4">
            <a:extLst/>
          </a:blip>
          <a:stretch>
            <a:fillRect/>
          </a:stretch>
        </p:blipFill>
        <p:spPr>
          <a:xfrm>
            <a:off x="4584700" y="6019800"/>
            <a:ext cx="711200" cy="685800"/>
          </a:xfrm>
          <a:prstGeom prst="rect">
            <a:avLst/>
          </a:prstGeom>
          <a:ln w="12700">
            <a:miter lim="400000"/>
          </a:ln>
        </p:spPr>
      </p:pic>
      <p:pic>
        <p:nvPicPr>
          <p:cNvPr id="557" name="viz-13-11.svg" descr="viz-13-11.svg"/>
          <p:cNvPicPr>
            <a:picLocks noChangeAspect="1"/>
          </p:cNvPicPr>
          <p:nvPr/>
        </p:nvPicPr>
        <p:blipFill>
          <a:blip r:embed="rId4">
            <a:extLst/>
          </a:blip>
          <a:stretch>
            <a:fillRect/>
          </a:stretch>
        </p:blipFill>
        <p:spPr>
          <a:xfrm>
            <a:off x="5422900" y="6019800"/>
            <a:ext cx="711200" cy="685800"/>
          </a:xfrm>
          <a:prstGeom prst="rect">
            <a:avLst/>
          </a:prstGeom>
          <a:ln w="12700">
            <a:miter lim="400000"/>
          </a:ln>
        </p:spPr>
      </p:pic>
      <p:pic>
        <p:nvPicPr>
          <p:cNvPr id="558" name="viz-13-12.svg" descr="viz-13-12.svg"/>
          <p:cNvPicPr>
            <a:picLocks noChangeAspect="1"/>
          </p:cNvPicPr>
          <p:nvPr/>
        </p:nvPicPr>
        <p:blipFill>
          <a:blip r:embed="rId4">
            <a:extLst/>
          </a:blip>
          <a:stretch>
            <a:fillRect/>
          </a:stretch>
        </p:blipFill>
        <p:spPr>
          <a:xfrm>
            <a:off x="1231900" y="6858000"/>
            <a:ext cx="711200" cy="685800"/>
          </a:xfrm>
          <a:prstGeom prst="rect">
            <a:avLst/>
          </a:prstGeom>
          <a:ln w="12700">
            <a:miter lim="400000"/>
          </a:ln>
        </p:spPr>
      </p:pic>
      <p:pic>
        <p:nvPicPr>
          <p:cNvPr id="559" name="viz-13-13.svg" descr="viz-13-13.svg"/>
          <p:cNvPicPr>
            <a:picLocks noChangeAspect="1"/>
          </p:cNvPicPr>
          <p:nvPr/>
        </p:nvPicPr>
        <p:blipFill>
          <a:blip r:embed="rId4">
            <a:extLst/>
          </a:blip>
          <a:stretch>
            <a:fillRect/>
          </a:stretch>
        </p:blipFill>
        <p:spPr>
          <a:xfrm>
            <a:off x="2070100" y="6858000"/>
            <a:ext cx="711200" cy="685800"/>
          </a:xfrm>
          <a:prstGeom prst="rect">
            <a:avLst/>
          </a:prstGeom>
          <a:ln w="12700">
            <a:miter lim="400000"/>
          </a:ln>
        </p:spPr>
      </p:pic>
      <p:pic>
        <p:nvPicPr>
          <p:cNvPr id="560" name="viz-13-14.svg" descr="viz-13-14.svg"/>
          <p:cNvPicPr>
            <a:picLocks noChangeAspect="1"/>
          </p:cNvPicPr>
          <p:nvPr/>
        </p:nvPicPr>
        <p:blipFill>
          <a:blip r:embed="rId4">
            <a:extLst/>
          </a:blip>
          <a:stretch>
            <a:fillRect/>
          </a:stretch>
        </p:blipFill>
        <p:spPr>
          <a:xfrm>
            <a:off x="2908300" y="6858000"/>
            <a:ext cx="711200" cy="685800"/>
          </a:xfrm>
          <a:prstGeom prst="rect">
            <a:avLst/>
          </a:prstGeom>
          <a:ln w="12700">
            <a:miter lim="400000"/>
          </a:ln>
        </p:spPr>
      </p:pic>
      <p:pic>
        <p:nvPicPr>
          <p:cNvPr id="561" name="viz-13-15.svg" descr="viz-13-15.svg"/>
          <p:cNvPicPr>
            <a:picLocks noChangeAspect="1"/>
          </p:cNvPicPr>
          <p:nvPr/>
        </p:nvPicPr>
        <p:blipFill>
          <a:blip r:embed="rId4">
            <a:extLst/>
          </a:blip>
          <a:stretch>
            <a:fillRect/>
          </a:stretch>
        </p:blipFill>
        <p:spPr>
          <a:xfrm>
            <a:off x="3746500" y="6858000"/>
            <a:ext cx="711200" cy="685800"/>
          </a:xfrm>
          <a:prstGeom prst="rect">
            <a:avLst/>
          </a:prstGeom>
          <a:ln w="12700">
            <a:miter lim="400000"/>
          </a:ln>
        </p:spPr>
      </p:pic>
      <p:pic>
        <p:nvPicPr>
          <p:cNvPr id="562" name="viz-13-16.svg" descr="viz-13-16.svg"/>
          <p:cNvPicPr>
            <a:picLocks noChangeAspect="1"/>
          </p:cNvPicPr>
          <p:nvPr/>
        </p:nvPicPr>
        <p:blipFill>
          <a:blip r:embed="rId4">
            <a:extLst/>
          </a:blip>
          <a:stretch>
            <a:fillRect/>
          </a:stretch>
        </p:blipFill>
        <p:spPr>
          <a:xfrm>
            <a:off x="4584700" y="6858000"/>
            <a:ext cx="711200" cy="685800"/>
          </a:xfrm>
          <a:prstGeom prst="rect">
            <a:avLst/>
          </a:prstGeom>
          <a:ln w="12700">
            <a:miter lim="400000"/>
          </a:ln>
        </p:spPr>
      </p:pic>
      <p:pic>
        <p:nvPicPr>
          <p:cNvPr id="563" name="viz-13-17.svg" descr="viz-13-17.svg"/>
          <p:cNvPicPr>
            <a:picLocks noChangeAspect="1"/>
          </p:cNvPicPr>
          <p:nvPr/>
        </p:nvPicPr>
        <p:blipFill>
          <a:blip r:embed="rId4">
            <a:extLst/>
          </a:blip>
          <a:stretch>
            <a:fillRect/>
          </a:stretch>
        </p:blipFill>
        <p:spPr>
          <a:xfrm>
            <a:off x="5422900" y="6858000"/>
            <a:ext cx="711200" cy="685800"/>
          </a:xfrm>
          <a:prstGeom prst="rect">
            <a:avLst/>
          </a:prstGeom>
          <a:ln w="12700">
            <a:miter lim="400000"/>
          </a:ln>
        </p:spPr>
      </p:pic>
      <p:pic>
        <p:nvPicPr>
          <p:cNvPr id="564" name="viz-13-18.svg" descr="viz-13-18.svg"/>
          <p:cNvPicPr>
            <a:picLocks noChangeAspect="1"/>
          </p:cNvPicPr>
          <p:nvPr/>
        </p:nvPicPr>
        <p:blipFill>
          <a:blip r:embed="rId4">
            <a:extLst/>
          </a:blip>
          <a:stretch>
            <a:fillRect/>
          </a:stretch>
        </p:blipFill>
        <p:spPr>
          <a:xfrm>
            <a:off x="1231900" y="7696200"/>
            <a:ext cx="711200" cy="685800"/>
          </a:xfrm>
          <a:prstGeom prst="rect">
            <a:avLst/>
          </a:prstGeom>
          <a:ln w="12700">
            <a:miter lim="400000"/>
          </a:ln>
        </p:spPr>
      </p:pic>
      <p:pic>
        <p:nvPicPr>
          <p:cNvPr id="565" name="viz-13-19.svg" descr="viz-13-19.svg"/>
          <p:cNvPicPr>
            <a:picLocks noChangeAspect="1"/>
          </p:cNvPicPr>
          <p:nvPr/>
        </p:nvPicPr>
        <p:blipFill>
          <a:blip r:embed="rId4">
            <a:extLst/>
          </a:blip>
          <a:stretch>
            <a:fillRect/>
          </a:stretch>
        </p:blipFill>
        <p:spPr>
          <a:xfrm>
            <a:off x="2070100" y="7696200"/>
            <a:ext cx="711200" cy="685800"/>
          </a:xfrm>
          <a:prstGeom prst="rect">
            <a:avLst/>
          </a:prstGeom>
          <a:ln w="12700">
            <a:miter lim="400000"/>
          </a:ln>
        </p:spPr>
      </p:pic>
      <p:pic>
        <p:nvPicPr>
          <p:cNvPr id="566" name="viz-13-20.svg" descr="viz-13-20.svg"/>
          <p:cNvPicPr>
            <a:picLocks noChangeAspect="1"/>
          </p:cNvPicPr>
          <p:nvPr/>
        </p:nvPicPr>
        <p:blipFill>
          <a:blip r:embed="rId4">
            <a:extLst/>
          </a:blip>
          <a:stretch>
            <a:fillRect/>
          </a:stretch>
        </p:blipFill>
        <p:spPr>
          <a:xfrm>
            <a:off x="2908300" y="7696200"/>
            <a:ext cx="711200" cy="685800"/>
          </a:xfrm>
          <a:prstGeom prst="rect">
            <a:avLst/>
          </a:prstGeom>
          <a:ln w="12700">
            <a:miter lim="400000"/>
          </a:ln>
        </p:spPr>
      </p:pic>
      <p:pic>
        <p:nvPicPr>
          <p:cNvPr id="567" name="viz-13-21.svg" descr="viz-13-21.svg"/>
          <p:cNvPicPr>
            <a:picLocks noChangeAspect="1"/>
          </p:cNvPicPr>
          <p:nvPr/>
        </p:nvPicPr>
        <p:blipFill>
          <a:blip r:embed="rId4">
            <a:extLst/>
          </a:blip>
          <a:stretch>
            <a:fillRect/>
          </a:stretch>
        </p:blipFill>
        <p:spPr>
          <a:xfrm>
            <a:off x="3746500" y="7696200"/>
            <a:ext cx="711200" cy="685800"/>
          </a:xfrm>
          <a:prstGeom prst="rect">
            <a:avLst/>
          </a:prstGeom>
          <a:ln w="12700">
            <a:miter lim="400000"/>
          </a:ln>
        </p:spPr>
      </p:pic>
      <p:pic>
        <p:nvPicPr>
          <p:cNvPr id="568" name="viz-13-22.svg" descr="viz-13-22.svg"/>
          <p:cNvPicPr>
            <a:picLocks noChangeAspect="1"/>
          </p:cNvPicPr>
          <p:nvPr/>
        </p:nvPicPr>
        <p:blipFill>
          <a:blip r:embed="rId4">
            <a:extLst/>
          </a:blip>
          <a:stretch>
            <a:fillRect/>
          </a:stretch>
        </p:blipFill>
        <p:spPr>
          <a:xfrm>
            <a:off x="4584700" y="7696200"/>
            <a:ext cx="711200" cy="685800"/>
          </a:xfrm>
          <a:prstGeom prst="rect">
            <a:avLst/>
          </a:prstGeom>
          <a:ln w="12700">
            <a:miter lim="400000"/>
          </a:ln>
        </p:spPr>
      </p:pic>
      <p:pic>
        <p:nvPicPr>
          <p:cNvPr id="569" name="viz-13-23.svg" descr="viz-13-23.svg"/>
          <p:cNvPicPr>
            <a:picLocks noChangeAspect="1"/>
          </p:cNvPicPr>
          <p:nvPr/>
        </p:nvPicPr>
        <p:blipFill>
          <a:blip r:embed="rId4">
            <a:extLst/>
          </a:blip>
          <a:stretch>
            <a:fillRect/>
          </a:stretch>
        </p:blipFill>
        <p:spPr>
          <a:xfrm>
            <a:off x="5422900" y="7696200"/>
            <a:ext cx="711200" cy="685800"/>
          </a:xfrm>
          <a:prstGeom prst="rect">
            <a:avLst/>
          </a:prstGeom>
          <a:ln w="12700">
            <a:miter lim="400000"/>
          </a:ln>
        </p:spPr>
      </p:pic>
      <p:pic>
        <p:nvPicPr>
          <p:cNvPr id="570" name="viz-13-24.svg" descr="viz-13-24.svg"/>
          <p:cNvPicPr>
            <a:picLocks noChangeAspect="1"/>
          </p:cNvPicPr>
          <p:nvPr/>
        </p:nvPicPr>
        <p:blipFill>
          <a:blip r:embed="rId4">
            <a:extLst/>
          </a:blip>
          <a:stretch>
            <a:fillRect/>
          </a:stretch>
        </p:blipFill>
        <p:spPr>
          <a:xfrm>
            <a:off x="1231900" y="8534400"/>
            <a:ext cx="711200" cy="685800"/>
          </a:xfrm>
          <a:prstGeom prst="rect">
            <a:avLst/>
          </a:prstGeom>
          <a:ln w="12700">
            <a:miter lim="400000"/>
          </a:ln>
        </p:spPr>
      </p:pic>
      <p:pic>
        <p:nvPicPr>
          <p:cNvPr id="571" name="viz-13-25.svg" descr="viz-13-25.svg"/>
          <p:cNvPicPr>
            <a:picLocks noChangeAspect="1"/>
          </p:cNvPicPr>
          <p:nvPr/>
        </p:nvPicPr>
        <p:blipFill>
          <a:blip r:embed="rId4">
            <a:extLst/>
          </a:blip>
          <a:stretch>
            <a:fillRect/>
          </a:stretch>
        </p:blipFill>
        <p:spPr>
          <a:xfrm>
            <a:off x="2070100" y="8534400"/>
            <a:ext cx="711200" cy="685800"/>
          </a:xfrm>
          <a:prstGeom prst="rect">
            <a:avLst/>
          </a:prstGeom>
          <a:ln w="12700">
            <a:miter lim="400000"/>
          </a:ln>
        </p:spPr>
      </p:pic>
      <p:pic>
        <p:nvPicPr>
          <p:cNvPr id="572" name="viz-13-26.svg" descr="viz-13-26.svg"/>
          <p:cNvPicPr>
            <a:picLocks noChangeAspect="1"/>
          </p:cNvPicPr>
          <p:nvPr/>
        </p:nvPicPr>
        <p:blipFill>
          <a:blip r:embed="rId4">
            <a:extLst/>
          </a:blip>
          <a:stretch>
            <a:fillRect/>
          </a:stretch>
        </p:blipFill>
        <p:spPr>
          <a:xfrm>
            <a:off x="2908300" y="8534400"/>
            <a:ext cx="711200" cy="685800"/>
          </a:xfrm>
          <a:prstGeom prst="rect">
            <a:avLst/>
          </a:prstGeom>
          <a:ln w="12700">
            <a:miter lim="400000"/>
          </a:ln>
        </p:spPr>
      </p:pic>
      <p:pic>
        <p:nvPicPr>
          <p:cNvPr id="573" name="viz-13-27.svg" descr="viz-13-27.svg"/>
          <p:cNvPicPr>
            <a:picLocks noChangeAspect="1"/>
          </p:cNvPicPr>
          <p:nvPr/>
        </p:nvPicPr>
        <p:blipFill>
          <a:blip r:embed="rId4">
            <a:extLst/>
          </a:blip>
          <a:stretch>
            <a:fillRect/>
          </a:stretch>
        </p:blipFill>
        <p:spPr>
          <a:xfrm>
            <a:off x="3746500" y="8534400"/>
            <a:ext cx="711200" cy="685800"/>
          </a:xfrm>
          <a:prstGeom prst="rect">
            <a:avLst/>
          </a:prstGeom>
          <a:ln w="12700">
            <a:miter lim="400000"/>
          </a:ln>
        </p:spPr>
      </p:pic>
      <p:pic>
        <p:nvPicPr>
          <p:cNvPr id="574" name="viz-13-28.svg" descr="viz-13-28.svg"/>
          <p:cNvPicPr>
            <a:picLocks noChangeAspect="1"/>
          </p:cNvPicPr>
          <p:nvPr/>
        </p:nvPicPr>
        <p:blipFill>
          <a:blip r:embed="rId4">
            <a:extLst/>
          </a:blip>
          <a:stretch>
            <a:fillRect/>
          </a:stretch>
        </p:blipFill>
        <p:spPr>
          <a:xfrm>
            <a:off x="4584700" y="8534400"/>
            <a:ext cx="711200" cy="685800"/>
          </a:xfrm>
          <a:prstGeom prst="rect">
            <a:avLst/>
          </a:prstGeom>
          <a:ln w="12700">
            <a:miter lim="400000"/>
          </a:ln>
        </p:spPr>
      </p:pic>
      <p:pic>
        <p:nvPicPr>
          <p:cNvPr id="575" name="viz-13-29.svg" descr="viz-13-29.svg"/>
          <p:cNvPicPr>
            <a:picLocks noChangeAspect="1"/>
          </p:cNvPicPr>
          <p:nvPr/>
        </p:nvPicPr>
        <p:blipFill>
          <a:blip r:embed="rId4">
            <a:extLst/>
          </a:blip>
          <a:stretch>
            <a:fillRect/>
          </a:stretch>
        </p:blipFill>
        <p:spPr>
          <a:xfrm>
            <a:off x="5422900" y="8534400"/>
            <a:ext cx="711200" cy="685800"/>
          </a:xfrm>
          <a:prstGeom prst="rect">
            <a:avLst/>
          </a:prstGeom>
          <a:ln w="12700">
            <a:miter lim="400000"/>
          </a:ln>
        </p:spPr>
      </p:pic>
      <p:pic>
        <p:nvPicPr>
          <p:cNvPr id="576" name="viz-13-30.svg" descr="viz-13-30.svg"/>
          <p:cNvPicPr>
            <a:picLocks noChangeAspect="1"/>
          </p:cNvPicPr>
          <p:nvPr/>
        </p:nvPicPr>
        <p:blipFill>
          <a:blip r:embed="rId5">
            <a:extLst/>
          </a:blip>
          <a:stretch>
            <a:fillRect/>
          </a:stretch>
        </p:blipFill>
        <p:spPr>
          <a:xfrm>
            <a:off x="6756400" y="6375400"/>
            <a:ext cx="838200" cy="812800"/>
          </a:xfrm>
          <a:prstGeom prst="rect">
            <a:avLst/>
          </a:prstGeom>
          <a:ln w="12700">
            <a:miter lim="400000"/>
          </a:ln>
        </p:spPr>
      </p:pic>
      <p:pic>
        <p:nvPicPr>
          <p:cNvPr id="577" name="viz-13-31.svg" descr="viz-13-31.svg"/>
          <p:cNvPicPr>
            <a:picLocks noChangeAspect="1"/>
          </p:cNvPicPr>
          <p:nvPr/>
        </p:nvPicPr>
        <p:blipFill>
          <a:blip r:embed="rId5">
            <a:extLst/>
          </a:blip>
          <a:stretch>
            <a:fillRect/>
          </a:stretch>
        </p:blipFill>
        <p:spPr>
          <a:xfrm>
            <a:off x="7772400" y="6375400"/>
            <a:ext cx="838200" cy="812800"/>
          </a:xfrm>
          <a:prstGeom prst="rect">
            <a:avLst/>
          </a:prstGeom>
          <a:ln w="12700">
            <a:miter lim="400000"/>
          </a:ln>
        </p:spPr>
      </p:pic>
      <p:pic>
        <p:nvPicPr>
          <p:cNvPr id="578" name="viz-13-32.svg" descr="viz-13-32.svg"/>
          <p:cNvPicPr>
            <a:picLocks noChangeAspect="1"/>
          </p:cNvPicPr>
          <p:nvPr/>
        </p:nvPicPr>
        <p:blipFill>
          <a:blip r:embed="rId5">
            <a:extLst/>
          </a:blip>
          <a:stretch>
            <a:fillRect/>
          </a:stretch>
        </p:blipFill>
        <p:spPr>
          <a:xfrm>
            <a:off x="8788400" y="6375400"/>
            <a:ext cx="838200" cy="812800"/>
          </a:xfrm>
          <a:prstGeom prst="rect">
            <a:avLst/>
          </a:prstGeom>
          <a:ln w="12700">
            <a:miter lim="400000"/>
          </a:ln>
        </p:spPr>
      </p:pic>
      <p:pic>
        <p:nvPicPr>
          <p:cNvPr id="579" name="viz-13-33.svg" descr="viz-13-33.svg"/>
          <p:cNvPicPr>
            <a:picLocks noChangeAspect="1"/>
          </p:cNvPicPr>
          <p:nvPr/>
        </p:nvPicPr>
        <p:blipFill>
          <a:blip r:embed="rId5">
            <a:extLst/>
          </a:blip>
          <a:stretch>
            <a:fillRect/>
          </a:stretch>
        </p:blipFill>
        <p:spPr>
          <a:xfrm>
            <a:off x="9804400" y="6375400"/>
            <a:ext cx="838200" cy="812800"/>
          </a:xfrm>
          <a:prstGeom prst="rect">
            <a:avLst/>
          </a:prstGeom>
          <a:ln w="12700">
            <a:miter lim="400000"/>
          </a:ln>
        </p:spPr>
      </p:pic>
      <p:pic>
        <p:nvPicPr>
          <p:cNvPr id="580" name="viz-13-34.svg" descr="viz-13-34.svg"/>
          <p:cNvPicPr>
            <a:picLocks noChangeAspect="1"/>
          </p:cNvPicPr>
          <p:nvPr/>
        </p:nvPicPr>
        <p:blipFill>
          <a:blip r:embed="rId5">
            <a:extLst/>
          </a:blip>
          <a:stretch>
            <a:fillRect/>
          </a:stretch>
        </p:blipFill>
        <p:spPr>
          <a:xfrm>
            <a:off x="10820400" y="6375400"/>
            <a:ext cx="838200" cy="812800"/>
          </a:xfrm>
          <a:prstGeom prst="rect">
            <a:avLst/>
          </a:prstGeom>
          <a:ln w="12700">
            <a:miter lim="400000"/>
          </a:ln>
        </p:spPr>
      </p:pic>
      <p:pic>
        <p:nvPicPr>
          <p:cNvPr id="581" name="viz-13-35.svg" descr="viz-13-35.svg"/>
          <p:cNvPicPr>
            <a:picLocks noChangeAspect="1"/>
          </p:cNvPicPr>
          <p:nvPr/>
        </p:nvPicPr>
        <p:blipFill>
          <a:blip r:embed="rId5">
            <a:extLst/>
          </a:blip>
          <a:stretch>
            <a:fillRect/>
          </a:stretch>
        </p:blipFill>
        <p:spPr>
          <a:xfrm>
            <a:off x="6756400" y="7391400"/>
            <a:ext cx="838200" cy="812800"/>
          </a:xfrm>
          <a:prstGeom prst="rect">
            <a:avLst/>
          </a:prstGeom>
          <a:ln w="12700">
            <a:miter lim="400000"/>
          </a:ln>
        </p:spPr>
      </p:pic>
      <p:pic>
        <p:nvPicPr>
          <p:cNvPr id="582" name="viz-13-36.svg" descr="viz-13-36.svg"/>
          <p:cNvPicPr>
            <a:picLocks noChangeAspect="1"/>
          </p:cNvPicPr>
          <p:nvPr/>
        </p:nvPicPr>
        <p:blipFill>
          <a:blip r:embed="rId5">
            <a:extLst/>
          </a:blip>
          <a:stretch>
            <a:fillRect/>
          </a:stretch>
        </p:blipFill>
        <p:spPr>
          <a:xfrm>
            <a:off x="7772400" y="7391400"/>
            <a:ext cx="838200" cy="812800"/>
          </a:xfrm>
          <a:prstGeom prst="rect">
            <a:avLst/>
          </a:prstGeom>
          <a:ln w="12700">
            <a:miter lim="400000"/>
          </a:ln>
        </p:spPr>
      </p:pic>
      <p:pic>
        <p:nvPicPr>
          <p:cNvPr id="583" name="viz-13-37.svg" descr="viz-13-37.svg"/>
          <p:cNvPicPr>
            <a:picLocks noChangeAspect="1"/>
          </p:cNvPicPr>
          <p:nvPr/>
        </p:nvPicPr>
        <p:blipFill>
          <a:blip r:embed="rId5">
            <a:extLst/>
          </a:blip>
          <a:stretch>
            <a:fillRect/>
          </a:stretch>
        </p:blipFill>
        <p:spPr>
          <a:xfrm>
            <a:off x="8788400" y="7391400"/>
            <a:ext cx="838200" cy="812800"/>
          </a:xfrm>
          <a:prstGeom prst="rect">
            <a:avLst/>
          </a:prstGeom>
          <a:ln w="12700">
            <a:miter lim="400000"/>
          </a:ln>
        </p:spPr>
      </p:pic>
      <p:pic>
        <p:nvPicPr>
          <p:cNvPr id="584" name="viz-13-38.svg" descr="viz-13-38.svg"/>
          <p:cNvPicPr>
            <a:picLocks noChangeAspect="1"/>
          </p:cNvPicPr>
          <p:nvPr/>
        </p:nvPicPr>
        <p:blipFill>
          <a:blip r:embed="rId5">
            <a:extLst/>
          </a:blip>
          <a:stretch>
            <a:fillRect/>
          </a:stretch>
        </p:blipFill>
        <p:spPr>
          <a:xfrm>
            <a:off x="9804400" y="7391400"/>
            <a:ext cx="838200" cy="812800"/>
          </a:xfrm>
          <a:prstGeom prst="rect">
            <a:avLst/>
          </a:prstGeom>
          <a:ln w="12700">
            <a:miter lim="400000"/>
          </a:ln>
        </p:spPr>
      </p:pic>
      <p:pic>
        <p:nvPicPr>
          <p:cNvPr id="585" name="viz-13-39.svg" descr="viz-13-39.svg"/>
          <p:cNvPicPr>
            <a:picLocks noChangeAspect="1"/>
          </p:cNvPicPr>
          <p:nvPr/>
        </p:nvPicPr>
        <p:blipFill>
          <a:blip r:embed="rId5">
            <a:extLst/>
          </a:blip>
          <a:stretch>
            <a:fillRect/>
          </a:stretch>
        </p:blipFill>
        <p:spPr>
          <a:xfrm>
            <a:off x="10820400" y="7391400"/>
            <a:ext cx="838200" cy="812800"/>
          </a:xfrm>
          <a:prstGeom prst="rect">
            <a:avLst/>
          </a:prstGeom>
          <a:ln w="12700">
            <a:miter lim="400000"/>
          </a:ln>
        </p:spPr>
      </p:pic>
      <p:pic>
        <p:nvPicPr>
          <p:cNvPr id="586" name="viz-13-40.svg" descr="viz-13-40.svg"/>
          <p:cNvPicPr>
            <a:picLocks noChangeAspect="1"/>
          </p:cNvPicPr>
          <p:nvPr/>
        </p:nvPicPr>
        <p:blipFill>
          <a:blip r:embed="rId5">
            <a:extLst/>
          </a:blip>
          <a:stretch>
            <a:fillRect/>
          </a:stretch>
        </p:blipFill>
        <p:spPr>
          <a:xfrm>
            <a:off x="6756400" y="8407400"/>
            <a:ext cx="838200" cy="812800"/>
          </a:xfrm>
          <a:prstGeom prst="rect">
            <a:avLst/>
          </a:prstGeom>
          <a:ln w="12700">
            <a:miter lim="400000"/>
          </a:ln>
        </p:spPr>
      </p:pic>
      <p:pic>
        <p:nvPicPr>
          <p:cNvPr id="587" name="viz-13-41.svg" descr="viz-13-41.svg"/>
          <p:cNvPicPr>
            <a:picLocks noChangeAspect="1"/>
          </p:cNvPicPr>
          <p:nvPr/>
        </p:nvPicPr>
        <p:blipFill>
          <a:blip r:embed="rId5">
            <a:extLst/>
          </a:blip>
          <a:stretch>
            <a:fillRect/>
          </a:stretch>
        </p:blipFill>
        <p:spPr>
          <a:xfrm>
            <a:off x="7772400" y="8407400"/>
            <a:ext cx="838200" cy="812800"/>
          </a:xfrm>
          <a:prstGeom prst="rect">
            <a:avLst/>
          </a:prstGeom>
          <a:ln w="12700">
            <a:miter lim="400000"/>
          </a:ln>
        </p:spPr>
      </p:pic>
      <p:pic>
        <p:nvPicPr>
          <p:cNvPr id="588" name="viz-13-42.svg" descr="viz-13-42.svg"/>
          <p:cNvPicPr>
            <a:picLocks noChangeAspect="1"/>
          </p:cNvPicPr>
          <p:nvPr/>
        </p:nvPicPr>
        <p:blipFill>
          <a:blip r:embed="rId5">
            <a:extLst/>
          </a:blip>
          <a:stretch>
            <a:fillRect/>
          </a:stretch>
        </p:blipFill>
        <p:spPr>
          <a:xfrm>
            <a:off x="8788400" y="8407400"/>
            <a:ext cx="838200" cy="812800"/>
          </a:xfrm>
          <a:prstGeom prst="rect">
            <a:avLst/>
          </a:prstGeom>
          <a:ln w="12700">
            <a:miter lim="400000"/>
          </a:ln>
        </p:spPr>
      </p:pic>
      <p:pic>
        <p:nvPicPr>
          <p:cNvPr id="589" name="viz-13-43.svg" descr="viz-13-43.svg"/>
          <p:cNvPicPr>
            <a:picLocks noChangeAspect="1"/>
          </p:cNvPicPr>
          <p:nvPr/>
        </p:nvPicPr>
        <p:blipFill>
          <a:blip r:embed="rId5">
            <a:extLst/>
          </a:blip>
          <a:stretch>
            <a:fillRect/>
          </a:stretch>
        </p:blipFill>
        <p:spPr>
          <a:xfrm>
            <a:off x="9804400" y="8407400"/>
            <a:ext cx="838200" cy="812800"/>
          </a:xfrm>
          <a:prstGeom prst="rect">
            <a:avLst/>
          </a:prstGeom>
          <a:ln w="12700">
            <a:miter lim="400000"/>
          </a:ln>
        </p:spPr>
      </p:pic>
      <p:pic>
        <p:nvPicPr>
          <p:cNvPr id="590" name="viz-13-44.svg" descr="viz-13-44.svg"/>
          <p:cNvPicPr>
            <a:picLocks noChangeAspect="1"/>
          </p:cNvPicPr>
          <p:nvPr/>
        </p:nvPicPr>
        <p:blipFill>
          <a:blip r:embed="rId6">
            <a:extLst/>
          </a:blip>
          <a:stretch>
            <a:fillRect/>
          </a:stretch>
        </p:blipFill>
        <p:spPr>
          <a:xfrm>
            <a:off x="12242800" y="4800600"/>
            <a:ext cx="5397500" cy="876300"/>
          </a:xfrm>
          <a:prstGeom prst="rect">
            <a:avLst/>
          </a:prstGeom>
          <a:ln w="12700">
            <a:miter lim="400000"/>
          </a:ln>
        </p:spPr>
      </p:pic>
      <p:pic>
        <p:nvPicPr>
          <p:cNvPr id="591" name="viz-13-45.svg" descr="viz-13-45.svg"/>
          <p:cNvPicPr>
            <a:picLocks noChangeAspect="1"/>
          </p:cNvPicPr>
          <p:nvPr/>
        </p:nvPicPr>
        <p:blipFill>
          <a:blip r:embed="rId7">
            <a:extLst/>
          </a:blip>
          <a:stretch>
            <a:fillRect/>
          </a:stretch>
        </p:blipFill>
        <p:spPr>
          <a:xfrm>
            <a:off x="12242800" y="5511800"/>
            <a:ext cx="5397500" cy="876300"/>
          </a:xfrm>
          <a:prstGeom prst="rect">
            <a:avLst/>
          </a:prstGeom>
          <a:ln w="12700">
            <a:miter lim="400000"/>
          </a:ln>
        </p:spPr>
      </p:pic>
      <p:pic>
        <p:nvPicPr>
          <p:cNvPr id="592" name="viz-13-46.svg" descr="viz-13-46.svg"/>
          <p:cNvPicPr>
            <a:picLocks noChangeAspect="1"/>
          </p:cNvPicPr>
          <p:nvPr/>
        </p:nvPicPr>
        <p:blipFill>
          <a:blip r:embed="rId8">
            <a:extLst/>
          </a:blip>
          <a:stretch>
            <a:fillRect/>
          </a:stretch>
        </p:blipFill>
        <p:spPr>
          <a:xfrm>
            <a:off x="12242800" y="6223000"/>
            <a:ext cx="5397500" cy="876300"/>
          </a:xfrm>
          <a:prstGeom prst="rect">
            <a:avLst/>
          </a:prstGeom>
          <a:ln w="12700">
            <a:miter lim="400000"/>
          </a:ln>
        </p:spPr>
      </p:pic>
      <p:pic>
        <p:nvPicPr>
          <p:cNvPr id="593" name="viz-13-47.svg" descr="viz-13-47.svg"/>
          <p:cNvPicPr>
            <a:picLocks noChangeAspect="1"/>
          </p:cNvPicPr>
          <p:nvPr/>
        </p:nvPicPr>
        <p:blipFill>
          <a:blip r:embed="rId9">
            <a:extLst/>
          </a:blip>
          <a:stretch>
            <a:fillRect/>
          </a:stretch>
        </p:blipFill>
        <p:spPr>
          <a:xfrm>
            <a:off x="12242800" y="6934200"/>
            <a:ext cx="5397500" cy="876300"/>
          </a:xfrm>
          <a:prstGeom prst="rect">
            <a:avLst/>
          </a:prstGeom>
          <a:ln w="12700">
            <a:miter lim="400000"/>
          </a:ln>
        </p:spPr>
      </p:pic>
      <p:pic>
        <p:nvPicPr>
          <p:cNvPr id="594" name="viz-13-48.svg" descr="viz-13-48.svg"/>
          <p:cNvPicPr>
            <a:picLocks noChangeAspect="1"/>
          </p:cNvPicPr>
          <p:nvPr/>
        </p:nvPicPr>
        <p:blipFill>
          <a:blip r:embed="rId10">
            <a:extLst/>
          </a:blip>
          <a:stretch>
            <a:fillRect/>
          </a:stretch>
        </p:blipFill>
        <p:spPr>
          <a:xfrm>
            <a:off x="12242800" y="7645400"/>
            <a:ext cx="5397500" cy="876300"/>
          </a:xfrm>
          <a:prstGeom prst="rect">
            <a:avLst/>
          </a:prstGeom>
          <a:ln w="12700">
            <a:miter lim="400000"/>
          </a:ln>
        </p:spPr>
      </p:pic>
      <p:pic>
        <p:nvPicPr>
          <p:cNvPr id="595" name="viz-13-49.svg" descr="viz-13-49.svg"/>
          <p:cNvPicPr>
            <a:picLocks noChangeAspect="1"/>
          </p:cNvPicPr>
          <p:nvPr/>
        </p:nvPicPr>
        <p:blipFill>
          <a:blip r:embed="rId11">
            <a:extLst/>
          </a:blip>
          <a:stretch>
            <a:fillRect/>
          </a:stretch>
        </p:blipFill>
        <p:spPr>
          <a:xfrm>
            <a:off x="12242800" y="8407400"/>
            <a:ext cx="5397500" cy="876300"/>
          </a:xfrm>
          <a:prstGeom prst="rect">
            <a:avLst/>
          </a:prstGeom>
          <a:ln w="12700">
            <a:miter lim="400000"/>
          </a:ln>
        </p:spPr>
      </p:pic>
      <p:pic>
        <p:nvPicPr>
          <p:cNvPr id="596" name="viz-13-50.svg" descr="viz-13-50.svg"/>
          <p:cNvPicPr>
            <a:picLocks noChangeAspect="1"/>
          </p:cNvPicPr>
          <p:nvPr/>
        </p:nvPicPr>
        <p:blipFill>
          <a:blip r:embed="rId12">
            <a:extLst/>
          </a:blip>
          <a:stretch>
            <a:fillRect/>
          </a:stretch>
        </p:blipFill>
        <p:spPr>
          <a:xfrm>
            <a:off x="17780000" y="4800600"/>
            <a:ext cx="5397500" cy="1485900"/>
          </a:xfrm>
          <a:prstGeom prst="rect">
            <a:avLst/>
          </a:prstGeom>
          <a:ln w="12700">
            <a:miter lim="400000"/>
          </a:ln>
        </p:spPr>
      </p:pic>
      <p:pic>
        <p:nvPicPr>
          <p:cNvPr id="597" name="viz-13-51.svg" descr="viz-13-51.svg"/>
          <p:cNvPicPr>
            <a:picLocks noChangeAspect="1"/>
          </p:cNvPicPr>
          <p:nvPr/>
        </p:nvPicPr>
        <p:blipFill>
          <a:blip r:embed="rId13">
            <a:extLst/>
          </a:blip>
          <a:stretch>
            <a:fillRect/>
          </a:stretch>
        </p:blipFill>
        <p:spPr>
          <a:xfrm>
            <a:off x="18186400" y="5181600"/>
            <a:ext cx="762000" cy="711200"/>
          </a:xfrm>
          <a:prstGeom prst="rect">
            <a:avLst/>
          </a:prstGeom>
          <a:ln w="12700">
            <a:miter lim="400000"/>
          </a:ln>
        </p:spPr>
      </p:pic>
      <p:pic>
        <p:nvPicPr>
          <p:cNvPr id="598" name="viz-13-52.svg" descr="viz-13-52.svg"/>
          <p:cNvPicPr>
            <a:picLocks noChangeAspect="1"/>
          </p:cNvPicPr>
          <p:nvPr/>
        </p:nvPicPr>
        <p:blipFill>
          <a:blip r:embed="rId14">
            <a:extLst/>
          </a:blip>
          <a:stretch>
            <a:fillRect/>
          </a:stretch>
        </p:blipFill>
        <p:spPr>
          <a:xfrm>
            <a:off x="17780000" y="6223000"/>
            <a:ext cx="5397500" cy="1485900"/>
          </a:xfrm>
          <a:prstGeom prst="rect">
            <a:avLst/>
          </a:prstGeom>
          <a:ln w="12700">
            <a:miter lim="400000"/>
          </a:ln>
        </p:spPr>
      </p:pic>
      <p:pic>
        <p:nvPicPr>
          <p:cNvPr id="599" name="viz-13-53.svg" descr="viz-13-53.svg"/>
          <p:cNvPicPr>
            <a:picLocks noChangeAspect="1"/>
          </p:cNvPicPr>
          <p:nvPr/>
        </p:nvPicPr>
        <p:blipFill>
          <a:blip r:embed="rId15">
            <a:extLst/>
          </a:blip>
          <a:stretch>
            <a:fillRect/>
          </a:stretch>
        </p:blipFill>
        <p:spPr>
          <a:xfrm>
            <a:off x="18211800" y="6578600"/>
            <a:ext cx="711200" cy="762000"/>
          </a:xfrm>
          <a:prstGeom prst="rect">
            <a:avLst/>
          </a:prstGeom>
          <a:ln w="12700">
            <a:miter lim="400000"/>
          </a:ln>
        </p:spPr>
      </p:pic>
      <p:pic>
        <p:nvPicPr>
          <p:cNvPr id="600" name="viz-13-54.svg" descr="viz-13-54.svg"/>
          <p:cNvPicPr>
            <a:picLocks noChangeAspect="1"/>
          </p:cNvPicPr>
          <p:nvPr/>
        </p:nvPicPr>
        <p:blipFill>
          <a:blip r:embed="rId16">
            <a:extLst/>
          </a:blip>
          <a:stretch>
            <a:fillRect/>
          </a:stretch>
        </p:blipFill>
        <p:spPr>
          <a:xfrm>
            <a:off x="17780000" y="7645400"/>
            <a:ext cx="5397500" cy="1485900"/>
          </a:xfrm>
          <a:prstGeom prst="rect">
            <a:avLst/>
          </a:prstGeom>
          <a:ln w="12700">
            <a:miter lim="400000"/>
          </a:ln>
        </p:spPr>
      </p:pic>
      <p:pic>
        <p:nvPicPr>
          <p:cNvPr id="601" name="viz-13-55.svg" descr="viz-13-55.svg"/>
          <p:cNvPicPr>
            <a:picLocks noChangeAspect="1"/>
          </p:cNvPicPr>
          <p:nvPr/>
        </p:nvPicPr>
        <p:blipFill>
          <a:blip r:embed="rId17">
            <a:extLst/>
          </a:blip>
          <a:stretch>
            <a:fillRect/>
          </a:stretch>
        </p:blipFill>
        <p:spPr>
          <a:xfrm>
            <a:off x="18186400" y="8001000"/>
            <a:ext cx="749300" cy="762000"/>
          </a:xfrm>
          <a:prstGeom prst="rect">
            <a:avLst/>
          </a:prstGeom>
          <a:ln w="12700">
            <a:miter lim="400000"/>
          </a:ln>
        </p:spPr>
      </p:pic>
      <p:sp>
        <p:nvSpPr>
          <p:cNvPr id="602" name="nginx"/>
          <p:cNvSpPr txBox="1"/>
          <p:nvPr/>
        </p:nvSpPr>
        <p:spPr>
          <a:xfrm>
            <a:off x="12598400" y="50164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nginx</a:t>
            </a:r>
          </a:p>
        </p:txBody>
      </p:sp>
      <p:sp>
        <p:nvSpPr>
          <p:cNvPr id="603" name="PHP-FPM"/>
          <p:cNvSpPr txBox="1"/>
          <p:nvPr/>
        </p:nvSpPr>
        <p:spPr>
          <a:xfrm>
            <a:off x="12598400" y="57276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PHP-FPM</a:t>
            </a:r>
          </a:p>
        </p:txBody>
      </p:sp>
      <p:sp>
        <p:nvSpPr>
          <p:cNvPr id="604" name="MariaDB"/>
          <p:cNvSpPr txBox="1"/>
          <p:nvPr/>
        </p:nvSpPr>
        <p:spPr>
          <a:xfrm>
            <a:off x="12598400" y="64388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MariaDB</a:t>
            </a:r>
          </a:p>
        </p:txBody>
      </p:sp>
      <p:sp>
        <p:nvSpPr>
          <p:cNvPr id="605" name="Valkey"/>
          <p:cNvSpPr txBox="1"/>
          <p:nvPr/>
        </p:nvSpPr>
        <p:spPr>
          <a:xfrm>
            <a:off x="12598400" y="71500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Valkey</a:t>
            </a:r>
          </a:p>
        </p:txBody>
      </p:sp>
      <p:sp>
        <p:nvSpPr>
          <p:cNvPr id="606" name="Security layers"/>
          <p:cNvSpPr txBox="1"/>
          <p:nvPr/>
        </p:nvSpPr>
        <p:spPr>
          <a:xfrm>
            <a:off x="12598400" y="78612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Security layers</a:t>
            </a:r>
          </a:p>
        </p:txBody>
      </p:sp>
      <p:sp>
        <p:nvSpPr>
          <p:cNvPr id="607" name="Linux"/>
          <p:cNvSpPr txBox="1"/>
          <p:nvPr/>
        </p:nvSpPr>
        <p:spPr>
          <a:xfrm>
            <a:off x="12598400" y="86232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FFFFFF"/>
                </a:solidFill>
                <a:latin typeface="Geist Regular SemiBold"/>
                <a:ea typeface="Geist Regular SemiBold"/>
                <a:cs typeface="Geist Regular SemiBold"/>
                <a:sym typeface="Geist Regular SemiBold"/>
              </a:defRPr>
            </a:lvl1pPr>
          </a:lstStyle>
          <a:p>
            <a:pPr/>
            <a:r>
              <a:t>Linux</a:t>
            </a:r>
          </a:p>
        </p:txBody>
      </p:sp>
      <p:sp>
        <p:nvSpPr>
          <p:cNvPr id="608" name="Analytics"/>
          <p:cNvSpPr txBox="1"/>
          <p:nvPr/>
        </p:nvSpPr>
        <p:spPr>
          <a:xfrm>
            <a:off x="19126200" y="52959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Analytics</a:t>
            </a:r>
          </a:p>
        </p:txBody>
      </p:sp>
      <p:sp>
        <p:nvSpPr>
          <p:cNvPr id="609" name="Docs"/>
          <p:cNvSpPr txBox="1"/>
          <p:nvPr/>
        </p:nvSpPr>
        <p:spPr>
          <a:xfrm>
            <a:off x="19126200" y="67183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Docs</a:t>
            </a:r>
          </a:p>
        </p:txBody>
      </p:sp>
      <p:sp>
        <p:nvSpPr>
          <p:cNvPr id="610" name="CRM"/>
          <p:cNvSpPr txBox="1"/>
          <p:nvPr/>
        </p:nvSpPr>
        <p:spPr>
          <a:xfrm>
            <a:off x="19126200" y="81407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CRM</a:t>
            </a:r>
          </a:p>
        </p:txBody>
      </p:sp>
      <p:sp>
        <p:nvSpPr>
          <p:cNvPr id="611" name="Dozens of clusters"/>
          <p:cNvSpPr txBox="1"/>
          <p:nvPr/>
        </p:nvSpPr>
        <p:spPr>
          <a:xfrm>
            <a:off x="13208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Dozens of clusters</a:t>
            </a:r>
          </a:p>
        </p:txBody>
      </p:sp>
      <p:sp>
        <p:nvSpPr>
          <p:cNvPr id="612" name="Self-hosted Linux and virtualization."/>
          <p:cNvSpPr txBox="1"/>
          <p:nvPr/>
        </p:nvSpPr>
        <p:spPr>
          <a:xfrm>
            <a:off x="1320800" y="10185399"/>
            <a:ext cx="482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Self-hosted Linux and virtualization.</a:t>
            </a:r>
          </a:p>
        </p:txBody>
      </p:sp>
      <p:sp>
        <p:nvSpPr>
          <p:cNvPr id="613" name="14 people"/>
          <p:cNvSpPr txBox="1"/>
          <p:nvPr/>
        </p:nvSpPr>
        <p:spPr>
          <a:xfrm>
            <a:off x="68580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14 people</a:t>
            </a:r>
          </a:p>
        </p:txBody>
      </p:sp>
      <p:sp>
        <p:nvSpPr>
          <p:cNvPr id="614" name="A web agency with its own sysop team."/>
          <p:cNvSpPr txBox="1"/>
          <p:nvPr/>
        </p:nvSpPr>
        <p:spPr>
          <a:xfrm>
            <a:off x="6858000" y="10185399"/>
            <a:ext cx="4046372"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A web agency with its own sysop team.</a:t>
            </a:r>
          </a:p>
        </p:txBody>
      </p:sp>
      <p:sp>
        <p:nvSpPr>
          <p:cNvPr id="615" name="Built for purpose"/>
          <p:cNvSpPr txBox="1"/>
          <p:nvPr/>
        </p:nvSpPr>
        <p:spPr>
          <a:xfrm>
            <a:off x="123952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Built for purpose</a:t>
            </a:r>
          </a:p>
        </p:txBody>
      </p:sp>
      <p:sp>
        <p:nvSpPr>
          <p:cNvPr id="616" name="Each server is set up for its use, with nothing extra installed."/>
          <p:cNvSpPr txBox="1"/>
          <p:nvPr/>
        </p:nvSpPr>
        <p:spPr>
          <a:xfrm>
            <a:off x="12395200" y="10185399"/>
            <a:ext cx="4597289"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Each server is set up for its use, with nothing extra installed.</a:t>
            </a:r>
          </a:p>
        </p:txBody>
      </p:sp>
      <p:sp>
        <p:nvSpPr>
          <p:cNvPr id="617" name="Own your services"/>
          <p:cNvSpPr txBox="1"/>
          <p:nvPr/>
        </p:nvSpPr>
        <p:spPr>
          <a:xfrm>
            <a:off x="179324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Own your services</a:t>
            </a:r>
          </a:p>
        </p:txBody>
      </p:sp>
      <p:sp>
        <p:nvSpPr>
          <p:cNvPr id="618" name="Analytics, docs, CRM, and other software run on our own servers."/>
          <p:cNvSpPr txBox="1"/>
          <p:nvPr/>
        </p:nvSpPr>
        <p:spPr>
          <a:xfrm>
            <a:off x="17932400" y="10185399"/>
            <a:ext cx="43180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Analytics, docs, CRM, and other software run on our own servers.</a:t>
            </a:r>
          </a:p>
        </p:txBody>
      </p:sp>
      <p:pic>
        <p:nvPicPr>
          <p:cNvPr id="619" name="prog-11.png" descr="prog-11.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24" name="From source and from upstream"/>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source </a:t>
            </a:r>
            <a:r>
              <a:rPr i="1" sz="9800">
                <a:solidFill>
                  <a:srgbClr val="6033A6"/>
                </a:solidFill>
                <a:latin typeface="Instrument Serif Regular"/>
                <a:ea typeface="Instrument Serif Regular"/>
                <a:cs typeface="Instrument Serif Regular"/>
                <a:sym typeface="Instrument Serif Regular"/>
              </a:rPr>
              <a:t>and from upstream</a:t>
            </a:r>
          </a:p>
        </p:txBody>
      </p:sp>
      <p:sp>
        <p:nvSpPr>
          <p:cNvPr id="62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26" name="viz-12-00.svg" descr="viz-12-00.svg"/>
          <p:cNvPicPr>
            <a:picLocks noChangeAspect="1"/>
          </p:cNvPicPr>
          <p:nvPr/>
        </p:nvPicPr>
        <p:blipFill>
          <a:blip r:embed="rId4">
            <a:extLst/>
          </a:blip>
          <a:stretch>
            <a:fillRect/>
          </a:stretch>
        </p:blipFill>
        <p:spPr>
          <a:xfrm>
            <a:off x="1168400" y="4826000"/>
            <a:ext cx="6667500" cy="1790700"/>
          </a:xfrm>
          <a:prstGeom prst="rect">
            <a:avLst/>
          </a:prstGeom>
          <a:ln w="12700">
            <a:miter lim="400000"/>
          </a:ln>
        </p:spPr>
      </p:pic>
      <p:pic>
        <p:nvPicPr>
          <p:cNvPr id="627" name="viz-12-01.svg" descr="viz-12-01.svg"/>
          <p:cNvPicPr>
            <a:picLocks noChangeAspect="1"/>
          </p:cNvPicPr>
          <p:nvPr/>
        </p:nvPicPr>
        <p:blipFill>
          <a:blip r:embed="rId5">
            <a:extLst/>
          </a:blip>
          <a:stretch>
            <a:fillRect/>
          </a:stretch>
        </p:blipFill>
        <p:spPr>
          <a:xfrm>
            <a:off x="1600200" y="5334000"/>
            <a:ext cx="711200" cy="762000"/>
          </a:xfrm>
          <a:prstGeom prst="rect">
            <a:avLst/>
          </a:prstGeom>
          <a:ln w="12700">
            <a:miter lim="400000"/>
          </a:ln>
        </p:spPr>
      </p:pic>
      <p:pic>
        <p:nvPicPr>
          <p:cNvPr id="628" name="viz-12-02.svg" descr="viz-12-02.svg"/>
          <p:cNvPicPr>
            <a:picLocks noChangeAspect="1"/>
          </p:cNvPicPr>
          <p:nvPr/>
        </p:nvPicPr>
        <p:blipFill>
          <a:blip r:embed="rId6">
            <a:extLst/>
          </a:blip>
          <a:stretch>
            <a:fillRect/>
          </a:stretch>
        </p:blipFill>
        <p:spPr>
          <a:xfrm>
            <a:off x="1168400" y="6731000"/>
            <a:ext cx="6667500" cy="1790700"/>
          </a:xfrm>
          <a:prstGeom prst="rect">
            <a:avLst/>
          </a:prstGeom>
          <a:ln w="12700">
            <a:miter lim="400000"/>
          </a:ln>
        </p:spPr>
      </p:pic>
      <p:pic>
        <p:nvPicPr>
          <p:cNvPr id="629" name="viz-16-03.svg" descr="viz-16-03.svg"/>
          <p:cNvPicPr>
            <a:picLocks noChangeAspect="1"/>
          </p:cNvPicPr>
          <p:nvPr/>
        </p:nvPicPr>
        <p:blipFill>
          <a:blip r:embed="rId7">
            <a:extLst/>
          </a:blip>
          <a:stretch>
            <a:fillRect/>
          </a:stretch>
        </p:blipFill>
        <p:spPr>
          <a:xfrm>
            <a:off x="1587500" y="7239000"/>
            <a:ext cx="736600" cy="736600"/>
          </a:xfrm>
          <a:prstGeom prst="rect">
            <a:avLst/>
          </a:prstGeom>
          <a:ln w="12700">
            <a:miter lim="400000"/>
          </a:ln>
        </p:spPr>
      </p:pic>
      <p:pic>
        <p:nvPicPr>
          <p:cNvPr id="630" name="viz-12-04.svg" descr="viz-12-04.svg"/>
          <p:cNvPicPr>
            <a:picLocks noChangeAspect="1"/>
          </p:cNvPicPr>
          <p:nvPr/>
        </p:nvPicPr>
        <p:blipFill>
          <a:blip r:embed="rId8">
            <a:extLst/>
          </a:blip>
          <a:stretch>
            <a:fillRect/>
          </a:stretch>
        </p:blipFill>
        <p:spPr>
          <a:xfrm>
            <a:off x="1168400" y="8636000"/>
            <a:ext cx="6667500" cy="1790700"/>
          </a:xfrm>
          <a:prstGeom prst="rect">
            <a:avLst/>
          </a:prstGeom>
          <a:ln w="12700">
            <a:miter lim="400000"/>
          </a:ln>
        </p:spPr>
      </p:pic>
      <p:pic>
        <p:nvPicPr>
          <p:cNvPr id="631" name="viz-12-05.svg" descr="viz-12-05.svg"/>
          <p:cNvPicPr>
            <a:picLocks noChangeAspect="1"/>
          </p:cNvPicPr>
          <p:nvPr/>
        </p:nvPicPr>
        <p:blipFill>
          <a:blip r:embed="rId9">
            <a:extLst/>
          </a:blip>
          <a:stretch>
            <a:fillRect/>
          </a:stretch>
        </p:blipFill>
        <p:spPr>
          <a:xfrm>
            <a:off x="1574800" y="9118600"/>
            <a:ext cx="762000" cy="812800"/>
          </a:xfrm>
          <a:prstGeom prst="rect">
            <a:avLst/>
          </a:prstGeom>
          <a:ln w="12700">
            <a:miter lim="400000"/>
          </a:ln>
        </p:spPr>
      </p:pic>
      <p:pic>
        <p:nvPicPr>
          <p:cNvPr id="632" name="viz-12-06.svg" descr="viz-12-06.svg"/>
          <p:cNvPicPr>
            <a:picLocks noChangeAspect="1"/>
          </p:cNvPicPr>
          <p:nvPr/>
        </p:nvPicPr>
        <p:blipFill>
          <a:blip r:embed="rId10">
            <a:extLst/>
          </a:blip>
          <a:stretch>
            <a:fillRect/>
          </a:stretch>
        </p:blipFill>
        <p:spPr>
          <a:xfrm>
            <a:off x="8483600" y="4826000"/>
            <a:ext cx="4635500" cy="1790700"/>
          </a:xfrm>
          <a:prstGeom prst="rect">
            <a:avLst/>
          </a:prstGeom>
          <a:ln w="12700">
            <a:miter lim="400000"/>
          </a:ln>
        </p:spPr>
      </p:pic>
      <p:pic>
        <p:nvPicPr>
          <p:cNvPr id="633" name="viz-12-07.svg" descr="viz-12-07.svg"/>
          <p:cNvPicPr>
            <a:picLocks noChangeAspect="1"/>
          </p:cNvPicPr>
          <p:nvPr/>
        </p:nvPicPr>
        <p:blipFill>
          <a:blip r:embed="rId11">
            <a:extLst/>
          </a:blip>
          <a:stretch>
            <a:fillRect/>
          </a:stretch>
        </p:blipFill>
        <p:spPr>
          <a:xfrm>
            <a:off x="8890000" y="5334000"/>
            <a:ext cx="762000" cy="762000"/>
          </a:xfrm>
          <a:prstGeom prst="rect">
            <a:avLst/>
          </a:prstGeom>
          <a:ln w="12700">
            <a:miter lim="400000"/>
          </a:ln>
        </p:spPr>
      </p:pic>
      <p:pic>
        <p:nvPicPr>
          <p:cNvPr id="634" name="viz-12-08.svg" descr="viz-12-08.svg"/>
          <p:cNvPicPr>
            <a:picLocks noChangeAspect="1"/>
          </p:cNvPicPr>
          <p:nvPr/>
        </p:nvPicPr>
        <p:blipFill>
          <a:blip r:embed="rId12">
            <a:extLst/>
          </a:blip>
          <a:stretch>
            <a:fillRect/>
          </a:stretch>
        </p:blipFill>
        <p:spPr>
          <a:xfrm>
            <a:off x="7696200" y="5562600"/>
            <a:ext cx="927100" cy="317500"/>
          </a:xfrm>
          <a:prstGeom prst="rect">
            <a:avLst/>
          </a:prstGeom>
          <a:ln w="12700">
            <a:miter lim="400000"/>
          </a:ln>
        </p:spPr>
      </p:pic>
      <p:pic>
        <p:nvPicPr>
          <p:cNvPr id="635" name="viz-12-09.svg" descr="viz-12-09.svg"/>
          <p:cNvPicPr>
            <a:picLocks noChangeAspect="1"/>
          </p:cNvPicPr>
          <p:nvPr/>
        </p:nvPicPr>
        <p:blipFill>
          <a:blip r:embed="rId13">
            <a:extLst/>
          </a:blip>
          <a:stretch>
            <a:fillRect/>
          </a:stretch>
        </p:blipFill>
        <p:spPr>
          <a:xfrm>
            <a:off x="12979400" y="5562600"/>
            <a:ext cx="1231900" cy="317500"/>
          </a:xfrm>
          <a:prstGeom prst="rect">
            <a:avLst/>
          </a:prstGeom>
          <a:ln w="12700">
            <a:miter lim="400000"/>
          </a:ln>
        </p:spPr>
      </p:pic>
      <p:pic>
        <p:nvPicPr>
          <p:cNvPr id="636" name="viz-16-10.svg" descr="viz-16-10.svg"/>
          <p:cNvPicPr>
            <a:picLocks noChangeAspect="1"/>
          </p:cNvPicPr>
          <p:nvPr/>
        </p:nvPicPr>
        <p:blipFill>
          <a:blip r:embed="rId14">
            <a:extLst/>
          </a:blip>
          <a:stretch>
            <a:fillRect/>
          </a:stretch>
        </p:blipFill>
        <p:spPr>
          <a:xfrm>
            <a:off x="7696200" y="7467600"/>
            <a:ext cx="6515100" cy="317500"/>
          </a:xfrm>
          <a:prstGeom prst="rect">
            <a:avLst/>
          </a:prstGeom>
          <a:ln w="12700">
            <a:miter lim="400000"/>
          </a:ln>
        </p:spPr>
      </p:pic>
      <p:pic>
        <p:nvPicPr>
          <p:cNvPr id="637" name="viz-12-11.svg" descr="viz-12-11.svg"/>
          <p:cNvPicPr>
            <a:picLocks noChangeAspect="1"/>
          </p:cNvPicPr>
          <p:nvPr/>
        </p:nvPicPr>
        <p:blipFill>
          <a:blip r:embed="rId15">
            <a:extLst/>
          </a:blip>
          <a:stretch>
            <a:fillRect/>
          </a:stretch>
        </p:blipFill>
        <p:spPr>
          <a:xfrm>
            <a:off x="7696200" y="9372600"/>
            <a:ext cx="6515100" cy="317500"/>
          </a:xfrm>
          <a:prstGeom prst="rect">
            <a:avLst/>
          </a:prstGeom>
          <a:ln w="12700">
            <a:miter lim="400000"/>
          </a:ln>
        </p:spPr>
      </p:pic>
      <p:pic>
        <p:nvPicPr>
          <p:cNvPr id="638" name="viz-12-12.svg" descr="viz-12-12.svg"/>
          <p:cNvPicPr>
            <a:picLocks noChangeAspect="1"/>
          </p:cNvPicPr>
          <p:nvPr/>
        </p:nvPicPr>
        <p:blipFill>
          <a:blip r:embed="rId16">
            <a:extLst/>
          </a:blip>
          <a:stretch>
            <a:fillRect/>
          </a:stretch>
        </p:blipFill>
        <p:spPr>
          <a:xfrm>
            <a:off x="14071600" y="4826000"/>
            <a:ext cx="9105900" cy="5981700"/>
          </a:xfrm>
          <a:prstGeom prst="rect">
            <a:avLst/>
          </a:prstGeom>
          <a:ln w="12700">
            <a:miter lim="400000"/>
          </a:ln>
        </p:spPr>
      </p:pic>
      <p:pic>
        <p:nvPicPr>
          <p:cNvPr id="639" name="viz-12-13.svg" descr="viz-12-13.svg"/>
          <p:cNvPicPr>
            <a:picLocks noChangeAspect="1"/>
          </p:cNvPicPr>
          <p:nvPr/>
        </p:nvPicPr>
        <p:blipFill>
          <a:blip r:embed="rId17">
            <a:extLst/>
          </a:blip>
          <a:stretch>
            <a:fillRect/>
          </a:stretch>
        </p:blipFill>
        <p:spPr>
          <a:xfrm>
            <a:off x="14490700" y="5257800"/>
            <a:ext cx="736600" cy="711200"/>
          </a:xfrm>
          <a:prstGeom prst="rect">
            <a:avLst/>
          </a:prstGeom>
          <a:ln w="12700">
            <a:miter lim="400000"/>
          </a:ln>
        </p:spPr>
      </p:pic>
      <p:pic>
        <p:nvPicPr>
          <p:cNvPr id="640" name="viz-12-14.svg" descr="viz-12-14.svg"/>
          <p:cNvPicPr>
            <a:picLocks noChangeAspect="1"/>
          </p:cNvPicPr>
          <p:nvPr/>
        </p:nvPicPr>
        <p:blipFill>
          <a:blip r:embed="rId18">
            <a:extLst/>
          </a:blip>
          <a:stretch>
            <a:fillRect/>
          </a:stretch>
        </p:blipFill>
        <p:spPr>
          <a:xfrm>
            <a:off x="14427200" y="5994400"/>
            <a:ext cx="4254500" cy="977900"/>
          </a:xfrm>
          <a:prstGeom prst="rect">
            <a:avLst/>
          </a:prstGeom>
          <a:ln w="12700">
            <a:miter lim="400000"/>
          </a:ln>
        </p:spPr>
      </p:pic>
      <p:pic>
        <p:nvPicPr>
          <p:cNvPr id="641" name="viz-12-15.svg" descr="viz-12-15.svg"/>
          <p:cNvPicPr>
            <a:picLocks noChangeAspect="1"/>
          </p:cNvPicPr>
          <p:nvPr/>
        </p:nvPicPr>
        <p:blipFill>
          <a:blip r:embed="rId19">
            <a:extLst/>
          </a:blip>
          <a:stretch>
            <a:fillRect/>
          </a:stretch>
        </p:blipFill>
        <p:spPr>
          <a:xfrm>
            <a:off x="18567400" y="5994400"/>
            <a:ext cx="4254500" cy="977900"/>
          </a:xfrm>
          <a:prstGeom prst="rect">
            <a:avLst/>
          </a:prstGeom>
          <a:ln w="12700">
            <a:miter lim="400000"/>
          </a:ln>
        </p:spPr>
      </p:pic>
      <p:pic>
        <p:nvPicPr>
          <p:cNvPr id="642" name="viz-12-16.svg" descr="viz-12-16.svg"/>
          <p:cNvPicPr>
            <a:picLocks noChangeAspect="1"/>
          </p:cNvPicPr>
          <p:nvPr/>
        </p:nvPicPr>
        <p:blipFill>
          <a:blip r:embed="rId20">
            <a:extLst/>
          </a:blip>
          <a:stretch>
            <a:fillRect/>
          </a:stretch>
        </p:blipFill>
        <p:spPr>
          <a:xfrm>
            <a:off x="14427200" y="6807200"/>
            <a:ext cx="4254500" cy="977900"/>
          </a:xfrm>
          <a:prstGeom prst="rect">
            <a:avLst/>
          </a:prstGeom>
          <a:ln w="12700">
            <a:miter lim="400000"/>
          </a:ln>
        </p:spPr>
      </p:pic>
      <p:pic>
        <p:nvPicPr>
          <p:cNvPr id="643" name="viz-12-17.svg" descr="viz-12-17.svg"/>
          <p:cNvPicPr>
            <a:picLocks noChangeAspect="1"/>
          </p:cNvPicPr>
          <p:nvPr/>
        </p:nvPicPr>
        <p:blipFill>
          <a:blip r:embed="rId21">
            <a:extLst/>
          </a:blip>
          <a:stretch>
            <a:fillRect/>
          </a:stretch>
        </p:blipFill>
        <p:spPr>
          <a:xfrm>
            <a:off x="18567400" y="6807200"/>
            <a:ext cx="4254500" cy="977900"/>
          </a:xfrm>
          <a:prstGeom prst="rect">
            <a:avLst/>
          </a:prstGeom>
          <a:ln w="12700">
            <a:miter lim="400000"/>
          </a:ln>
        </p:spPr>
      </p:pic>
      <p:pic>
        <p:nvPicPr>
          <p:cNvPr id="644" name="viz-12-18.svg" descr="viz-12-18.svg"/>
          <p:cNvPicPr>
            <a:picLocks noChangeAspect="1"/>
          </p:cNvPicPr>
          <p:nvPr/>
        </p:nvPicPr>
        <p:blipFill>
          <a:blip r:embed="rId22">
            <a:extLst/>
          </a:blip>
          <a:stretch>
            <a:fillRect/>
          </a:stretch>
        </p:blipFill>
        <p:spPr>
          <a:xfrm>
            <a:off x="14427200" y="7620000"/>
            <a:ext cx="4254500" cy="977900"/>
          </a:xfrm>
          <a:prstGeom prst="rect">
            <a:avLst/>
          </a:prstGeom>
          <a:ln w="12700">
            <a:miter lim="400000"/>
          </a:ln>
        </p:spPr>
      </p:pic>
      <p:pic>
        <p:nvPicPr>
          <p:cNvPr id="645" name="viz-12-19.svg" descr="viz-12-19.svg"/>
          <p:cNvPicPr>
            <a:picLocks noChangeAspect="1"/>
          </p:cNvPicPr>
          <p:nvPr/>
        </p:nvPicPr>
        <p:blipFill>
          <a:blip r:embed="rId23">
            <a:extLst/>
          </a:blip>
          <a:stretch>
            <a:fillRect/>
          </a:stretch>
        </p:blipFill>
        <p:spPr>
          <a:xfrm>
            <a:off x="18567400" y="7620000"/>
            <a:ext cx="4254500" cy="977900"/>
          </a:xfrm>
          <a:prstGeom prst="rect">
            <a:avLst/>
          </a:prstGeom>
          <a:ln w="12700">
            <a:miter lim="400000"/>
          </a:ln>
        </p:spPr>
      </p:pic>
      <p:pic>
        <p:nvPicPr>
          <p:cNvPr id="646" name="viz-12-20.svg" descr="viz-12-20.svg"/>
          <p:cNvPicPr>
            <a:picLocks noChangeAspect="1"/>
          </p:cNvPicPr>
          <p:nvPr/>
        </p:nvPicPr>
        <p:blipFill>
          <a:blip r:embed="rId24">
            <a:extLst/>
          </a:blip>
          <a:stretch>
            <a:fillRect/>
          </a:stretch>
        </p:blipFill>
        <p:spPr>
          <a:xfrm>
            <a:off x="14427200" y="8534400"/>
            <a:ext cx="8394700" cy="1917700"/>
          </a:xfrm>
          <a:prstGeom prst="rect">
            <a:avLst/>
          </a:prstGeom>
          <a:ln w="12700">
            <a:miter lim="400000"/>
          </a:ln>
        </p:spPr>
      </p:pic>
      <p:sp>
        <p:nvSpPr>
          <p:cNvPr id="647" name="Module source"/>
          <p:cNvSpPr txBox="1"/>
          <p:nvPr/>
        </p:nvSpPr>
        <p:spPr>
          <a:xfrm>
            <a:off x="2514600" y="53212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Module source</a:t>
            </a:r>
          </a:p>
        </p:txBody>
      </p:sp>
      <p:sp>
        <p:nvSpPr>
          <p:cNvPr id="648" name="Brotli, cache purging, GeoIP…"/>
          <p:cNvSpPr txBox="1"/>
          <p:nvPr/>
        </p:nvSpPr>
        <p:spPr>
          <a:xfrm>
            <a:off x="2514600" y="5740399"/>
            <a:ext cx="4851400" cy="43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000">
                <a:solidFill>
                  <a:srgbClr val="3D2644"/>
                </a:solidFill>
                <a:latin typeface="Geist Regular Regular"/>
                <a:ea typeface="Geist Regular Regular"/>
                <a:cs typeface="Geist Regular Regular"/>
                <a:sym typeface="Geist Regular Regular"/>
              </a:defRPr>
            </a:lvl1pPr>
          </a:lstStyle>
          <a:p>
            <a:pPr/>
            <a:r>
              <a:t>Brotli, cache purging, GeoIP…</a:t>
            </a:r>
          </a:p>
        </p:txBody>
      </p:sp>
      <p:sp>
        <p:nvSpPr>
          <p:cNvPr id="649" name="Upstream repositories"/>
          <p:cNvSpPr txBox="1"/>
          <p:nvPr/>
        </p:nvSpPr>
        <p:spPr>
          <a:xfrm>
            <a:off x="2514600" y="72262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Upstream repositories</a:t>
            </a:r>
          </a:p>
        </p:txBody>
      </p:sp>
      <p:sp>
        <p:nvSpPr>
          <p:cNvPr id="650" name="nginx.org mainline, PPAs, MariaDB."/>
          <p:cNvSpPr txBox="1"/>
          <p:nvPr/>
        </p:nvSpPr>
        <p:spPr>
          <a:xfrm>
            <a:off x="2514600" y="7645399"/>
            <a:ext cx="4851400" cy="43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000">
                <a:solidFill>
                  <a:srgbClr val="3D2644"/>
                </a:solidFill>
                <a:latin typeface="Geist Regular Regular"/>
                <a:ea typeface="Geist Regular Regular"/>
                <a:cs typeface="Geist Regular Regular"/>
                <a:sym typeface="Geist Regular Regular"/>
              </a:defRPr>
            </a:lvl1pPr>
          </a:lstStyle>
          <a:p>
            <a:pPr/>
            <a:r>
              <a:t>nginx.org mainline, PPAs, MariaDB.</a:t>
            </a:r>
          </a:p>
        </p:txBody>
      </p:sp>
      <p:sp>
        <p:nvSpPr>
          <p:cNvPr id="651" name="Distribution packages"/>
          <p:cNvSpPr txBox="1"/>
          <p:nvPr/>
        </p:nvSpPr>
        <p:spPr>
          <a:xfrm>
            <a:off x="2514600" y="89661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Distribution packages</a:t>
            </a:r>
          </a:p>
        </p:txBody>
      </p:sp>
      <p:sp>
        <p:nvSpPr>
          <p:cNvPr id="652" name="Everything else comes from the distribution."/>
          <p:cNvSpPr txBox="1"/>
          <p:nvPr/>
        </p:nvSpPr>
        <p:spPr>
          <a:xfrm>
            <a:off x="2514600" y="9385300"/>
            <a:ext cx="48514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3D2644"/>
                </a:solidFill>
                <a:latin typeface="Geist Regular Regular"/>
                <a:ea typeface="Geist Regular Regular"/>
                <a:cs typeface="Geist Regular Regular"/>
                <a:sym typeface="Geist Regular Regular"/>
              </a:defRPr>
            </a:pPr>
            <a:r>
              <a:t>Everything else comes from</a:t>
            </a:r>
            <a:br/>
            <a:r>
              <a:t>the distribution.</a:t>
            </a:r>
          </a:p>
        </p:txBody>
      </p:sp>
      <p:sp>
        <p:nvSpPr>
          <p:cNvPr id="653" name="Built here"/>
          <p:cNvSpPr txBox="1"/>
          <p:nvPr/>
        </p:nvSpPr>
        <p:spPr>
          <a:xfrm>
            <a:off x="9829800" y="5156199"/>
            <a:ext cx="2819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Built here</a:t>
            </a:r>
          </a:p>
        </p:txBody>
      </p:sp>
      <p:sp>
        <p:nvSpPr>
          <p:cNvPr id="654" name="Against the running nginx version."/>
          <p:cNvSpPr txBox="1"/>
          <p:nvPr/>
        </p:nvSpPr>
        <p:spPr>
          <a:xfrm>
            <a:off x="9829800" y="5575300"/>
            <a:ext cx="28194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3D2644"/>
                </a:solidFill>
                <a:latin typeface="Geist Regular Regular"/>
                <a:ea typeface="Geist Regular Regular"/>
                <a:cs typeface="Geist Regular Regular"/>
                <a:sym typeface="Geist Regular Regular"/>
              </a:defRPr>
            </a:pPr>
            <a:r>
              <a:t>Against the running</a:t>
            </a:r>
            <a:br/>
            <a:r>
              <a:t>nginx version.</a:t>
            </a:r>
          </a:p>
        </p:txBody>
      </p:sp>
      <p:sp>
        <p:nvSpPr>
          <p:cNvPr id="655" name="Our server"/>
          <p:cNvSpPr txBox="1"/>
          <p:nvPr/>
        </p:nvSpPr>
        <p:spPr>
          <a:xfrm>
            <a:off x="15417800" y="5397499"/>
            <a:ext cx="508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Our server</a:t>
            </a:r>
          </a:p>
        </p:txBody>
      </p:sp>
      <p:sp>
        <p:nvSpPr>
          <p:cNvPr id="656" name="nginx and modules"/>
          <p:cNvSpPr txBox="1"/>
          <p:nvPr/>
        </p:nvSpPr>
        <p:spPr>
          <a:xfrm>
            <a:off x="14833600" y="62737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nginx and modules</a:t>
            </a:r>
          </a:p>
        </p:txBody>
      </p:sp>
      <p:sp>
        <p:nvSpPr>
          <p:cNvPr id="657" name="PHP"/>
          <p:cNvSpPr txBox="1"/>
          <p:nvPr/>
        </p:nvSpPr>
        <p:spPr>
          <a:xfrm>
            <a:off x="18973800" y="62737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PHP</a:t>
            </a:r>
          </a:p>
        </p:txBody>
      </p:sp>
      <p:sp>
        <p:nvSpPr>
          <p:cNvPr id="658" name="MariaDB"/>
          <p:cNvSpPr txBox="1"/>
          <p:nvPr/>
        </p:nvSpPr>
        <p:spPr>
          <a:xfrm>
            <a:off x="14833600" y="70865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MariaDB</a:t>
            </a:r>
          </a:p>
        </p:txBody>
      </p:sp>
      <p:sp>
        <p:nvSpPr>
          <p:cNvPr id="659" name="Distribution packages"/>
          <p:cNvSpPr txBox="1"/>
          <p:nvPr/>
        </p:nvSpPr>
        <p:spPr>
          <a:xfrm>
            <a:off x="18973800" y="70865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Distribution packages</a:t>
            </a:r>
          </a:p>
        </p:txBody>
      </p:sp>
      <p:sp>
        <p:nvSpPr>
          <p:cNvPr id="660" name="Applications"/>
          <p:cNvSpPr txBox="1"/>
          <p:nvPr/>
        </p:nvSpPr>
        <p:spPr>
          <a:xfrm>
            <a:off x="14833600" y="78993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Applications</a:t>
            </a:r>
          </a:p>
        </p:txBody>
      </p:sp>
      <p:sp>
        <p:nvSpPr>
          <p:cNvPr id="661" name="FOSS"/>
          <p:cNvSpPr txBox="1"/>
          <p:nvPr/>
        </p:nvSpPr>
        <p:spPr>
          <a:xfrm>
            <a:off x="18973800" y="78993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FOSS</a:t>
            </a:r>
          </a:p>
        </p:txBody>
      </p:sp>
      <p:sp>
        <p:nvSpPr>
          <p:cNvPr id="662" name="Our own configuration"/>
          <p:cNvSpPr txBox="1"/>
          <p:nvPr/>
        </p:nvSpPr>
        <p:spPr>
          <a:xfrm>
            <a:off x="14833600" y="8915399"/>
            <a:ext cx="762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FFFFFF"/>
                </a:solidFill>
                <a:latin typeface="Geist Regular SemiBold"/>
                <a:ea typeface="Geist Regular SemiBold"/>
                <a:cs typeface="Geist Regular SemiBold"/>
                <a:sym typeface="Geist Regular SemiBold"/>
              </a:defRPr>
            </a:lvl1pPr>
          </a:lstStyle>
          <a:p>
            <a:pPr/>
            <a:r>
              <a:t>Our own configuration</a:t>
            </a:r>
          </a:p>
        </p:txBody>
      </p:sp>
      <p:sp>
        <p:nvSpPr>
          <p:cNvPr id="663" name="Every configuration file is ours, with our own defaults."/>
          <p:cNvSpPr txBox="1"/>
          <p:nvPr/>
        </p:nvSpPr>
        <p:spPr>
          <a:xfrm>
            <a:off x="14833600" y="9347200"/>
            <a:ext cx="76200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FFFFFF"/>
                </a:solidFill>
                <a:latin typeface="Geist Regular Regular"/>
                <a:ea typeface="Geist Regular Regular"/>
                <a:cs typeface="Geist Regular Regular"/>
                <a:sym typeface="Geist Regular Regular"/>
              </a:defRPr>
            </a:pPr>
            <a:r>
              <a:t>Every configuration file is ours,</a:t>
            </a:r>
            <a:br/>
            <a:r>
              <a:t>with our own defaults.</a:t>
            </a:r>
          </a:p>
        </p:txBody>
      </p:sp>
      <p:pic>
        <p:nvPicPr>
          <p:cNvPr id="664" name="prog-12.png" descr="prog-12.png"/>
          <p:cNvPicPr>
            <a:picLocks noChangeAspect="1"/>
          </p:cNvPicPr>
          <p:nvPr/>
        </p:nvPicPr>
        <p:blipFill>
          <a:blip r:embed="rId2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9" name="The package broke, source kept running"/>
          <p:cNvSpPr txBox="1"/>
          <p:nvPr/>
        </p:nvSpPr>
        <p:spPr>
          <a:xfrm>
            <a:off x="1308100" y="25526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package broke, </a:t>
            </a:r>
            <a:r>
              <a:rPr i="1" sz="9800">
                <a:solidFill>
                  <a:srgbClr val="6033A6"/>
                </a:solidFill>
                <a:latin typeface="Instrument Serif Regular"/>
                <a:ea typeface="Instrument Serif Regular"/>
                <a:cs typeface="Instrument Serif Regular"/>
                <a:sym typeface="Instrument Serif Regular"/>
              </a:rPr>
              <a:t>source kept running</a:t>
            </a:r>
          </a:p>
        </p:txBody>
      </p:sp>
      <p:sp>
        <p:nvSpPr>
          <p:cNvPr id="670" name="Read the running build"/>
          <p:cNvSpPr txBox="1"/>
          <p:nvPr/>
        </p:nvSpPr>
        <p:spPr>
          <a:xfrm>
            <a:off x="1308100" y="4584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Read the running build</a:t>
            </a:r>
          </a:p>
        </p:txBody>
      </p:sp>
      <p:sp>
        <p:nvSpPr>
          <p:cNvPr id="671" name="Build the module against it"/>
          <p:cNvSpPr txBox="1"/>
          <p:nvPr/>
        </p:nvSpPr>
        <p:spPr>
          <a:xfrm>
            <a:off x="12547600" y="4584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Build the module against it</a:t>
            </a:r>
          </a:p>
        </p:txBody>
      </p:sp>
      <p:sp>
        <p:nvSpPr>
          <p:cNvPr id="672" name="Canonical’s nginx security update made nginx crash with external modules. Our nginx comes from nginx.org mainline, with modules built from source against it, and it kept running."/>
          <p:cNvSpPr txBox="1"/>
          <p:nvPr/>
        </p:nvSpPr>
        <p:spPr>
          <a:xfrm>
            <a:off x="1320800" y="9551035"/>
            <a:ext cx="208026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3D2644"/>
                </a:solidFill>
                <a:latin typeface="Geist Regular Regular"/>
                <a:ea typeface="Geist Regular Regular"/>
                <a:cs typeface="Geist Regular Regular"/>
                <a:sym typeface="Geist Regular Regular"/>
              </a:defRPr>
            </a:lvl1pPr>
          </a:lstStyle>
          <a:p>
            <a:pPr/>
            <a:r>
              <a:t>Canonical’s nginx security update made nginx crash with external modules. Our nginx comes from nginx.org mainline, with modules built from source against it, and it kept running.</a:t>
            </a:r>
          </a:p>
        </p:txBody>
      </p:sp>
      <p:sp>
        <p:nvSpPr>
          <p:cNvPr id="673"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74" name="viz-13-00.svg" descr="viz-13-00.svg"/>
          <p:cNvPicPr>
            <a:picLocks noChangeAspect="1"/>
          </p:cNvPicPr>
          <p:nvPr/>
        </p:nvPicPr>
        <p:blipFill>
          <a:blip r:embed="rId4">
            <a:extLst/>
          </a:blip>
          <a:stretch>
            <a:fillRect/>
          </a:stretch>
        </p:blipFill>
        <p:spPr>
          <a:xfrm>
            <a:off x="1219200" y="5346700"/>
            <a:ext cx="10718800" cy="1993900"/>
          </a:xfrm>
          <a:prstGeom prst="rect">
            <a:avLst/>
          </a:prstGeom>
          <a:ln w="12700">
            <a:miter lim="400000"/>
          </a:ln>
        </p:spPr>
      </p:pic>
      <p:pic>
        <p:nvPicPr>
          <p:cNvPr id="675" name="viz-13-01.svg" descr="viz-13-01.svg"/>
          <p:cNvPicPr>
            <a:picLocks noChangeAspect="1"/>
          </p:cNvPicPr>
          <p:nvPr/>
        </p:nvPicPr>
        <p:blipFill>
          <a:blip r:embed="rId5">
            <a:extLst/>
          </a:blip>
          <a:stretch>
            <a:fillRect/>
          </a:stretch>
        </p:blipFill>
        <p:spPr>
          <a:xfrm>
            <a:off x="12458700" y="5346700"/>
            <a:ext cx="10718800" cy="3517900"/>
          </a:xfrm>
          <a:prstGeom prst="rect">
            <a:avLst/>
          </a:prstGeom>
          <a:ln w="12700">
            <a:miter lim="400000"/>
          </a:ln>
        </p:spPr>
      </p:pic>
      <p:sp>
        <p:nvSpPr>
          <p:cNvPr id="676" name="nginx -v"/>
          <p:cNvSpPr txBox="1"/>
          <p:nvPr/>
        </p:nvSpPr>
        <p:spPr>
          <a:xfrm>
            <a:off x="1752600" y="5740400"/>
            <a:ext cx="2133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nginx</a:t>
            </a:r>
            <a:r>
              <a:t> </a:t>
            </a:r>
            <a:r>
              <a:rPr>
                <a:solidFill>
                  <a:srgbClr val="FF97E2"/>
                </a:solidFill>
              </a:rPr>
              <a:t>-v</a:t>
            </a:r>
          </a:p>
        </p:txBody>
      </p:sp>
      <p:sp>
        <p:nvSpPr>
          <p:cNvPr id="677" name="nginx -V 2&gt;&amp;1 | grep configure"/>
          <p:cNvSpPr txBox="1"/>
          <p:nvPr/>
        </p:nvSpPr>
        <p:spPr>
          <a:xfrm>
            <a:off x="1752600" y="6248400"/>
            <a:ext cx="6604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nginx</a:t>
            </a:r>
            <a:r>
              <a:t> </a:t>
            </a:r>
            <a:r>
              <a:rPr>
                <a:solidFill>
                  <a:srgbClr val="FF97E2"/>
                </a:solidFill>
              </a:rPr>
              <a:t>-V</a:t>
            </a:r>
            <a:r>
              <a:t> </a:t>
            </a:r>
            <a:r>
              <a:rPr>
                <a:solidFill>
                  <a:srgbClr val="FFD3B2"/>
                </a:solidFill>
              </a:rPr>
              <a:t>2</a:t>
            </a:r>
            <a:r>
              <a:rPr>
                <a:solidFill>
                  <a:srgbClr val="C4CDD1"/>
                </a:solidFill>
              </a:rPr>
              <a:t>&gt;&amp;</a:t>
            </a:r>
            <a:r>
              <a:rPr>
                <a:solidFill>
                  <a:srgbClr val="FFD3B2"/>
                </a:solidFill>
              </a:rPr>
              <a:t>1</a:t>
            </a:r>
            <a:r>
              <a:t> </a:t>
            </a:r>
            <a:r>
              <a:rPr>
                <a:solidFill>
                  <a:srgbClr val="C4CDD1"/>
                </a:solidFill>
              </a:rPr>
              <a:t>|</a:t>
            </a:r>
            <a:r>
              <a:t> </a:t>
            </a:r>
            <a:r>
              <a:rPr>
                <a:solidFill>
                  <a:srgbClr val="9EE8FF"/>
                </a:solidFill>
              </a:rPr>
              <a:t>grep</a:t>
            </a:r>
            <a:r>
              <a:t> </a:t>
            </a:r>
            <a:r>
              <a:rPr>
                <a:solidFill>
                  <a:srgbClr val="FFE5B2"/>
                </a:solidFill>
              </a:rPr>
              <a:t>configure</a:t>
            </a:r>
          </a:p>
        </p:txBody>
      </p:sp>
      <p:sp>
        <p:nvSpPr>
          <p:cNvPr id="678" name="curl -O nginx.org/download/nginx-$V.tar.gz"/>
          <p:cNvSpPr txBox="1"/>
          <p:nvPr/>
        </p:nvSpPr>
        <p:spPr>
          <a:xfrm>
            <a:off x="12992100" y="5740400"/>
            <a:ext cx="9042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curl</a:t>
            </a:r>
            <a:r>
              <a:t> </a:t>
            </a:r>
            <a:r>
              <a:rPr>
                <a:solidFill>
                  <a:srgbClr val="FF97E2"/>
                </a:solidFill>
              </a:rPr>
              <a:t>-O</a:t>
            </a:r>
            <a:r>
              <a:t> </a:t>
            </a:r>
            <a:r>
              <a:rPr>
                <a:solidFill>
                  <a:srgbClr val="FFE5B2"/>
                </a:solidFill>
              </a:rPr>
              <a:t>nginx.org/download/nginx-$V.tar.gz</a:t>
            </a:r>
          </a:p>
        </p:txBody>
      </p:sp>
      <p:sp>
        <p:nvSpPr>
          <p:cNvPr id="679" name="tar xzf nginx-$V.tar.gz &amp;&amp; cd nginx-$V"/>
          <p:cNvSpPr txBox="1"/>
          <p:nvPr/>
        </p:nvSpPr>
        <p:spPr>
          <a:xfrm>
            <a:off x="12992100" y="6248400"/>
            <a:ext cx="8229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tar</a:t>
            </a:r>
            <a:r>
              <a:t> </a:t>
            </a:r>
            <a:r>
              <a:rPr>
                <a:solidFill>
                  <a:srgbClr val="FF97E2"/>
                </a:solidFill>
              </a:rPr>
              <a:t>xzf</a:t>
            </a:r>
            <a:r>
              <a:t> </a:t>
            </a:r>
            <a:r>
              <a:rPr>
                <a:solidFill>
                  <a:srgbClr val="FFE5B2"/>
                </a:solidFill>
              </a:rPr>
              <a:t>nginx-$V.tar.gz</a:t>
            </a:r>
            <a:r>
              <a:t> </a:t>
            </a:r>
            <a:r>
              <a:rPr>
                <a:solidFill>
                  <a:srgbClr val="C4CDD1"/>
                </a:solidFill>
              </a:rPr>
              <a:t>&amp;&amp;</a:t>
            </a:r>
            <a:r>
              <a:t> </a:t>
            </a:r>
            <a:r>
              <a:rPr>
                <a:solidFill>
                  <a:srgbClr val="AFFCEA"/>
                </a:solidFill>
              </a:rPr>
              <a:t>cd</a:t>
            </a:r>
            <a:r>
              <a:t> </a:t>
            </a:r>
            <a:r>
              <a:rPr>
                <a:solidFill>
                  <a:srgbClr val="FFE5B2"/>
                </a:solidFill>
              </a:rPr>
              <a:t>nginx-$V</a:t>
            </a:r>
          </a:p>
        </p:txBody>
      </p:sp>
      <p:sp>
        <p:nvSpPr>
          <p:cNvPr id="680" name="./configure &lt;same arguments&gt; \"/>
          <p:cNvSpPr txBox="1"/>
          <p:nvPr/>
        </p:nvSpPr>
        <p:spPr>
          <a:xfrm>
            <a:off x="12992100" y="6756400"/>
            <a:ext cx="6604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./configure</a:t>
            </a:r>
            <a:r>
              <a:t> </a:t>
            </a:r>
            <a:r>
              <a:rPr>
                <a:solidFill>
                  <a:srgbClr val="B7C1C6"/>
                </a:solidFill>
              </a:rPr>
              <a:t>&lt;same arguments&gt;</a:t>
            </a:r>
            <a:r>
              <a:t> </a:t>
            </a:r>
            <a:r>
              <a:rPr>
                <a:solidFill>
                  <a:srgbClr val="C4CDD1"/>
                </a:solidFill>
              </a:rPr>
              <a:t>\</a:t>
            </a:r>
          </a:p>
        </p:txBody>
      </p:sp>
      <p:sp>
        <p:nvSpPr>
          <p:cNvPr id="681" name="--add-dynamic-module=../ngx_cache_purge"/>
          <p:cNvSpPr txBox="1"/>
          <p:nvPr/>
        </p:nvSpPr>
        <p:spPr>
          <a:xfrm>
            <a:off x="12992100" y="7264400"/>
            <a:ext cx="8839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t>  </a:t>
            </a:r>
            <a:r>
              <a:rPr>
                <a:solidFill>
                  <a:srgbClr val="FF97E2"/>
                </a:solidFill>
              </a:rPr>
              <a:t>--add-dynamic-module</a:t>
            </a:r>
            <a:r>
              <a:rPr>
                <a:solidFill>
                  <a:srgbClr val="C4CDD1"/>
                </a:solidFill>
              </a:rPr>
              <a:t>=</a:t>
            </a:r>
            <a:r>
              <a:rPr>
                <a:solidFill>
                  <a:srgbClr val="FFE5B2"/>
                </a:solidFill>
              </a:rPr>
              <a:t>../ngx_cache_purge</a:t>
            </a:r>
          </a:p>
        </p:txBody>
      </p:sp>
      <p:sp>
        <p:nvSpPr>
          <p:cNvPr id="682" name="make modules"/>
          <p:cNvSpPr txBox="1"/>
          <p:nvPr/>
        </p:nvSpPr>
        <p:spPr>
          <a:xfrm>
            <a:off x="12992100" y="7772400"/>
            <a:ext cx="2946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make</a:t>
            </a:r>
            <a:r>
              <a:t> </a:t>
            </a:r>
            <a:r>
              <a:rPr>
                <a:solidFill>
                  <a:srgbClr val="AFFCEA"/>
                </a:solidFill>
              </a:rPr>
              <a:t>modules</a:t>
            </a:r>
          </a:p>
        </p:txBody>
      </p:sp>
      <p:pic>
        <p:nvPicPr>
          <p:cNvPr id="683" name="prog-13.png" descr="prog-13.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8" name="Self-hosting needs standards too"/>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Self-hosting </a:t>
            </a:r>
            <a:r>
              <a:rPr i="1" sz="9800">
                <a:solidFill>
                  <a:srgbClr val="6033A6"/>
                </a:solidFill>
                <a:latin typeface="Instrument Serif Regular"/>
                <a:ea typeface="Instrument Serif Regular"/>
                <a:cs typeface="Instrument Serif Regular"/>
                <a:sym typeface="Instrument Serif Regular"/>
              </a:rPr>
              <a:t>needs standards too</a:t>
            </a:r>
          </a:p>
        </p:txBody>
      </p:sp>
      <p:sp>
        <p:nvSpPr>
          <p:cNvPr id="689"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90" name="viz-16-00.svg" descr="viz-16-00.svg"/>
          <p:cNvPicPr>
            <a:picLocks noChangeAspect="1"/>
          </p:cNvPicPr>
          <p:nvPr/>
        </p:nvPicPr>
        <p:blipFill>
          <a:blip r:embed="rId4">
            <a:extLst/>
          </a:blip>
          <a:stretch>
            <a:fillRect/>
          </a:stretch>
        </p:blipFill>
        <p:spPr>
          <a:xfrm>
            <a:off x="1168400" y="5003800"/>
            <a:ext cx="6667500" cy="1689100"/>
          </a:xfrm>
          <a:prstGeom prst="rect">
            <a:avLst/>
          </a:prstGeom>
          <a:ln w="12700">
            <a:miter lim="400000"/>
          </a:ln>
        </p:spPr>
      </p:pic>
      <p:pic>
        <p:nvPicPr>
          <p:cNvPr id="691" name="viz-16-01.svg" descr="viz-16-01.svg"/>
          <p:cNvPicPr>
            <a:picLocks noChangeAspect="1"/>
          </p:cNvPicPr>
          <p:nvPr/>
        </p:nvPicPr>
        <p:blipFill>
          <a:blip r:embed="rId5">
            <a:extLst/>
          </a:blip>
          <a:stretch>
            <a:fillRect/>
          </a:stretch>
        </p:blipFill>
        <p:spPr>
          <a:xfrm>
            <a:off x="1600200" y="5461000"/>
            <a:ext cx="711200" cy="762000"/>
          </a:xfrm>
          <a:prstGeom prst="rect">
            <a:avLst/>
          </a:prstGeom>
          <a:ln w="12700">
            <a:miter lim="400000"/>
          </a:ln>
        </p:spPr>
      </p:pic>
      <p:pic>
        <p:nvPicPr>
          <p:cNvPr id="692" name="viz-23-02.svg" descr="viz-23-02.svg"/>
          <p:cNvPicPr>
            <a:picLocks noChangeAspect="1"/>
          </p:cNvPicPr>
          <p:nvPr/>
        </p:nvPicPr>
        <p:blipFill>
          <a:blip r:embed="rId6">
            <a:extLst/>
          </a:blip>
          <a:stretch>
            <a:fillRect/>
          </a:stretch>
        </p:blipFill>
        <p:spPr>
          <a:xfrm>
            <a:off x="7696200" y="5689600"/>
            <a:ext cx="1689100" cy="1587500"/>
          </a:xfrm>
          <a:prstGeom prst="rect">
            <a:avLst/>
          </a:prstGeom>
          <a:ln w="12700">
            <a:miter lim="400000"/>
          </a:ln>
        </p:spPr>
      </p:pic>
      <p:pic>
        <p:nvPicPr>
          <p:cNvPr id="693" name="viz-16-02.svg" descr="viz-16-02.svg"/>
          <p:cNvPicPr>
            <a:picLocks noChangeAspect="1"/>
          </p:cNvPicPr>
          <p:nvPr/>
        </p:nvPicPr>
        <p:blipFill>
          <a:blip r:embed="rId7">
            <a:extLst/>
          </a:blip>
          <a:stretch>
            <a:fillRect/>
          </a:stretch>
        </p:blipFill>
        <p:spPr>
          <a:xfrm>
            <a:off x="1168400" y="6781800"/>
            <a:ext cx="6667500" cy="1689100"/>
          </a:xfrm>
          <a:prstGeom prst="rect">
            <a:avLst/>
          </a:prstGeom>
          <a:ln w="12700">
            <a:miter lim="400000"/>
          </a:ln>
        </p:spPr>
      </p:pic>
      <p:pic>
        <p:nvPicPr>
          <p:cNvPr id="694" name="viz-23-04.svg" descr="viz-23-04.svg"/>
          <p:cNvPicPr>
            <a:picLocks noChangeAspect="1"/>
          </p:cNvPicPr>
          <p:nvPr/>
        </p:nvPicPr>
        <p:blipFill>
          <a:blip r:embed="rId8">
            <a:extLst/>
          </a:blip>
          <a:stretch>
            <a:fillRect/>
          </a:stretch>
        </p:blipFill>
        <p:spPr>
          <a:xfrm>
            <a:off x="1587500" y="7264400"/>
            <a:ext cx="736600" cy="711200"/>
          </a:xfrm>
          <a:prstGeom prst="rect">
            <a:avLst/>
          </a:prstGeom>
          <a:ln w="12700">
            <a:miter lim="400000"/>
          </a:ln>
        </p:spPr>
      </p:pic>
      <p:pic>
        <p:nvPicPr>
          <p:cNvPr id="695" name="viz-23-05.svg" descr="viz-23-05.svg"/>
          <p:cNvPicPr>
            <a:picLocks noChangeAspect="1"/>
          </p:cNvPicPr>
          <p:nvPr/>
        </p:nvPicPr>
        <p:blipFill>
          <a:blip r:embed="rId9">
            <a:extLst/>
          </a:blip>
          <a:stretch>
            <a:fillRect/>
          </a:stretch>
        </p:blipFill>
        <p:spPr>
          <a:xfrm>
            <a:off x="7696200" y="7467600"/>
            <a:ext cx="1689100" cy="317500"/>
          </a:xfrm>
          <a:prstGeom prst="rect">
            <a:avLst/>
          </a:prstGeom>
          <a:ln w="12700">
            <a:miter lim="400000"/>
          </a:ln>
        </p:spPr>
      </p:pic>
      <p:pic>
        <p:nvPicPr>
          <p:cNvPr id="696" name="viz-16-04.svg" descr="viz-16-04.svg"/>
          <p:cNvPicPr>
            <a:picLocks noChangeAspect="1"/>
          </p:cNvPicPr>
          <p:nvPr/>
        </p:nvPicPr>
        <p:blipFill>
          <a:blip r:embed="rId10">
            <a:extLst/>
          </a:blip>
          <a:stretch>
            <a:fillRect/>
          </a:stretch>
        </p:blipFill>
        <p:spPr>
          <a:xfrm>
            <a:off x="1168400" y="8559800"/>
            <a:ext cx="6667500" cy="1689100"/>
          </a:xfrm>
          <a:prstGeom prst="rect">
            <a:avLst/>
          </a:prstGeom>
          <a:ln w="12700">
            <a:miter lim="400000"/>
          </a:ln>
        </p:spPr>
      </p:pic>
      <p:pic>
        <p:nvPicPr>
          <p:cNvPr id="697" name="viz-23-07.svg" descr="viz-23-07.svg"/>
          <p:cNvPicPr>
            <a:picLocks noChangeAspect="1"/>
          </p:cNvPicPr>
          <p:nvPr/>
        </p:nvPicPr>
        <p:blipFill>
          <a:blip r:embed="rId11">
            <a:extLst/>
          </a:blip>
          <a:stretch>
            <a:fillRect/>
          </a:stretch>
        </p:blipFill>
        <p:spPr>
          <a:xfrm>
            <a:off x="1574800" y="8991600"/>
            <a:ext cx="762000" cy="812800"/>
          </a:xfrm>
          <a:prstGeom prst="rect">
            <a:avLst/>
          </a:prstGeom>
          <a:ln w="12700">
            <a:miter lim="400000"/>
          </a:ln>
        </p:spPr>
      </p:pic>
      <p:pic>
        <p:nvPicPr>
          <p:cNvPr id="698" name="viz-23-08.svg" descr="viz-23-08.svg"/>
          <p:cNvPicPr>
            <a:picLocks noChangeAspect="1"/>
          </p:cNvPicPr>
          <p:nvPr/>
        </p:nvPicPr>
        <p:blipFill>
          <a:blip r:embed="rId12">
            <a:extLst/>
          </a:blip>
          <a:stretch>
            <a:fillRect/>
          </a:stretch>
        </p:blipFill>
        <p:spPr>
          <a:xfrm>
            <a:off x="7696200" y="7975600"/>
            <a:ext cx="1689100" cy="1587500"/>
          </a:xfrm>
          <a:prstGeom prst="rect">
            <a:avLst/>
          </a:prstGeom>
          <a:ln w="12700">
            <a:miter lim="400000"/>
          </a:ln>
        </p:spPr>
      </p:pic>
      <p:pic>
        <p:nvPicPr>
          <p:cNvPr id="699" name="viz-23-09.svg" descr="viz-23-09.svg"/>
          <p:cNvPicPr>
            <a:picLocks noChangeAspect="1"/>
          </p:cNvPicPr>
          <p:nvPr/>
        </p:nvPicPr>
        <p:blipFill>
          <a:blip r:embed="rId13">
            <a:extLst/>
          </a:blip>
          <a:stretch>
            <a:fillRect/>
          </a:stretch>
        </p:blipFill>
        <p:spPr>
          <a:xfrm>
            <a:off x="9245600" y="6388100"/>
            <a:ext cx="5651500" cy="2476500"/>
          </a:xfrm>
          <a:prstGeom prst="rect">
            <a:avLst/>
          </a:prstGeom>
          <a:ln w="12700">
            <a:miter lim="400000"/>
          </a:ln>
        </p:spPr>
      </p:pic>
      <p:pic>
        <p:nvPicPr>
          <p:cNvPr id="700" name="viz-23-10.svg" descr="viz-23-10.svg"/>
          <p:cNvPicPr>
            <a:picLocks noChangeAspect="1"/>
          </p:cNvPicPr>
          <p:nvPr/>
        </p:nvPicPr>
        <p:blipFill>
          <a:blip r:embed="rId14">
            <a:extLst/>
          </a:blip>
          <a:stretch>
            <a:fillRect/>
          </a:stretch>
        </p:blipFill>
        <p:spPr>
          <a:xfrm>
            <a:off x="9652000" y="7239000"/>
            <a:ext cx="762000" cy="762000"/>
          </a:xfrm>
          <a:prstGeom prst="rect">
            <a:avLst/>
          </a:prstGeom>
          <a:ln w="12700">
            <a:miter lim="400000"/>
          </a:ln>
        </p:spPr>
      </p:pic>
      <p:pic>
        <p:nvPicPr>
          <p:cNvPr id="701" name="viz-23-11.svg" descr="viz-23-11.svg"/>
          <p:cNvPicPr>
            <a:picLocks noChangeAspect="1"/>
          </p:cNvPicPr>
          <p:nvPr/>
        </p:nvPicPr>
        <p:blipFill>
          <a:blip r:embed="rId15">
            <a:extLst/>
          </a:blip>
          <a:stretch>
            <a:fillRect/>
          </a:stretch>
        </p:blipFill>
        <p:spPr>
          <a:xfrm>
            <a:off x="14757400" y="7467600"/>
            <a:ext cx="1485900" cy="317500"/>
          </a:xfrm>
          <a:prstGeom prst="rect">
            <a:avLst/>
          </a:prstGeom>
          <a:ln w="12700">
            <a:miter lim="400000"/>
          </a:ln>
        </p:spPr>
      </p:pic>
      <p:pic>
        <p:nvPicPr>
          <p:cNvPr id="702" name="viz-23-12.svg" descr="viz-23-12.svg"/>
          <p:cNvPicPr>
            <a:picLocks noChangeAspect="1"/>
          </p:cNvPicPr>
          <p:nvPr/>
        </p:nvPicPr>
        <p:blipFill>
          <a:blip r:embed="rId16">
            <a:extLst/>
          </a:blip>
          <a:stretch>
            <a:fillRect/>
          </a:stretch>
        </p:blipFill>
        <p:spPr>
          <a:xfrm>
            <a:off x="16103600" y="6388100"/>
            <a:ext cx="7073900" cy="2476500"/>
          </a:xfrm>
          <a:prstGeom prst="rect">
            <a:avLst/>
          </a:prstGeom>
          <a:ln w="12700">
            <a:miter lim="400000"/>
          </a:ln>
        </p:spPr>
      </p:pic>
      <p:pic>
        <p:nvPicPr>
          <p:cNvPr id="703" name="viz-23-13.svg" descr="viz-23-13.svg"/>
          <p:cNvPicPr>
            <a:picLocks noChangeAspect="1"/>
          </p:cNvPicPr>
          <p:nvPr/>
        </p:nvPicPr>
        <p:blipFill>
          <a:blip r:embed="rId17">
            <a:extLst/>
          </a:blip>
          <a:stretch>
            <a:fillRect/>
          </a:stretch>
        </p:blipFill>
        <p:spPr>
          <a:xfrm>
            <a:off x="16484600" y="7289800"/>
            <a:ext cx="812800" cy="736600"/>
          </a:xfrm>
          <a:prstGeom prst="rect">
            <a:avLst/>
          </a:prstGeom>
          <a:ln w="12700">
            <a:miter lim="400000"/>
          </a:ln>
        </p:spPr>
      </p:pic>
      <p:sp>
        <p:nvSpPr>
          <p:cNvPr id="704" name="Built from source"/>
          <p:cNvSpPr txBox="1"/>
          <p:nvPr/>
        </p:nvSpPr>
        <p:spPr>
          <a:xfrm>
            <a:off x="2514600" y="5397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Built from source</a:t>
            </a:r>
          </a:p>
        </p:txBody>
      </p:sp>
      <p:sp>
        <p:nvSpPr>
          <p:cNvPr id="705" name="Where the details matter."/>
          <p:cNvSpPr txBox="1"/>
          <p:nvPr/>
        </p:nvSpPr>
        <p:spPr>
          <a:xfrm>
            <a:off x="2514600" y="5880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Where the details matter.</a:t>
            </a:r>
          </a:p>
        </p:txBody>
      </p:sp>
      <p:sp>
        <p:nvSpPr>
          <p:cNvPr id="706" name="Ansible playbooks"/>
          <p:cNvSpPr txBox="1"/>
          <p:nvPr/>
        </p:nvSpPr>
        <p:spPr>
          <a:xfrm>
            <a:off x="2514600" y="7175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Ansible playbooks</a:t>
            </a:r>
          </a:p>
        </p:txBody>
      </p:sp>
      <p:sp>
        <p:nvSpPr>
          <p:cNvPr id="707" name="The same setup on every server."/>
          <p:cNvSpPr txBox="1"/>
          <p:nvPr/>
        </p:nvSpPr>
        <p:spPr>
          <a:xfrm>
            <a:off x="2514600" y="7658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same setup on every server.</a:t>
            </a:r>
          </a:p>
        </p:txBody>
      </p:sp>
      <p:sp>
        <p:nvSpPr>
          <p:cNvPr id="708" name="Docker"/>
          <p:cNvSpPr txBox="1"/>
          <p:nvPr/>
        </p:nvSpPr>
        <p:spPr>
          <a:xfrm>
            <a:off x="2514600" y="8953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Docker</a:t>
            </a:r>
          </a:p>
        </p:txBody>
      </p:sp>
      <p:sp>
        <p:nvSpPr>
          <p:cNvPr id="709" name="For some services, where it fits."/>
          <p:cNvSpPr txBox="1"/>
          <p:nvPr/>
        </p:nvSpPr>
        <p:spPr>
          <a:xfrm>
            <a:off x="2514600" y="9436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For some services, where it fits.</a:t>
            </a:r>
          </a:p>
        </p:txBody>
      </p:sp>
      <p:sp>
        <p:nvSpPr>
          <p:cNvPr id="710" name="One standard"/>
          <p:cNvSpPr txBox="1"/>
          <p:nvPr/>
        </p:nvSpPr>
        <p:spPr>
          <a:xfrm>
            <a:off x="10591800" y="6997700"/>
            <a:ext cx="383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One standard</a:t>
            </a:r>
          </a:p>
        </p:txBody>
      </p:sp>
      <p:sp>
        <p:nvSpPr>
          <p:cNvPr id="711" name="Same rules for every kind of setup."/>
          <p:cNvSpPr txBox="1"/>
          <p:nvPr/>
        </p:nvSpPr>
        <p:spPr>
          <a:xfrm>
            <a:off x="10591800" y="7480299"/>
            <a:ext cx="38354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Same rules for every</a:t>
            </a:r>
            <a:br/>
            <a:r>
              <a:t>kind of setup.</a:t>
            </a:r>
          </a:p>
        </p:txBody>
      </p:sp>
      <p:sp>
        <p:nvSpPr>
          <p:cNvPr id="712" name="Written down"/>
          <p:cNvSpPr txBox="1"/>
          <p:nvPr/>
        </p:nvSpPr>
        <p:spPr>
          <a:xfrm>
            <a:off x="17449800" y="7010399"/>
            <a:ext cx="52578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Written down</a:t>
            </a:r>
          </a:p>
        </p:txBody>
      </p:sp>
      <p:sp>
        <p:nvSpPr>
          <p:cNvPr id="713" name="Servers and code are both documented."/>
          <p:cNvSpPr txBox="1"/>
          <p:nvPr/>
        </p:nvSpPr>
        <p:spPr>
          <a:xfrm>
            <a:off x="17449800" y="7467599"/>
            <a:ext cx="5257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FFFFFF"/>
                </a:solidFill>
                <a:latin typeface="Geist Regular Regular"/>
                <a:ea typeface="Geist Regular Regular"/>
                <a:cs typeface="Geist Regular Regular"/>
                <a:sym typeface="Geist Regular Regular"/>
              </a:defRPr>
            </a:pPr>
            <a:r>
              <a:t>Servers and code are</a:t>
            </a:r>
            <a:br/>
            <a:r>
              <a:t>both documented.</a:t>
            </a:r>
          </a:p>
        </p:txBody>
      </p:sp>
      <p:pic>
        <p:nvPicPr>
          <p:cNvPr id="714" name="prog-14.png" descr="prog-14.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19" name="Self-hosting takes more work"/>
          <p:cNvSpPr txBox="1"/>
          <p:nvPr/>
        </p:nvSpPr>
        <p:spPr>
          <a:xfrm>
            <a:off x="1308100" y="31749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Self-hosting </a:t>
            </a:r>
            <a:r>
              <a:rPr i="1" sz="9800">
                <a:solidFill>
                  <a:srgbClr val="6033A6"/>
                </a:solidFill>
                <a:latin typeface="Instrument Serif Regular"/>
                <a:ea typeface="Instrument Serif Regular"/>
                <a:cs typeface="Instrument Serif Regular"/>
                <a:sym typeface="Instrument Serif Regular"/>
              </a:rPr>
              <a:t>takes more work</a:t>
            </a:r>
          </a:p>
        </p:txBody>
      </p:sp>
      <p:sp>
        <p:nvSpPr>
          <p:cNvPr id="720" name="—"/>
          <p:cNvSpPr txBox="1"/>
          <p:nvPr/>
        </p:nvSpPr>
        <p:spPr>
          <a:xfrm>
            <a:off x="1320800" y="5295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1" name="Most of the work goes into compiling and configuring."/>
          <p:cNvSpPr txBox="1"/>
          <p:nvPr/>
        </p:nvSpPr>
        <p:spPr>
          <a:xfrm>
            <a:off x="2082800" y="52959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Most of the work goes into compiling and configuring.</a:t>
            </a:r>
          </a:p>
        </p:txBody>
      </p:sp>
      <p:sp>
        <p:nvSpPr>
          <p:cNvPr id="722" name="—"/>
          <p:cNvSpPr txBox="1"/>
          <p:nvPr/>
        </p:nvSpPr>
        <p:spPr>
          <a:xfrm>
            <a:off x="1320800" y="64008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3" name="Servers drift apart without fleet control."/>
          <p:cNvSpPr txBox="1"/>
          <p:nvPr/>
        </p:nvSpPr>
        <p:spPr>
          <a:xfrm>
            <a:off x="2082800" y="64008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Servers drift apart without fleet control.</a:t>
            </a:r>
          </a:p>
        </p:txBody>
      </p:sp>
      <p:sp>
        <p:nvSpPr>
          <p:cNvPr id="724" name="—"/>
          <p:cNvSpPr txBox="1"/>
          <p:nvPr/>
        </p:nvSpPr>
        <p:spPr>
          <a:xfrm>
            <a:off x="1320800" y="7505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5" name="Fixes happen manually first and end up in scripts later."/>
          <p:cNvSpPr txBox="1"/>
          <p:nvPr/>
        </p:nvSpPr>
        <p:spPr>
          <a:xfrm>
            <a:off x="2082800" y="7505700"/>
            <a:ext cx="147447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Fixes happen manually first and end up in scripts later.</a:t>
            </a:r>
          </a:p>
        </p:txBody>
      </p:sp>
      <p:sp>
        <p:nvSpPr>
          <p:cNvPr id="726" name="—"/>
          <p:cNvSpPr txBox="1"/>
          <p:nvPr/>
        </p:nvSpPr>
        <p:spPr>
          <a:xfrm>
            <a:off x="1320800" y="8597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7" name="Knowledge stays with a few people unless it is written down."/>
          <p:cNvSpPr txBox="1"/>
          <p:nvPr/>
        </p:nvSpPr>
        <p:spPr>
          <a:xfrm>
            <a:off x="2082800" y="8597900"/>
            <a:ext cx="140335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Knowledge stays with a few people unless it is written down.</a:t>
            </a:r>
          </a:p>
        </p:txBody>
      </p:sp>
      <p:sp>
        <p:nvSpPr>
          <p:cNvPr id="72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sp>
        <p:nvSpPr>
          <p:cNvPr id="729" name="—"/>
          <p:cNvSpPr txBox="1"/>
          <p:nvPr/>
        </p:nvSpPr>
        <p:spPr>
          <a:xfrm>
            <a:off x="1320800" y="9702800"/>
            <a:ext cx="552019" cy="7239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30" name="AI now speeds up the configuring and the scripting."/>
          <p:cNvSpPr txBox="1"/>
          <p:nvPr/>
        </p:nvSpPr>
        <p:spPr>
          <a:xfrm>
            <a:off x="2082800" y="97028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AI now speeds up the configuring and the scripting.</a:t>
            </a:r>
          </a:p>
        </p:txBody>
      </p:sp>
      <p:pic>
        <p:nvPicPr>
          <p:cNvPr id="731"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36" name="Why we still do it"/>
          <p:cNvSpPr txBox="1"/>
          <p:nvPr/>
        </p:nvSpPr>
        <p:spPr>
          <a:xfrm>
            <a:off x="1308100" y="31749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we </a:t>
            </a:r>
            <a:r>
              <a:rPr i="1" sz="9800">
                <a:solidFill>
                  <a:srgbClr val="6033A6"/>
                </a:solidFill>
                <a:latin typeface="Instrument Serif Regular"/>
                <a:ea typeface="Instrument Serif Regular"/>
                <a:cs typeface="Instrument Serif Regular"/>
                <a:sym typeface="Instrument Serif Regular"/>
              </a:rPr>
              <a:t>still do it</a:t>
            </a:r>
          </a:p>
        </p:txBody>
      </p:sp>
      <p:sp>
        <p:nvSpPr>
          <p:cNvPr id="737" name="—"/>
          <p:cNvSpPr txBox="1"/>
          <p:nvPr/>
        </p:nvSpPr>
        <p:spPr>
          <a:xfrm>
            <a:off x="1320800" y="5295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38" name="Every layer can be read, down to the source code."/>
          <p:cNvSpPr txBox="1"/>
          <p:nvPr/>
        </p:nvSpPr>
        <p:spPr>
          <a:xfrm>
            <a:off x="2082800" y="5295900"/>
            <a:ext cx="115443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Every layer can be read, down to the source code.</a:t>
            </a:r>
          </a:p>
        </p:txBody>
      </p:sp>
      <p:sp>
        <p:nvSpPr>
          <p:cNvPr id="739" name="—"/>
          <p:cNvSpPr txBox="1"/>
          <p:nvPr/>
        </p:nvSpPr>
        <p:spPr>
          <a:xfrm>
            <a:off x="1320800" y="64008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0" name="A crash can be traced from the log to the source."/>
          <p:cNvSpPr txBox="1"/>
          <p:nvPr/>
        </p:nvSpPr>
        <p:spPr>
          <a:xfrm>
            <a:off x="2082800" y="6400800"/>
            <a:ext cx="11379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A crash can be traced from the log to the source.</a:t>
            </a:r>
          </a:p>
        </p:txBody>
      </p:sp>
      <p:sp>
        <p:nvSpPr>
          <p:cNvPr id="741" name="—"/>
          <p:cNvSpPr txBox="1"/>
          <p:nvPr/>
        </p:nvSpPr>
        <p:spPr>
          <a:xfrm>
            <a:off x="1320800" y="7505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2" name="Portability and owning your data. In 2016 we moved every site to another provider."/>
          <p:cNvSpPr txBox="1"/>
          <p:nvPr/>
        </p:nvSpPr>
        <p:spPr>
          <a:xfrm>
            <a:off x="2082800" y="7505700"/>
            <a:ext cx="19064404"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Portability and owning your data. In 2016 we moved every site to another provider.</a:t>
            </a:r>
          </a:p>
        </p:txBody>
      </p:sp>
      <p:sp>
        <p:nvSpPr>
          <p:cNvPr id="743" name="—"/>
          <p:cNvSpPr txBox="1"/>
          <p:nvPr/>
        </p:nvSpPr>
        <p:spPr>
          <a:xfrm>
            <a:off x="1320800" y="8597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4" name="No vendor lock-in."/>
          <p:cNvSpPr txBox="1"/>
          <p:nvPr/>
        </p:nvSpPr>
        <p:spPr>
          <a:xfrm>
            <a:off x="2082800" y="8597900"/>
            <a:ext cx="163703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No vendor lock-in.</a:t>
            </a:r>
          </a:p>
        </p:txBody>
      </p:sp>
      <p:sp>
        <p:nvSpPr>
          <p:cNvPr id="7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46" name="prog-16.png" descr="prog-1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1" name="Own servers and the cloud"/>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Own servers </a:t>
            </a:r>
            <a:r>
              <a:rPr i="1" sz="9800">
                <a:solidFill>
                  <a:srgbClr val="6033A6"/>
                </a:solidFill>
                <a:latin typeface="Instrument Serif Regular"/>
                <a:ea typeface="Instrument Serif Regular"/>
                <a:cs typeface="Instrument Serif Regular"/>
                <a:sym typeface="Instrument Serif Regular"/>
              </a:rPr>
              <a:t>and the cloud</a:t>
            </a:r>
          </a:p>
        </p:txBody>
      </p:sp>
      <p:sp>
        <p:nvSpPr>
          <p:cNvPr id="752"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53" name="viz-12-00.svg" descr="viz-12-00.svg"/>
          <p:cNvPicPr>
            <a:picLocks noChangeAspect="1"/>
          </p:cNvPicPr>
          <p:nvPr/>
        </p:nvPicPr>
        <p:blipFill>
          <a:blip r:embed="rId4">
            <a:extLst/>
          </a:blip>
          <a:stretch>
            <a:fillRect/>
          </a:stretch>
        </p:blipFill>
        <p:spPr>
          <a:xfrm>
            <a:off x="1168400" y="5588000"/>
            <a:ext cx="5346700" cy="1155700"/>
          </a:xfrm>
          <a:prstGeom prst="rect">
            <a:avLst/>
          </a:prstGeom>
          <a:ln w="12700">
            <a:miter lim="400000"/>
          </a:ln>
        </p:spPr>
      </p:pic>
      <p:pic>
        <p:nvPicPr>
          <p:cNvPr id="754" name="viz-12-01.svg" descr="viz-12-01.svg"/>
          <p:cNvPicPr>
            <a:picLocks noChangeAspect="1"/>
          </p:cNvPicPr>
          <p:nvPr/>
        </p:nvPicPr>
        <p:blipFill>
          <a:blip r:embed="rId4">
            <a:extLst/>
          </a:blip>
          <a:stretch>
            <a:fillRect/>
          </a:stretch>
        </p:blipFill>
        <p:spPr>
          <a:xfrm>
            <a:off x="1168400" y="6629400"/>
            <a:ext cx="5346700" cy="1155700"/>
          </a:xfrm>
          <a:prstGeom prst="rect">
            <a:avLst/>
          </a:prstGeom>
          <a:ln w="12700">
            <a:miter lim="400000"/>
          </a:ln>
        </p:spPr>
      </p:pic>
      <p:pic>
        <p:nvPicPr>
          <p:cNvPr id="755" name="viz-12-02.svg" descr="viz-12-02.svg"/>
          <p:cNvPicPr>
            <a:picLocks noChangeAspect="1"/>
          </p:cNvPicPr>
          <p:nvPr/>
        </p:nvPicPr>
        <p:blipFill>
          <a:blip r:embed="rId4">
            <a:extLst/>
          </a:blip>
          <a:stretch>
            <a:fillRect/>
          </a:stretch>
        </p:blipFill>
        <p:spPr>
          <a:xfrm>
            <a:off x="1168400" y="7670800"/>
            <a:ext cx="5346700" cy="1155700"/>
          </a:xfrm>
          <a:prstGeom prst="rect">
            <a:avLst/>
          </a:prstGeom>
          <a:ln w="12700">
            <a:miter lim="400000"/>
          </a:ln>
        </p:spPr>
      </p:pic>
      <p:pic>
        <p:nvPicPr>
          <p:cNvPr id="756" name="viz-12-03.svg" descr="viz-12-03.svg"/>
          <p:cNvPicPr>
            <a:picLocks noChangeAspect="1"/>
          </p:cNvPicPr>
          <p:nvPr/>
        </p:nvPicPr>
        <p:blipFill>
          <a:blip r:embed="rId5">
            <a:extLst/>
          </a:blip>
          <a:stretch>
            <a:fillRect/>
          </a:stretch>
        </p:blipFill>
        <p:spPr>
          <a:xfrm>
            <a:off x="1168400" y="8712200"/>
            <a:ext cx="5346700" cy="1155700"/>
          </a:xfrm>
          <a:prstGeom prst="rect">
            <a:avLst/>
          </a:prstGeom>
          <a:ln w="12700">
            <a:miter lim="400000"/>
          </a:ln>
        </p:spPr>
      </p:pic>
      <p:pic>
        <p:nvPicPr>
          <p:cNvPr id="757" name="viz-12-04.svg" descr="viz-12-04.svg"/>
          <p:cNvPicPr>
            <a:picLocks noChangeAspect="1"/>
          </p:cNvPicPr>
          <p:nvPr/>
        </p:nvPicPr>
        <p:blipFill>
          <a:blip r:embed="rId6">
            <a:extLst/>
          </a:blip>
          <a:stretch>
            <a:fillRect/>
          </a:stretch>
        </p:blipFill>
        <p:spPr>
          <a:xfrm>
            <a:off x="1168400" y="9753600"/>
            <a:ext cx="5346700" cy="1155700"/>
          </a:xfrm>
          <a:prstGeom prst="rect">
            <a:avLst/>
          </a:prstGeom>
          <a:ln w="12700">
            <a:miter lim="400000"/>
          </a:ln>
        </p:spPr>
      </p:pic>
      <p:pic>
        <p:nvPicPr>
          <p:cNvPr id="758" name="viz-12-05.svg" descr="viz-12-05.svg"/>
          <p:cNvPicPr>
            <a:picLocks noChangeAspect="1"/>
          </p:cNvPicPr>
          <p:nvPr/>
        </p:nvPicPr>
        <p:blipFill>
          <a:blip r:embed="rId7">
            <a:extLst/>
          </a:blip>
          <a:stretch>
            <a:fillRect/>
          </a:stretch>
        </p:blipFill>
        <p:spPr>
          <a:xfrm>
            <a:off x="6794500" y="5651500"/>
            <a:ext cx="685800" cy="685800"/>
          </a:xfrm>
          <a:prstGeom prst="rect">
            <a:avLst/>
          </a:prstGeom>
          <a:ln w="12700">
            <a:miter lim="400000"/>
          </a:ln>
        </p:spPr>
      </p:pic>
      <p:pic>
        <p:nvPicPr>
          <p:cNvPr id="759" name="viz-12-06.svg" descr="viz-12-06.svg"/>
          <p:cNvPicPr>
            <a:picLocks noChangeAspect="1"/>
          </p:cNvPicPr>
          <p:nvPr/>
        </p:nvPicPr>
        <p:blipFill>
          <a:blip r:embed="rId8">
            <a:extLst/>
          </a:blip>
          <a:stretch>
            <a:fillRect/>
          </a:stretch>
        </p:blipFill>
        <p:spPr>
          <a:xfrm>
            <a:off x="6794500" y="8318500"/>
            <a:ext cx="685800" cy="685800"/>
          </a:xfrm>
          <a:prstGeom prst="rect">
            <a:avLst/>
          </a:prstGeom>
          <a:ln w="12700">
            <a:miter lim="400000"/>
          </a:ln>
        </p:spPr>
      </p:pic>
      <p:pic>
        <p:nvPicPr>
          <p:cNvPr id="760" name="viz-12-07.svg" descr="viz-12-07.svg"/>
          <p:cNvPicPr>
            <a:picLocks noChangeAspect="1"/>
          </p:cNvPicPr>
          <p:nvPr/>
        </p:nvPicPr>
        <p:blipFill>
          <a:blip r:embed="rId4">
            <a:extLst/>
          </a:blip>
          <a:stretch>
            <a:fillRect/>
          </a:stretch>
        </p:blipFill>
        <p:spPr>
          <a:xfrm>
            <a:off x="12649200" y="5588000"/>
            <a:ext cx="5346700" cy="1155700"/>
          </a:xfrm>
          <a:prstGeom prst="rect">
            <a:avLst/>
          </a:prstGeom>
          <a:ln w="12700">
            <a:miter lim="400000"/>
          </a:ln>
        </p:spPr>
      </p:pic>
      <p:pic>
        <p:nvPicPr>
          <p:cNvPr id="761" name="viz-12-08.svg" descr="viz-12-08.svg"/>
          <p:cNvPicPr>
            <a:picLocks noChangeAspect="1"/>
          </p:cNvPicPr>
          <p:nvPr/>
        </p:nvPicPr>
        <p:blipFill>
          <a:blip r:embed="rId9">
            <a:extLst/>
          </a:blip>
          <a:stretch>
            <a:fillRect/>
          </a:stretch>
        </p:blipFill>
        <p:spPr>
          <a:xfrm>
            <a:off x="12649200" y="6629400"/>
            <a:ext cx="5346700" cy="1155700"/>
          </a:xfrm>
          <a:prstGeom prst="rect">
            <a:avLst/>
          </a:prstGeom>
          <a:ln w="12700">
            <a:miter lim="400000"/>
          </a:ln>
        </p:spPr>
      </p:pic>
      <p:pic>
        <p:nvPicPr>
          <p:cNvPr id="762" name="viz-12-09.svg" descr="viz-12-09.svg"/>
          <p:cNvPicPr>
            <a:picLocks noChangeAspect="1"/>
          </p:cNvPicPr>
          <p:nvPr/>
        </p:nvPicPr>
        <p:blipFill>
          <a:blip r:embed="rId10">
            <a:extLst/>
          </a:blip>
          <a:stretch>
            <a:fillRect/>
          </a:stretch>
        </p:blipFill>
        <p:spPr>
          <a:xfrm>
            <a:off x="12649200" y="7670800"/>
            <a:ext cx="5346700" cy="1155700"/>
          </a:xfrm>
          <a:prstGeom prst="rect">
            <a:avLst/>
          </a:prstGeom>
          <a:ln w="12700">
            <a:miter lim="400000"/>
          </a:ln>
        </p:spPr>
      </p:pic>
      <p:pic>
        <p:nvPicPr>
          <p:cNvPr id="763" name="viz-12-10.svg" descr="viz-12-10.svg"/>
          <p:cNvPicPr>
            <a:picLocks noChangeAspect="1"/>
          </p:cNvPicPr>
          <p:nvPr/>
        </p:nvPicPr>
        <p:blipFill>
          <a:blip r:embed="rId11">
            <a:extLst/>
          </a:blip>
          <a:stretch>
            <a:fillRect/>
          </a:stretch>
        </p:blipFill>
        <p:spPr>
          <a:xfrm>
            <a:off x="12649200" y="8712200"/>
            <a:ext cx="5346700" cy="1155700"/>
          </a:xfrm>
          <a:prstGeom prst="rect">
            <a:avLst/>
          </a:prstGeom>
          <a:ln w="12700">
            <a:miter lim="400000"/>
          </a:ln>
        </p:spPr>
      </p:pic>
      <p:pic>
        <p:nvPicPr>
          <p:cNvPr id="764" name="viz-12-11.svg" descr="viz-12-11.svg"/>
          <p:cNvPicPr>
            <a:picLocks noChangeAspect="1"/>
          </p:cNvPicPr>
          <p:nvPr/>
        </p:nvPicPr>
        <p:blipFill>
          <a:blip r:embed="rId12">
            <a:extLst/>
          </a:blip>
          <a:stretch>
            <a:fillRect/>
          </a:stretch>
        </p:blipFill>
        <p:spPr>
          <a:xfrm>
            <a:off x="12649200" y="9753600"/>
            <a:ext cx="5346700" cy="1155700"/>
          </a:xfrm>
          <a:prstGeom prst="rect">
            <a:avLst/>
          </a:prstGeom>
          <a:ln w="12700">
            <a:miter lim="400000"/>
          </a:ln>
        </p:spPr>
      </p:pic>
      <p:pic>
        <p:nvPicPr>
          <p:cNvPr id="765" name="viz-12-12.svg" descr="viz-12-12.svg"/>
          <p:cNvPicPr>
            <a:picLocks noChangeAspect="1"/>
          </p:cNvPicPr>
          <p:nvPr/>
        </p:nvPicPr>
        <p:blipFill>
          <a:blip r:embed="rId7">
            <a:extLst/>
          </a:blip>
          <a:stretch>
            <a:fillRect/>
          </a:stretch>
        </p:blipFill>
        <p:spPr>
          <a:xfrm>
            <a:off x="18275300" y="5651500"/>
            <a:ext cx="685800" cy="685800"/>
          </a:xfrm>
          <a:prstGeom prst="rect">
            <a:avLst/>
          </a:prstGeom>
          <a:ln w="12700">
            <a:miter lim="400000"/>
          </a:ln>
        </p:spPr>
      </p:pic>
      <p:pic>
        <p:nvPicPr>
          <p:cNvPr id="766" name="viz-12-13.svg" descr="viz-12-13.svg"/>
          <p:cNvPicPr>
            <a:picLocks noChangeAspect="1"/>
          </p:cNvPicPr>
          <p:nvPr/>
        </p:nvPicPr>
        <p:blipFill>
          <a:blip r:embed="rId8">
            <a:extLst/>
          </a:blip>
          <a:stretch>
            <a:fillRect/>
          </a:stretch>
        </p:blipFill>
        <p:spPr>
          <a:xfrm>
            <a:off x="18275300" y="8318500"/>
            <a:ext cx="685800" cy="685800"/>
          </a:xfrm>
          <a:prstGeom prst="rect">
            <a:avLst/>
          </a:prstGeom>
          <a:ln w="12700">
            <a:miter lim="400000"/>
          </a:ln>
        </p:spPr>
      </p:pic>
      <p:pic>
        <p:nvPicPr>
          <p:cNvPr id="767" name="viz-12-14.svg" descr="viz-12-14.svg"/>
          <p:cNvPicPr>
            <a:picLocks noChangeAspect="1"/>
          </p:cNvPicPr>
          <p:nvPr/>
        </p:nvPicPr>
        <p:blipFill>
          <a:blip r:embed="rId13">
            <a:extLst/>
          </a:blip>
          <a:stretch>
            <a:fillRect/>
          </a:stretch>
        </p:blipFill>
        <p:spPr>
          <a:xfrm>
            <a:off x="1168400" y="11176000"/>
            <a:ext cx="622300" cy="622300"/>
          </a:xfrm>
          <a:prstGeom prst="rect">
            <a:avLst/>
          </a:prstGeom>
          <a:ln w="12700">
            <a:miter lim="400000"/>
          </a:ln>
        </p:spPr>
      </p:pic>
      <p:pic>
        <p:nvPicPr>
          <p:cNvPr id="768" name="viz-12-15.svg" descr="viz-12-15.svg"/>
          <p:cNvPicPr>
            <a:picLocks noChangeAspect="1"/>
          </p:cNvPicPr>
          <p:nvPr/>
        </p:nvPicPr>
        <p:blipFill>
          <a:blip r:embed="rId14">
            <a:extLst/>
          </a:blip>
          <a:stretch>
            <a:fillRect/>
          </a:stretch>
        </p:blipFill>
        <p:spPr>
          <a:xfrm>
            <a:off x="5181600" y="11176000"/>
            <a:ext cx="622300" cy="622300"/>
          </a:xfrm>
          <a:prstGeom prst="rect">
            <a:avLst/>
          </a:prstGeom>
          <a:ln w="12700">
            <a:miter lim="400000"/>
          </a:ln>
        </p:spPr>
      </p:pic>
      <p:sp>
        <p:nvSpPr>
          <p:cNvPr id="769" name="Own servers"/>
          <p:cNvSpPr txBox="1"/>
          <p:nvPr/>
        </p:nvSpPr>
        <p:spPr>
          <a:xfrm>
            <a:off x="1320800" y="4927600"/>
            <a:ext cx="63500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Own servers</a:t>
            </a:r>
          </a:p>
        </p:txBody>
      </p:sp>
      <p:sp>
        <p:nvSpPr>
          <p:cNvPr id="770" name="Code and data"/>
          <p:cNvSpPr txBox="1"/>
          <p:nvPr/>
        </p:nvSpPr>
        <p:spPr>
          <a:xfrm>
            <a:off x="1676400" y="59308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Code and data</a:t>
            </a:r>
          </a:p>
        </p:txBody>
      </p:sp>
      <p:sp>
        <p:nvSpPr>
          <p:cNvPr id="771" name="Runtime"/>
          <p:cNvSpPr txBox="1"/>
          <p:nvPr/>
        </p:nvSpPr>
        <p:spPr>
          <a:xfrm>
            <a:off x="1676400" y="69722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Runtime</a:t>
            </a:r>
          </a:p>
        </p:txBody>
      </p:sp>
      <p:sp>
        <p:nvSpPr>
          <p:cNvPr id="772" name="Operating system"/>
          <p:cNvSpPr txBox="1"/>
          <p:nvPr/>
        </p:nvSpPr>
        <p:spPr>
          <a:xfrm>
            <a:off x="1676400" y="80136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Operating system</a:t>
            </a:r>
          </a:p>
        </p:txBody>
      </p:sp>
      <p:sp>
        <p:nvSpPr>
          <p:cNvPr id="773" name="Network"/>
          <p:cNvSpPr txBox="1"/>
          <p:nvPr/>
        </p:nvSpPr>
        <p:spPr>
          <a:xfrm>
            <a:off x="1676400" y="90550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Network</a:t>
            </a:r>
          </a:p>
        </p:txBody>
      </p:sp>
      <p:sp>
        <p:nvSpPr>
          <p:cNvPr id="774" name="Hardware"/>
          <p:cNvSpPr txBox="1"/>
          <p:nvPr/>
        </p:nvSpPr>
        <p:spPr>
          <a:xfrm>
            <a:off x="1676400" y="100964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Hardware</a:t>
            </a:r>
          </a:p>
        </p:txBody>
      </p:sp>
      <p:sp>
        <p:nvSpPr>
          <p:cNvPr id="775" name="We can open every layer, and moving to another provider means copying files and databases."/>
          <p:cNvSpPr txBox="1"/>
          <p:nvPr/>
        </p:nvSpPr>
        <p:spPr>
          <a:xfrm>
            <a:off x="7569200" y="5740399"/>
            <a:ext cx="3810000" cy="1417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can open every layer, and moving to another provider means copying files and databases.</a:t>
            </a:r>
          </a:p>
        </p:txBody>
      </p:sp>
      <p:sp>
        <p:nvSpPr>
          <p:cNvPr id="776" name="We patch, monitor and fix everything ourselves, also at night."/>
          <p:cNvSpPr txBox="1"/>
          <p:nvPr/>
        </p:nvSpPr>
        <p:spPr>
          <a:xfrm>
            <a:off x="7569200" y="8407400"/>
            <a:ext cx="3810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patch, monitor and fix everything ourselves, also at night.</a:t>
            </a:r>
          </a:p>
        </p:txBody>
      </p:sp>
      <p:sp>
        <p:nvSpPr>
          <p:cNvPr id="777" name="Cloud"/>
          <p:cNvSpPr txBox="1"/>
          <p:nvPr/>
        </p:nvSpPr>
        <p:spPr>
          <a:xfrm>
            <a:off x="12801600" y="4927600"/>
            <a:ext cx="63500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Cloud</a:t>
            </a:r>
          </a:p>
        </p:txBody>
      </p:sp>
      <p:sp>
        <p:nvSpPr>
          <p:cNvPr id="778" name="Code and data"/>
          <p:cNvSpPr txBox="1"/>
          <p:nvPr/>
        </p:nvSpPr>
        <p:spPr>
          <a:xfrm>
            <a:off x="13157200" y="59308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Code and data</a:t>
            </a:r>
          </a:p>
        </p:txBody>
      </p:sp>
      <p:sp>
        <p:nvSpPr>
          <p:cNvPr id="779" name="Runtime"/>
          <p:cNvSpPr txBox="1"/>
          <p:nvPr/>
        </p:nvSpPr>
        <p:spPr>
          <a:xfrm>
            <a:off x="13157200" y="69722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Runtime</a:t>
            </a:r>
          </a:p>
        </p:txBody>
      </p:sp>
      <p:sp>
        <p:nvSpPr>
          <p:cNvPr id="780" name="Operating system"/>
          <p:cNvSpPr txBox="1"/>
          <p:nvPr/>
        </p:nvSpPr>
        <p:spPr>
          <a:xfrm>
            <a:off x="13157200" y="80136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Operating system</a:t>
            </a:r>
          </a:p>
        </p:txBody>
      </p:sp>
      <p:sp>
        <p:nvSpPr>
          <p:cNvPr id="781" name="Network"/>
          <p:cNvSpPr txBox="1"/>
          <p:nvPr/>
        </p:nvSpPr>
        <p:spPr>
          <a:xfrm>
            <a:off x="13157200" y="90550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Network</a:t>
            </a:r>
          </a:p>
        </p:txBody>
      </p:sp>
      <p:sp>
        <p:nvSpPr>
          <p:cNvPr id="782" name="Hardware"/>
          <p:cNvSpPr txBox="1"/>
          <p:nvPr/>
        </p:nvSpPr>
        <p:spPr>
          <a:xfrm>
            <a:off x="13157200" y="100964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Hardware</a:t>
            </a:r>
          </a:p>
        </p:txBody>
      </p:sp>
      <p:sp>
        <p:nvSpPr>
          <p:cNvPr id="783" name="The provider handles hardware failures, failover and scaling."/>
          <p:cNvSpPr txBox="1"/>
          <p:nvPr/>
        </p:nvSpPr>
        <p:spPr>
          <a:xfrm>
            <a:off x="19050000" y="5740400"/>
            <a:ext cx="3810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provider handles hardware failures, failover and scaling.</a:t>
            </a:r>
          </a:p>
        </p:txBody>
      </p:sp>
      <p:sp>
        <p:nvSpPr>
          <p:cNvPr id="784" name="When the platform breaks, we wait. An American company's EU region still falls under US law."/>
          <p:cNvSpPr txBox="1"/>
          <p:nvPr/>
        </p:nvSpPr>
        <p:spPr>
          <a:xfrm>
            <a:off x="19050000" y="8407399"/>
            <a:ext cx="3810000" cy="1417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When the platform breaks, we wait. An American company's EU region still falls under US law.</a:t>
            </a:r>
          </a:p>
        </p:txBody>
      </p:sp>
      <p:sp>
        <p:nvSpPr>
          <p:cNvPr id="785" name="We are in control"/>
          <p:cNvSpPr txBox="1"/>
          <p:nvPr/>
        </p:nvSpPr>
        <p:spPr>
          <a:xfrm>
            <a:off x="1778000" y="112267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are in control</a:t>
            </a:r>
          </a:p>
        </p:txBody>
      </p:sp>
      <p:sp>
        <p:nvSpPr>
          <p:cNvPr id="786" name="The provider is in control"/>
          <p:cNvSpPr txBox="1"/>
          <p:nvPr/>
        </p:nvSpPr>
        <p:spPr>
          <a:xfrm>
            <a:off x="5791200" y="11226799"/>
            <a:ext cx="508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provider is in control</a:t>
            </a:r>
          </a:p>
        </p:txBody>
      </p:sp>
      <p:pic>
        <p:nvPicPr>
          <p:cNvPr id="787" name="prog-17.png" descr="prog-17.png"/>
          <p:cNvPicPr>
            <a:picLocks noChangeAspect="1"/>
          </p:cNvPicPr>
          <p:nvPr/>
        </p:nvPicPr>
        <p:blipFill>
          <a:blip r:embed="rId1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2" name="Own your data"/>
          <p:cNvSpPr txBox="1"/>
          <p:nvPr/>
        </p:nvSpPr>
        <p:spPr>
          <a:xfrm>
            <a:off x="12954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Own your data</a:t>
            </a:r>
          </a:p>
        </p:txBody>
      </p:sp>
      <p:sp>
        <p:nvSpPr>
          <p:cNvPr id="793" name="and know where it live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know where it lives</a:t>
            </a:r>
          </a:p>
        </p:txBody>
      </p:sp>
      <p:sp>
        <p:nvSpPr>
          <p:cNvPr id="794" name="FOSS, analytics, documents, CRM all live on servers you own and control, with back ups."/>
          <p:cNvSpPr txBox="1"/>
          <p:nvPr/>
        </p:nvSpPr>
        <p:spPr>
          <a:xfrm>
            <a:off x="1320800" y="7708900"/>
            <a:ext cx="10414000" cy="12357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FOSS, analytics, documents, CRM all live on servers you own and control, with back ups.</a:t>
            </a:r>
          </a:p>
        </p:txBody>
      </p:sp>
      <p:sp>
        <p:nvSpPr>
          <p:cNvPr id="79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96" name="viz-14-00.svg" descr="viz-14-00.svg"/>
          <p:cNvPicPr>
            <a:picLocks noChangeAspect="1"/>
          </p:cNvPicPr>
          <p:nvPr/>
        </p:nvPicPr>
        <p:blipFill>
          <a:blip r:embed="rId4">
            <a:extLst/>
          </a:blip>
          <a:stretch>
            <a:fillRect/>
          </a:stretch>
        </p:blipFill>
        <p:spPr>
          <a:xfrm>
            <a:off x="14960600" y="6261100"/>
            <a:ext cx="3365500" cy="2095500"/>
          </a:xfrm>
          <a:prstGeom prst="rect">
            <a:avLst/>
          </a:prstGeom>
          <a:ln w="12700">
            <a:miter lim="400000"/>
          </a:ln>
        </p:spPr>
      </p:pic>
      <p:pic>
        <p:nvPicPr>
          <p:cNvPr id="797" name="viz-14-01.svg" descr="viz-14-01.svg"/>
          <p:cNvPicPr>
            <a:picLocks noChangeAspect="1"/>
          </p:cNvPicPr>
          <p:nvPr/>
        </p:nvPicPr>
        <p:blipFill>
          <a:blip r:embed="rId5">
            <a:extLst/>
          </a:blip>
          <a:stretch>
            <a:fillRect/>
          </a:stretch>
        </p:blipFill>
        <p:spPr>
          <a:xfrm>
            <a:off x="15379700" y="6921500"/>
            <a:ext cx="736600" cy="762000"/>
          </a:xfrm>
          <a:prstGeom prst="rect">
            <a:avLst/>
          </a:prstGeom>
          <a:ln w="12700">
            <a:miter lim="400000"/>
          </a:ln>
        </p:spPr>
      </p:pic>
      <p:pic>
        <p:nvPicPr>
          <p:cNvPr id="798" name="viz-14-02.svg" descr="viz-14-02.svg"/>
          <p:cNvPicPr>
            <a:picLocks noChangeAspect="1"/>
          </p:cNvPicPr>
          <p:nvPr/>
        </p:nvPicPr>
        <p:blipFill>
          <a:blip r:embed="rId6">
            <a:extLst/>
          </a:blip>
          <a:stretch>
            <a:fillRect/>
          </a:stretch>
        </p:blipFill>
        <p:spPr>
          <a:xfrm>
            <a:off x="19558000" y="4432300"/>
            <a:ext cx="3619500" cy="1435100"/>
          </a:xfrm>
          <a:prstGeom prst="rect">
            <a:avLst/>
          </a:prstGeom>
          <a:ln w="12700">
            <a:miter lim="400000"/>
          </a:ln>
        </p:spPr>
      </p:pic>
      <p:pic>
        <p:nvPicPr>
          <p:cNvPr id="799" name="viz-14-03.svg" descr="viz-14-03.svg"/>
          <p:cNvPicPr>
            <a:picLocks noChangeAspect="1"/>
          </p:cNvPicPr>
          <p:nvPr/>
        </p:nvPicPr>
        <p:blipFill>
          <a:blip r:embed="rId7">
            <a:extLst/>
          </a:blip>
          <a:stretch>
            <a:fillRect/>
          </a:stretch>
        </p:blipFill>
        <p:spPr>
          <a:xfrm>
            <a:off x="19926300" y="4813300"/>
            <a:ext cx="838200" cy="660400"/>
          </a:xfrm>
          <a:prstGeom prst="rect">
            <a:avLst/>
          </a:prstGeom>
          <a:ln w="12700">
            <a:miter lim="400000"/>
          </a:ln>
        </p:spPr>
      </p:pic>
      <p:pic>
        <p:nvPicPr>
          <p:cNvPr id="800" name="viz-18-04.svg" descr="viz-18-04.svg"/>
          <p:cNvPicPr>
            <a:picLocks noChangeAspect="1"/>
          </p:cNvPicPr>
          <p:nvPr/>
        </p:nvPicPr>
        <p:blipFill>
          <a:blip r:embed="rId8">
            <a:extLst/>
          </a:blip>
          <a:stretch>
            <a:fillRect/>
          </a:stretch>
        </p:blipFill>
        <p:spPr>
          <a:xfrm>
            <a:off x="18161000" y="4991100"/>
            <a:ext cx="1536700" cy="2476500"/>
          </a:xfrm>
          <a:prstGeom prst="rect">
            <a:avLst/>
          </a:prstGeom>
          <a:ln w="12700">
            <a:miter lim="400000"/>
          </a:ln>
        </p:spPr>
      </p:pic>
      <p:pic>
        <p:nvPicPr>
          <p:cNvPr id="801" name="viz-14-05.svg" descr="viz-14-05.svg"/>
          <p:cNvPicPr>
            <a:picLocks noChangeAspect="1"/>
          </p:cNvPicPr>
          <p:nvPr/>
        </p:nvPicPr>
        <p:blipFill>
          <a:blip r:embed="rId9">
            <a:extLst/>
          </a:blip>
          <a:stretch>
            <a:fillRect/>
          </a:stretch>
        </p:blipFill>
        <p:spPr>
          <a:xfrm>
            <a:off x="19558000" y="6591300"/>
            <a:ext cx="3619500" cy="1435100"/>
          </a:xfrm>
          <a:prstGeom prst="rect">
            <a:avLst/>
          </a:prstGeom>
          <a:ln w="12700">
            <a:miter lim="400000"/>
          </a:ln>
        </p:spPr>
      </p:pic>
      <p:pic>
        <p:nvPicPr>
          <p:cNvPr id="802" name="viz-14-06.svg" descr="viz-14-06.svg"/>
          <p:cNvPicPr>
            <a:picLocks noChangeAspect="1"/>
          </p:cNvPicPr>
          <p:nvPr/>
        </p:nvPicPr>
        <p:blipFill>
          <a:blip r:embed="rId10">
            <a:extLst/>
          </a:blip>
          <a:stretch>
            <a:fillRect/>
          </a:stretch>
        </p:blipFill>
        <p:spPr>
          <a:xfrm>
            <a:off x="19939000" y="6972300"/>
            <a:ext cx="812800" cy="660400"/>
          </a:xfrm>
          <a:prstGeom prst="rect">
            <a:avLst/>
          </a:prstGeom>
          <a:ln w="12700">
            <a:miter lim="400000"/>
          </a:ln>
        </p:spPr>
      </p:pic>
      <p:pic>
        <p:nvPicPr>
          <p:cNvPr id="803" name="viz-18-07.svg" descr="viz-18-07.svg"/>
          <p:cNvPicPr>
            <a:picLocks noChangeAspect="1"/>
          </p:cNvPicPr>
          <p:nvPr/>
        </p:nvPicPr>
        <p:blipFill>
          <a:blip r:embed="rId11">
            <a:extLst/>
          </a:blip>
          <a:stretch>
            <a:fillRect/>
          </a:stretch>
        </p:blipFill>
        <p:spPr>
          <a:xfrm>
            <a:off x="18161000" y="7150100"/>
            <a:ext cx="1536700" cy="317500"/>
          </a:xfrm>
          <a:prstGeom prst="rect">
            <a:avLst/>
          </a:prstGeom>
          <a:ln w="12700">
            <a:miter lim="400000"/>
          </a:ln>
        </p:spPr>
      </p:pic>
      <p:pic>
        <p:nvPicPr>
          <p:cNvPr id="804" name="viz-14-08.svg" descr="viz-14-08.svg"/>
          <p:cNvPicPr>
            <a:picLocks noChangeAspect="1"/>
          </p:cNvPicPr>
          <p:nvPr/>
        </p:nvPicPr>
        <p:blipFill>
          <a:blip r:embed="rId12">
            <a:extLst/>
          </a:blip>
          <a:stretch>
            <a:fillRect/>
          </a:stretch>
        </p:blipFill>
        <p:spPr>
          <a:xfrm>
            <a:off x="19558000" y="8750300"/>
            <a:ext cx="3619500" cy="1435100"/>
          </a:xfrm>
          <a:prstGeom prst="rect">
            <a:avLst/>
          </a:prstGeom>
          <a:ln w="12700">
            <a:miter lim="400000"/>
          </a:ln>
        </p:spPr>
      </p:pic>
      <p:pic>
        <p:nvPicPr>
          <p:cNvPr id="805" name="viz-14-09.svg" descr="viz-14-09.svg"/>
          <p:cNvPicPr>
            <a:picLocks noChangeAspect="1"/>
          </p:cNvPicPr>
          <p:nvPr/>
        </p:nvPicPr>
        <p:blipFill>
          <a:blip r:embed="rId13">
            <a:extLst/>
          </a:blip>
          <a:stretch>
            <a:fillRect/>
          </a:stretch>
        </p:blipFill>
        <p:spPr>
          <a:xfrm>
            <a:off x="19977100" y="9093200"/>
            <a:ext cx="736600" cy="736600"/>
          </a:xfrm>
          <a:prstGeom prst="rect">
            <a:avLst/>
          </a:prstGeom>
          <a:ln w="12700">
            <a:miter lim="400000"/>
          </a:ln>
        </p:spPr>
      </p:pic>
      <p:pic>
        <p:nvPicPr>
          <p:cNvPr id="806" name="viz-18-10.svg" descr="viz-18-10.svg"/>
          <p:cNvPicPr>
            <a:picLocks noChangeAspect="1"/>
          </p:cNvPicPr>
          <p:nvPr/>
        </p:nvPicPr>
        <p:blipFill>
          <a:blip r:embed="rId14">
            <a:extLst/>
          </a:blip>
          <a:stretch>
            <a:fillRect/>
          </a:stretch>
        </p:blipFill>
        <p:spPr>
          <a:xfrm>
            <a:off x="18161000" y="7150100"/>
            <a:ext cx="1536700" cy="2476500"/>
          </a:xfrm>
          <a:prstGeom prst="rect">
            <a:avLst/>
          </a:prstGeom>
          <a:ln w="12700">
            <a:miter lim="400000"/>
          </a:ln>
        </p:spPr>
      </p:pic>
      <p:sp>
        <p:nvSpPr>
          <p:cNvPr id="807" name="Your data"/>
          <p:cNvSpPr txBox="1"/>
          <p:nvPr/>
        </p:nvSpPr>
        <p:spPr>
          <a:xfrm>
            <a:off x="16230600" y="7073899"/>
            <a:ext cx="15494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Your data</a:t>
            </a:r>
          </a:p>
        </p:txBody>
      </p:sp>
      <p:sp>
        <p:nvSpPr>
          <p:cNvPr id="808" name="Read it"/>
          <p:cNvSpPr txBox="1"/>
          <p:nvPr/>
        </p:nvSpPr>
        <p:spPr>
          <a:xfrm>
            <a:off x="20853400" y="4902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Read it</a:t>
            </a:r>
          </a:p>
        </p:txBody>
      </p:sp>
      <p:sp>
        <p:nvSpPr>
          <p:cNvPr id="809" name="Back it up"/>
          <p:cNvSpPr txBox="1"/>
          <p:nvPr/>
        </p:nvSpPr>
        <p:spPr>
          <a:xfrm>
            <a:off x="20853400" y="7061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Back it up</a:t>
            </a:r>
          </a:p>
        </p:txBody>
      </p:sp>
      <p:sp>
        <p:nvSpPr>
          <p:cNvPr id="810" name="Move it"/>
          <p:cNvSpPr txBox="1"/>
          <p:nvPr/>
        </p:nvSpPr>
        <p:spPr>
          <a:xfrm>
            <a:off x="20853400" y="9220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Move it</a:t>
            </a:r>
          </a:p>
        </p:txBody>
      </p:sp>
      <p:pic>
        <p:nvPicPr>
          <p:cNvPr id="811" name="prog-18.png" descr="prog-18.png"/>
          <p:cNvPicPr>
            <a:picLocks noChangeAspect="1"/>
          </p:cNvPicPr>
          <p:nvPr/>
        </p:nvPicPr>
        <p:blipFill>
          <a:blip r:embed="rId1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6" name="True portability, move any time"/>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True portability, </a:t>
            </a:r>
            <a:r>
              <a:rPr i="1" sz="9800">
                <a:solidFill>
                  <a:srgbClr val="6033A6"/>
                </a:solidFill>
                <a:latin typeface="Instrument Serif Regular"/>
                <a:ea typeface="Instrument Serif Regular"/>
                <a:cs typeface="Instrument Serif Regular"/>
                <a:sym typeface="Instrument Serif Regular"/>
              </a:rPr>
              <a:t>move any time</a:t>
            </a:r>
          </a:p>
        </p:txBody>
      </p:sp>
      <p:sp>
        <p:nvSpPr>
          <p:cNvPr id="817"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18" name="viz-15-00.svg" descr="viz-15-00.svg"/>
          <p:cNvPicPr>
            <a:picLocks noChangeAspect="1"/>
          </p:cNvPicPr>
          <p:nvPr/>
        </p:nvPicPr>
        <p:blipFill>
          <a:blip r:embed="rId4">
            <a:extLst/>
          </a:blip>
          <a:stretch>
            <a:fillRect/>
          </a:stretch>
        </p:blipFill>
        <p:spPr>
          <a:xfrm>
            <a:off x="1168400" y="4978400"/>
            <a:ext cx="7429500" cy="5549900"/>
          </a:xfrm>
          <a:prstGeom prst="rect">
            <a:avLst/>
          </a:prstGeom>
          <a:ln w="12700">
            <a:miter lim="400000"/>
          </a:ln>
        </p:spPr>
      </p:pic>
      <p:pic>
        <p:nvPicPr>
          <p:cNvPr id="819" name="viz-15-01.svg" descr="viz-15-01.svg"/>
          <p:cNvPicPr>
            <a:picLocks noChangeAspect="1"/>
          </p:cNvPicPr>
          <p:nvPr/>
        </p:nvPicPr>
        <p:blipFill>
          <a:blip r:embed="rId5">
            <a:extLst/>
          </a:blip>
          <a:stretch>
            <a:fillRect/>
          </a:stretch>
        </p:blipFill>
        <p:spPr>
          <a:xfrm>
            <a:off x="1422400" y="5232400"/>
            <a:ext cx="6921500" cy="1308100"/>
          </a:xfrm>
          <a:prstGeom prst="rect">
            <a:avLst/>
          </a:prstGeom>
          <a:ln w="12700">
            <a:miter lim="400000"/>
          </a:ln>
        </p:spPr>
      </p:pic>
      <p:pic>
        <p:nvPicPr>
          <p:cNvPr id="820" name="viz-15-02.svg" descr="viz-15-02.svg"/>
          <p:cNvPicPr>
            <a:picLocks noChangeAspect="1"/>
          </p:cNvPicPr>
          <p:nvPr/>
        </p:nvPicPr>
        <p:blipFill>
          <a:blip r:embed="rId6">
            <a:extLst/>
          </a:blip>
          <a:stretch>
            <a:fillRect/>
          </a:stretch>
        </p:blipFill>
        <p:spPr>
          <a:xfrm>
            <a:off x="1854200" y="5499100"/>
            <a:ext cx="711200" cy="762000"/>
          </a:xfrm>
          <a:prstGeom prst="rect">
            <a:avLst/>
          </a:prstGeom>
          <a:ln w="12700">
            <a:miter lim="400000"/>
          </a:ln>
        </p:spPr>
      </p:pic>
      <p:pic>
        <p:nvPicPr>
          <p:cNvPr id="821" name="viz-15-03.svg" descr="viz-15-03.svg"/>
          <p:cNvPicPr>
            <a:picLocks noChangeAspect="1"/>
          </p:cNvPicPr>
          <p:nvPr/>
        </p:nvPicPr>
        <p:blipFill>
          <a:blip r:embed="rId7">
            <a:extLst/>
          </a:blip>
          <a:stretch>
            <a:fillRect/>
          </a:stretch>
        </p:blipFill>
        <p:spPr>
          <a:xfrm>
            <a:off x="1422400" y="6477000"/>
            <a:ext cx="6921500" cy="1308100"/>
          </a:xfrm>
          <a:prstGeom prst="rect">
            <a:avLst/>
          </a:prstGeom>
          <a:ln w="12700">
            <a:miter lim="400000"/>
          </a:ln>
        </p:spPr>
      </p:pic>
      <p:pic>
        <p:nvPicPr>
          <p:cNvPr id="822" name="viz-15-04.svg" descr="viz-15-04.svg"/>
          <p:cNvPicPr>
            <a:picLocks noChangeAspect="1"/>
          </p:cNvPicPr>
          <p:nvPr/>
        </p:nvPicPr>
        <p:blipFill>
          <a:blip r:embed="rId8">
            <a:extLst/>
          </a:blip>
          <a:stretch>
            <a:fillRect/>
          </a:stretch>
        </p:blipFill>
        <p:spPr>
          <a:xfrm>
            <a:off x="1841500" y="6769100"/>
            <a:ext cx="736600" cy="711200"/>
          </a:xfrm>
          <a:prstGeom prst="rect">
            <a:avLst/>
          </a:prstGeom>
          <a:ln w="12700">
            <a:miter lim="400000"/>
          </a:ln>
        </p:spPr>
      </p:pic>
      <p:pic>
        <p:nvPicPr>
          <p:cNvPr id="823" name="viz-15-05.svg" descr="viz-15-05.svg"/>
          <p:cNvPicPr>
            <a:picLocks noChangeAspect="1"/>
          </p:cNvPicPr>
          <p:nvPr/>
        </p:nvPicPr>
        <p:blipFill>
          <a:blip r:embed="rId9">
            <a:extLst/>
          </a:blip>
          <a:stretch>
            <a:fillRect/>
          </a:stretch>
        </p:blipFill>
        <p:spPr>
          <a:xfrm>
            <a:off x="1422400" y="7721600"/>
            <a:ext cx="6921500" cy="1308100"/>
          </a:xfrm>
          <a:prstGeom prst="rect">
            <a:avLst/>
          </a:prstGeom>
          <a:ln w="12700">
            <a:miter lim="400000"/>
          </a:ln>
        </p:spPr>
      </p:pic>
      <p:pic>
        <p:nvPicPr>
          <p:cNvPr id="824" name="viz-15-06.svg" descr="viz-15-06.svg"/>
          <p:cNvPicPr>
            <a:picLocks noChangeAspect="1"/>
          </p:cNvPicPr>
          <p:nvPr/>
        </p:nvPicPr>
        <p:blipFill>
          <a:blip r:embed="rId10">
            <a:extLst/>
          </a:blip>
          <a:stretch>
            <a:fillRect/>
          </a:stretch>
        </p:blipFill>
        <p:spPr>
          <a:xfrm>
            <a:off x="1841500" y="7988300"/>
            <a:ext cx="736600" cy="762000"/>
          </a:xfrm>
          <a:prstGeom prst="rect">
            <a:avLst/>
          </a:prstGeom>
          <a:ln w="12700">
            <a:miter lim="400000"/>
          </a:ln>
        </p:spPr>
      </p:pic>
      <p:pic>
        <p:nvPicPr>
          <p:cNvPr id="825" name="viz-15-07.svg" descr="viz-15-07.svg"/>
          <p:cNvPicPr>
            <a:picLocks noChangeAspect="1"/>
          </p:cNvPicPr>
          <p:nvPr/>
        </p:nvPicPr>
        <p:blipFill>
          <a:blip r:embed="rId11">
            <a:extLst/>
          </a:blip>
          <a:stretch>
            <a:fillRect/>
          </a:stretch>
        </p:blipFill>
        <p:spPr>
          <a:xfrm>
            <a:off x="1422400" y="8966200"/>
            <a:ext cx="6921500" cy="1308100"/>
          </a:xfrm>
          <a:prstGeom prst="rect">
            <a:avLst/>
          </a:prstGeom>
          <a:ln w="12700">
            <a:miter lim="400000"/>
          </a:ln>
        </p:spPr>
      </p:pic>
      <p:pic>
        <p:nvPicPr>
          <p:cNvPr id="826" name="viz-15-08.svg" descr="viz-15-08.svg"/>
          <p:cNvPicPr>
            <a:picLocks noChangeAspect="1"/>
          </p:cNvPicPr>
          <p:nvPr/>
        </p:nvPicPr>
        <p:blipFill>
          <a:blip r:embed="rId12">
            <a:extLst/>
          </a:blip>
          <a:stretch>
            <a:fillRect/>
          </a:stretch>
        </p:blipFill>
        <p:spPr>
          <a:xfrm>
            <a:off x="1790700" y="9245600"/>
            <a:ext cx="838200" cy="736600"/>
          </a:xfrm>
          <a:prstGeom prst="rect">
            <a:avLst/>
          </a:prstGeom>
          <a:ln w="12700">
            <a:miter lim="400000"/>
          </a:ln>
        </p:spPr>
      </p:pic>
      <p:pic>
        <p:nvPicPr>
          <p:cNvPr id="827" name="viz-15-09.svg" descr="viz-15-09.svg"/>
          <p:cNvPicPr>
            <a:picLocks noChangeAspect="1"/>
          </p:cNvPicPr>
          <p:nvPr/>
        </p:nvPicPr>
        <p:blipFill>
          <a:blip r:embed="rId13">
            <a:extLst/>
          </a:blip>
          <a:stretch>
            <a:fillRect/>
          </a:stretch>
        </p:blipFill>
        <p:spPr>
          <a:xfrm>
            <a:off x="14325600" y="5105400"/>
            <a:ext cx="8851900" cy="1739900"/>
          </a:xfrm>
          <a:prstGeom prst="rect">
            <a:avLst/>
          </a:prstGeom>
          <a:ln w="12700">
            <a:miter lim="400000"/>
          </a:ln>
        </p:spPr>
      </p:pic>
      <p:pic>
        <p:nvPicPr>
          <p:cNvPr id="828" name="viz-15-10.svg" descr="viz-15-10.svg"/>
          <p:cNvPicPr>
            <a:picLocks noChangeAspect="1"/>
          </p:cNvPicPr>
          <p:nvPr/>
        </p:nvPicPr>
        <p:blipFill>
          <a:blip r:embed="rId14">
            <a:extLst/>
          </a:blip>
          <a:stretch>
            <a:fillRect/>
          </a:stretch>
        </p:blipFill>
        <p:spPr>
          <a:xfrm>
            <a:off x="14706600" y="5651500"/>
            <a:ext cx="850900" cy="685800"/>
          </a:xfrm>
          <a:prstGeom prst="rect">
            <a:avLst/>
          </a:prstGeom>
          <a:ln w="12700">
            <a:miter lim="400000"/>
          </a:ln>
        </p:spPr>
      </p:pic>
      <p:pic>
        <p:nvPicPr>
          <p:cNvPr id="829" name="viz-15-11.svg" descr="viz-15-11.svg"/>
          <p:cNvPicPr>
            <a:picLocks noChangeAspect="1"/>
          </p:cNvPicPr>
          <p:nvPr/>
        </p:nvPicPr>
        <p:blipFill>
          <a:blip r:embed="rId15">
            <a:extLst/>
          </a:blip>
          <a:stretch>
            <a:fillRect/>
          </a:stretch>
        </p:blipFill>
        <p:spPr>
          <a:xfrm>
            <a:off x="8559800" y="5816600"/>
            <a:ext cx="5880100" cy="1498600"/>
          </a:xfrm>
          <a:prstGeom prst="rect">
            <a:avLst/>
          </a:prstGeom>
          <a:ln w="12700">
            <a:miter lim="400000"/>
          </a:ln>
        </p:spPr>
      </p:pic>
      <p:pic>
        <p:nvPicPr>
          <p:cNvPr id="830" name="viz-15-12.svg" descr="viz-15-12.svg"/>
          <p:cNvPicPr>
            <a:picLocks noChangeAspect="1"/>
          </p:cNvPicPr>
          <p:nvPr/>
        </p:nvPicPr>
        <p:blipFill>
          <a:blip r:embed="rId16">
            <a:extLst/>
          </a:blip>
          <a:stretch>
            <a:fillRect/>
          </a:stretch>
        </p:blipFill>
        <p:spPr>
          <a:xfrm>
            <a:off x="14325600" y="6883400"/>
            <a:ext cx="8851900" cy="1739900"/>
          </a:xfrm>
          <a:prstGeom prst="rect">
            <a:avLst/>
          </a:prstGeom>
          <a:ln w="12700">
            <a:miter lim="400000"/>
          </a:ln>
        </p:spPr>
      </p:pic>
      <p:pic>
        <p:nvPicPr>
          <p:cNvPr id="831" name="viz-15-13.svg" descr="viz-15-13.svg"/>
          <p:cNvPicPr>
            <a:picLocks noChangeAspect="1"/>
          </p:cNvPicPr>
          <p:nvPr/>
        </p:nvPicPr>
        <p:blipFill>
          <a:blip r:embed="rId17">
            <a:extLst/>
          </a:blip>
          <a:stretch>
            <a:fillRect/>
          </a:stretch>
        </p:blipFill>
        <p:spPr>
          <a:xfrm>
            <a:off x="14732000" y="7327900"/>
            <a:ext cx="762000" cy="787400"/>
          </a:xfrm>
          <a:prstGeom prst="rect">
            <a:avLst/>
          </a:prstGeom>
          <a:ln w="12700">
            <a:miter lim="400000"/>
          </a:ln>
        </p:spPr>
      </p:pic>
      <p:pic>
        <p:nvPicPr>
          <p:cNvPr id="832" name="viz-15-14.svg" descr="viz-15-14.svg"/>
          <p:cNvPicPr>
            <a:picLocks noChangeAspect="1"/>
          </p:cNvPicPr>
          <p:nvPr/>
        </p:nvPicPr>
        <p:blipFill>
          <a:blip r:embed="rId18">
            <a:extLst/>
          </a:blip>
          <a:stretch>
            <a:fillRect/>
          </a:stretch>
        </p:blipFill>
        <p:spPr>
          <a:xfrm>
            <a:off x="8559800" y="7594600"/>
            <a:ext cx="5880100" cy="317500"/>
          </a:xfrm>
          <a:prstGeom prst="rect">
            <a:avLst/>
          </a:prstGeom>
          <a:ln w="12700">
            <a:miter lim="400000"/>
          </a:ln>
        </p:spPr>
      </p:pic>
      <p:pic>
        <p:nvPicPr>
          <p:cNvPr id="833" name="viz-15-15.svg" descr="viz-15-15.svg"/>
          <p:cNvPicPr>
            <a:picLocks noChangeAspect="1"/>
          </p:cNvPicPr>
          <p:nvPr/>
        </p:nvPicPr>
        <p:blipFill>
          <a:blip r:embed="rId19">
            <a:extLst/>
          </a:blip>
          <a:stretch>
            <a:fillRect/>
          </a:stretch>
        </p:blipFill>
        <p:spPr>
          <a:xfrm>
            <a:off x="14325600" y="8661400"/>
            <a:ext cx="8851900" cy="1739900"/>
          </a:xfrm>
          <a:prstGeom prst="rect">
            <a:avLst/>
          </a:prstGeom>
          <a:ln w="12700">
            <a:miter lim="400000"/>
          </a:ln>
        </p:spPr>
      </p:pic>
      <p:pic>
        <p:nvPicPr>
          <p:cNvPr id="834" name="viz-15-16.svg" descr="viz-15-16.svg"/>
          <p:cNvPicPr>
            <a:picLocks noChangeAspect="1"/>
          </p:cNvPicPr>
          <p:nvPr/>
        </p:nvPicPr>
        <p:blipFill>
          <a:blip r:embed="rId20">
            <a:extLst/>
          </a:blip>
          <a:stretch>
            <a:fillRect/>
          </a:stretch>
        </p:blipFill>
        <p:spPr>
          <a:xfrm>
            <a:off x="14693900" y="9156700"/>
            <a:ext cx="838200" cy="736600"/>
          </a:xfrm>
          <a:prstGeom prst="rect">
            <a:avLst/>
          </a:prstGeom>
          <a:ln w="12700">
            <a:miter lim="400000"/>
          </a:ln>
        </p:spPr>
      </p:pic>
      <p:pic>
        <p:nvPicPr>
          <p:cNvPr id="835" name="viz-15-17.svg" descr="viz-15-17.svg"/>
          <p:cNvPicPr>
            <a:picLocks noChangeAspect="1"/>
          </p:cNvPicPr>
          <p:nvPr/>
        </p:nvPicPr>
        <p:blipFill>
          <a:blip r:embed="rId21">
            <a:extLst/>
          </a:blip>
          <a:stretch>
            <a:fillRect/>
          </a:stretch>
        </p:blipFill>
        <p:spPr>
          <a:xfrm>
            <a:off x="8559800" y="8178800"/>
            <a:ext cx="5880100" cy="1511300"/>
          </a:xfrm>
          <a:prstGeom prst="rect">
            <a:avLst/>
          </a:prstGeom>
          <a:ln w="12700">
            <a:miter lim="400000"/>
          </a:ln>
        </p:spPr>
      </p:pic>
      <p:sp>
        <p:nvSpPr>
          <p:cNvPr id="836" name="Open source software"/>
          <p:cNvSpPr txBox="1"/>
          <p:nvPr/>
        </p:nvSpPr>
        <p:spPr>
          <a:xfrm>
            <a:off x="2768600" y="56388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Open source software</a:t>
            </a:r>
          </a:p>
        </p:txBody>
      </p:sp>
      <p:sp>
        <p:nvSpPr>
          <p:cNvPr id="837" name="Your own servers"/>
          <p:cNvSpPr txBox="1"/>
          <p:nvPr/>
        </p:nvSpPr>
        <p:spPr>
          <a:xfrm>
            <a:off x="2768600" y="68834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Your own servers</a:t>
            </a:r>
          </a:p>
        </p:txBody>
      </p:sp>
      <p:sp>
        <p:nvSpPr>
          <p:cNvPr id="838" name="Your own data"/>
          <p:cNvSpPr txBox="1"/>
          <p:nvPr/>
        </p:nvSpPr>
        <p:spPr>
          <a:xfrm>
            <a:off x="2768600" y="81280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Your own data</a:t>
            </a:r>
          </a:p>
        </p:txBody>
      </p:sp>
      <p:sp>
        <p:nvSpPr>
          <p:cNvPr id="839" name="Open APIs"/>
          <p:cNvSpPr txBox="1"/>
          <p:nvPr/>
        </p:nvSpPr>
        <p:spPr>
          <a:xfrm>
            <a:off x="2768600" y="93726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Open APIs</a:t>
            </a:r>
          </a:p>
        </p:txBody>
      </p:sp>
      <p:sp>
        <p:nvSpPr>
          <p:cNvPr id="840" name="Another provider"/>
          <p:cNvSpPr txBox="1"/>
          <p:nvPr/>
        </p:nvSpPr>
        <p:spPr>
          <a:xfrm>
            <a:off x="15671800" y="55245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Another provider</a:t>
            </a:r>
          </a:p>
        </p:txBody>
      </p:sp>
      <p:sp>
        <p:nvSpPr>
          <p:cNvPr id="841" name="Copy the files and databases, and go."/>
          <p:cNvSpPr txBox="1"/>
          <p:nvPr/>
        </p:nvSpPr>
        <p:spPr>
          <a:xfrm>
            <a:off x="15671800" y="5968999"/>
            <a:ext cx="70358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Copy the files and databases, and go.</a:t>
            </a:r>
          </a:p>
        </p:txBody>
      </p:sp>
      <p:sp>
        <p:nvSpPr>
          <p:cNvPr id="842" name="Any tool, with AI"/>
          <p:cNvSpPr txBox="1"/>
          <p:nvPr/>
        </p:nvSpPr>
        <p:spPr>
          <a:xfrm>
            <a:off x="15671800" y="71501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Any tool, with AI</a:t>
            </a:r>
          </a:p>
        </p:txBody>
      </p:sp>
      <p:sp>
        <p:nvSpPr>
          <p:cNvPr id="843" name="With a proper API, an MCP server can move data in any direction."/>
          <p:cNvSpPr txBox="1"/>
          <p:nvPr/>
        </p:nvSpPr>
        <p:spPr>
          <a:xfrm>
            <a:off x="15671800" y="7569199"/>
            <a:ext cx="7035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With a proper API, an MCP server can</a:t>
            </a:r>
            <a:br/>
            <a:r>
              <a:t>move data in any direction.</a:t>
            </a:r>
          </a:p>
        </p:txBody>
      </p:sp>
      <p:sp>
        <p:nvSpPr>
          <p:cNvPr id="844" name="Nobody watching"/>
          <p:cNvSpPr txBox="1"/>
          <p:nvPr/>
        </p:nvSpPr>
        <p:spPr>
          <a:xfrm>
            <a:off x="15671800" y="89281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Nobody watching</a:t>
            </a:r>
          </a:p>
        </p:txBody>
      </p:sp>
      <p:sp>
        <p:nvSpPr>
          <p:cNvPr id="845" name="Nobody else reads the data on your own servers."/>
          <p:cNvSpPr txBox="1"/>
          <p:nvPr/>
        </p:nvSpPr>
        <p:spPr>
          <a:xfrm>
            <a:off x="15671800" y="9372599"/>
            <a:ext cx="7035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Nobody else reads the data</a:t>
            </a:r>
            <a:br/>
            <a:r>
              <a:t>on your own servers.</a:t>
            </a:r>
          </a:p>
        </p:txBody>
      </p:sp>
      <p:pic>
        <p:nvPicPr>
          <p:cNvPr id="846" name="prog-19.png" descr="prog-19.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5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51" name="We still depend on other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still depend </a:t>
            </a:r>
            <a:r>
              <a:rPr i="1" sz="9800">
                <a:solidFill>
                  <a:srgbClr val="6033A6"/>
                </a:solidFill>
                <a:latin typeface="Instrument Serif Regular"/>
                <a:ea typeface="Instrument Serif Regular"/>
                <a:cs typeface="Instrument Serif Regular"/>
                <a:sym typeface="Instrument Serif Regular"/>
              </a:rPr>
              <a:t>on others</a:t>
            </a:r>
          </a:p>
        </p:txBody>
      </p:sp>
      <p:sp>
        <p:nvSpPr>
          <p:cNvPr id="852" name="DNS and CD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DNS and CDN</a:t>
            </a:r>
          </a:p>
        </p:txBody>
      </p:sp>
      <p:sp>
        <p:nvSpPr>
          <p:cNvPr id="853" name="Cloudflare and similar for DNS and caching."/>
          <p:cNvSpPr txBox="1"/>
          <p:nvPr/>
        </p:nvSpPr>
        <p:spPr>
          <a:xfrm>
            <a:off x="1320800" y="5638800"/>
            <a:ext cx="9730234"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Cloudflare and similar for DNS and caching.</a:t>
            </a:r>
          </a:p>
        </p:txBody>
      </p:sp>
      <p:sp>
        <p:nvSpPr>
          <p:cNvPr id="854" name="Email"/>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Email</a:t>
            </a:r>
          </a:p>
        </p:txBody>
      </p:sp>
      <p:sp>
        <p:nvSpPr>
          <p:cNvPr id="855" name="Mailgun, SendGrid, large services for reputation. Delivery depends on the large mail providers."/>
          <p:cNvSpPr txBox="1"/>
          <p:nvPr/>
        </p:nvSpPr>
        <p:spPr>
          <a:xfrm>
            <a:off x="12827000" y="5638799"/>
            <a:ext cx="984181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Mailgun, SendGrid, large services for reputation. Delivery depends on the large mail providers.</a:t>
            </a:r>
          </a:p>
        </p:txBody>
      </p:sp>
      <p:sp>
        <p:nvSpPr>
          <p:cNvPr id="856" name="Code and tools"/>
          <p:cNvSpPr txBox="1"/>
          <p:nvPr/>
        </p:nvSpPr>
        <p:spPr>
          <a:xfrm>
            <a:off x="1295400" y="72135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Code and tools</a:t>
            </a:r>
          </a:p>
        </p:txBody>
      </p:sp>
      <p:sp>
        <p:nvSpPr>
          <p:cNvPr id="857" name="GitHub for code, Better Stack for uptime, Let's Encrypt for certificates."/>
          <p:cNvSpPr txBox="1"/>
          <p:nvPr/>
        </p:nvSpPr>
        <p:spPr>
          <a:xfrm>
            <a:off x="1320800" y="8039099"/>
            <a:ext cx="875759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GitHub for code, Better Stack for uptime, Let's Encrypt for certificates.</a:t>
            </a:r>
          </a:p>
        </p:txBody>
      </p:sp>
      <p:sp>
        <p:nvSpPr>
          <p:cNvPr id="858" name="AI"/>
          <p:cNvSpPr txBox="1"/>
          <p:nvPr/>
        </p:nvSpPr>
        <p:spPr>
          <a:xfrm>
            <a:off x="12801600" y="72135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AI</a:t>
            </a:r>
          </a:p>
        </p:txBody>
      </p:sp>
      <p:sp>
        <p:nvSpPr>
          <p:cNvPr id="859" name="Open-source AI requires powerful hardware and costs much more to host."/>
          <p:cNvSpPr txBox="1"/>
          <p:nvPr/>
        </p:nvSpPr>
        <p:spPr>
          <a:xfrm>
            <a:off x="12827000" y="8039099"/>
            <a:ext cx="936945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Open-source AI requires powerful hardware and costs much more to host.</a:t>
            </a:r>
          </a:p>
        </p:txBody>
      </p:sp>
      <p:sp>
        <p:nvSpPr>
          <p:cNvPr id="86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61"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66" name="Big tech has alternative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Big tech has </a:t>
            </a:r>
            <a:r>
              <a:rPr i="1" sz="9800">
                <a:solidFill>
                  <a:srgbClr val="6033A6"/>
                </a:solidFill>
                <a:latin typeface="Instrument Serif Regular"/>
                <a:ea typeface="Instrument Serif Regular"/>
                <a:cs typeface="Instrument Serif Regular"/>
                <a:sym typeface="Instrument Serif Regular"/>
              </a:rPr>
              <a:t>alternatives</a:t>
            </a:r>
          </a:p>
        </p:txBody>
      </p:sp>
      <p:sp>
        <p:nvSpPr>
          <p:cNvPr id="867"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68" name="viz-21-00.svg" descr="viz-21-00.svg"/>
          <p:cNvPicPr>
            <a:picLocks noChangeAspect="1"/>
          </p:cNvPicPr>
          <p:nvPr/>
        </p:nvPicPr>
        <p:blipFill>
          <a:blip r:embed="rId4">
            <a:extLst/>
          </a:blip>
          <a:stretch>
            <a:fillRect/>
          </a:stretch>
        </p:blipFill>
        <p:spPr>
          <a:xfrm>
            <a:off x="1168400" y="5435600"/>
            <a:ext cx="5905500" cy="1231900"/>
          </a:xfrm>
          <a:prstGeom prst="rect">
            <a:avLst/>
          </a:prstGeom>
          <a:ln w="12700">
            <a:miter lim="400000"/>
          </a:ln>
        </p:spPr>
      </p:pic>
      <p:pic>
        <p:nvPicPr>
          <p:cNvPr id="869" name="viz-21-01.svg" descr="viz-21-01.svg"/>
          <p:cNvPicPr>
            <a:picLocks noChangeAspect="1"/>
          </p:cNvPicPr>
          <p:nvPr/>
        </p:nvPicPr>
        <p:blipFill>
          <a:blip r:embed="rId5">
            <a:extLst/>
          </a:blip>
          <a:stretch>
            <a:fillRect/>
          </a:stretch>
        </p:blipFill>
        <p:spPr>
          <a:xfrm>
            <a:off x="6908800" y="5892800"/>
            <a:ext cx="952500" cy="317500"/>
          </a:xfrm>
          <a:prstGeom prst="rect">
            <a:avLst/>
          </a:prstGeom>
          <a:ln w="12700">
            <a:miter lim="400000"/>
          </a:ln>
        </p:spPr>
      </p:pic>
      <p:pic>
        <p:nvPicPr>
          <p:cNvPr id="870" name="viz-21-02.svg" descr="viz-21-02.svg"/>
          <p:cNvPicPr>
            <a:picLocks noChangeAspect="1"/>
          </p:cNvPicPr>
          <p:nvPr/>
        </p:nvPicPr>
        <p:blipFill>
          <a:blip r:embed="rId6">
            <a:extLst/>
          </a:blip>
          <a:stretch>
            <a:fillRect/>
          </a:stretch>
        </p:blipFill>
        <p:spPr>
          <a:xfrm>
            <a:off x="7721600" y="5435600"/>
            <a:ext cx="6921500" cy="1231900"/>
          </a:xfrm>
          <a:prstGeom prst="rect">
            <a:avLst/>
          </a:prstGeom>
          <a:ln w="12700">
            <a:miter lim="400000"/>
          </a:ln>
        </p:spPr>
      </p:pic>
      <p:pic>
        <p:nvPicPr>
          <p:cNvPr id="871" name="viz-21-03.svg" descr="viz-21-03.svg"/>
          <p:cNvPicPr>
            <a:picLocks noChangeAspect="1"/>
          </p:cNvPicPr>
          <p:nvPr/>
        </p:nvPicPr>
        <p:blipFill>
          <a:blip r:embed="rId7">
            <a:extLst/>
          </a:blip>
          <a:stretch>
            <a:fillRect/>
          </a:stretch>
        </p:blipFill>
        <p:spPr>
          <a:xfrm>
            <a:off x="1168400" y="6604000"/>
            <a:ext cx="5905500" cy="1231900"/>
          </a:xfrm>
          <a:prstGeom prst="rect">
            <a:avLst/>
          </a:prstGeom>
          <a:ln w="12700">
            <a:miter lim="400000"/>
          </a:ln>
        </p:spPr>
      </p:pic>
      <p:pic>
        <p:nvPicPr>
          <p:cNvPr id="872" name="viz-21-04.svg" descr="viz-21-04.svg"/>
          <p:cNvPicPr>
            <a:picLocks noChangeAspect="1"/>
          </p:cNvPicPr>
          <p:nvPr/>
        </p:nvPicPr>
        <p:blipFill>
          <a:blip r:embed="rId8">
            <a:extLst/>
          </a:blip>
          <a:stretch>
            <a:fillRect/>
          </a:stretch>
        </p:blipFill>
        <p:spPr>
          <a:xfrm>
            <a:off x="6908800" y="7061200"/>
            <a:ext cx="952500" cy="317500"/>
          </a:xfrm>
          <a:prstGeom prst="rect">
            <a:avLst/>
          </a:prstGeom>
          <a:ln w="12700">
            <a:miter lim="400000"/>
          </a:ln>
        </p:spPr>
      </p:pic>
      <p:pic>
        <p:nvPicPr>
          <p:cNvPr id="873" name="viz-21-05.svg" descr="viz-21-05.svg"/>
          <p:cNvPicPr>
            <a:picLocks noChangeAspect="1"/>
          </p:cNvPicPr>
          <p:nvPr/>
        </p:nvPicPr>
        <p:blipFill>
          <a:blip r:embed="rId9">
            <a:extLst/>
          </a:blip>
          <a:stretch>
            <a:fillRect/>
          </a:stretch>
        </p:blipFill>
        <p:spPr>
          <a:xfrm>
            <a:off x="7721600" y="6604000"/>
            <a:ext cx="6921500" cy="1231900"/>
          </a:xfrm>
          <a:prstGeom prst="rect">
            <a:avLst/>
          </a:prstGeom>
          <a:ln w="12700">
            <a:miter lim="400000"/>
          </a:ln>
        </p:spPr>
      </p:pic>
      <p:pic>
        <p:nvPicPr>
          <p:cNvPr id="874" name="viz-21-06.svg" descr="viz-21-06.svg"/>
          <p:cNvPicPr>
            <a:picLocks noChangeAspect="1"/>
          </p:cNvPicPr>
          <p:nvPr/>
        </p:nvPicPr>
        <p:blipFill>
          <a:blip r:embed="rId10">
            <a:extLst/>
          </a:blip>
          <a:stretch>
            <a:fillRect/>
          </a:stretch>
        </p:blipFill>
        <p:spPr>
          <a:xfrm>
            <a:off x="1168400" y="7772400"/>
            <a:ext cx="5905500" cy="1231900"/>
          </a:xfrm>
          <a:prstGeom prst="rect">
            <a:avLst/>
          </a:prstGeom>
          <a:ln w="12700">
            <a:miter lim="400000"/>
          </a:ln>
        </p:spPr>
      </p:pic>
      <p:pic>
        <p:nvPicPr>
          <p:cNvPr id="875" name="viz-21-07.svg" descr="viz-21-07.svg"/>
          <p:cNvPicPr>
            <a:picLocks noChangeAspect="1"/>
          </p:cNvPicPr>
          <p:nvPr/>
        </p:nvPicPr>
        <p:blipFill>
          <a:blip r:embed="rId11">
            <a:extLst/>
          </a:blip>
          <a:stretch>
            <a:fillRect/>
          </a:stretch>
        </p:blipFill>
        <p:spPr>
          <a:xfrm>
            <a:off x="6908800" y="8229600"/>
            <a:ext cx="952500" cy="317500"/>
          </a:xfrm>
          <a:prstGeom prst="rect">
            <a:avLst/>
          </a:prstGeom>
          <a:ln w="12700">
            <a:miter lim="400000"/>
          </a:ln>
        </p:spPr>
      </p:pic>
      <p:pic>
        <p:nvPicPr>
          <p:cNvPr id="876" name="viz-21-08.svg" descr="viz-21-08.svg"/>
          <p:cNvPicPr>
            <a:picLocks noChangeAspect="1"/>
          </p:cNvPicPr>
          <p:nvPr/>
        </p:nvPicPr>
        <p:blipFill>
          <a:blip r:embed="rId12">
            <a:extLst/>
          </a:blip>
          <a:stretch>
            <a:fillRect/>
          </a:stretch>
        </p:blipFill>
        <p:spPr>
          <a:xfrm>
            <a:off x="7721600" y="7772400"/>
            <a:ext cx="6921500" cy="1231900"/>
          </a:xfrm>
          <a:prstGeom prst="rect">
            <a:avLst/>
          </a:prstGeom>
          <a:ln w="12700">
            <a:miter lim="400000"/>
          </a:ln>
        </p:spPr>
      </p:pic>
      <p:pic>
        <p:nvPicPr>
          <p:cNvPr id="877" name="viz-21-09.svg" descr="viz-21-09.svg"/>
          <p:cNvPicPr>
            <a:picLocks noChangeAspect="1"/>
          </p:cNvPicPr>
          <p:nvPr/>
        </p:nvPicPr>
        <p:blipFill>
          <a:blip r:embed="rId13">
            <a:extLst/>
          </a:blip>
          <a:stretch>
            <a:fillRect/>
          </a:stretch>
        </p:blipFill>
        <p:spPr>
          <a:xfrm>
            <a:off x="1168400" y="8940800"/>
            <a:ext cx="5905500" cy="1231900"/>
          </a:xfrm>
          <a:prstGeom prst="rect">
            <a:avLst/>
          </a:prstGeom>
          <a:ln w="12700">
            <a:miter lim="400000"/>
          </a:ln>
        </p:spPr>
      </p:pic>
      <p:pic>
        <p:nvPicPr>
          <p:cNvPr id="878" name="viz-21-10.svg" descr="viz-21-10.svg"/>
          <p:cNvPicPr>
            <a:picLocks noChangeAspect="1"/>
          </p:cNvPicPr>
          <p:nvPr/>
        </p:nvPicPr>
        <p:blipFill>
          <a:blip r:embed="rId14">
            <a:extLst/>
          </a:blip>
          <a:stretch>
            <a:fillRect/>
          </a:stretch>
        </p:blipFill>
        <p:spPr>
          <a:xfrm>
            <a:off x="6908800" y="9398000"/>
            <a:ext cx="952500" cy="317500"/>
          </a:xfrm>
          <a:prstGeom prst="rect">
            <a:avLst/>
          </a:prstGeom>
          <a:ln w="12700">
            <a:miter lim="400000"/>
          </a:ln>
        </p:spPr>
      </p:pic>
      <p:pic>
        <p:nvPicPr>
          <p:cNvPr id="879" name="viz-21-11.svg" descr="viz-21-11.svg"/>
          <p:cNvPicPr>
            <a:picLocks noChangeAspect="1"/>
          </p:cNvPicPr>
          <p:nvPr/>
        </p:nvPicPr>
        <p:blipFill>
          <a:blip r:embed="rId15">
            <a:extLst/>
          </a:blip>
          <a:stretch>
            <a:fillRect/>
          </a:stretch>
        </p:blipFill>
        <p:spPr>
          <a:xfrm>
            <a:off x="7721600" y="8940800"/>
            <a:ext cx="6921500" cy="1231900"/>
          </a:xfrm>
          <a:prstGeom prst="rect">
            <a:avLst/>
          </a:prstGeom>
          <a:ln w="12700">
            <a:miter lim="400000"/>
          </a:ln>
        </p:spPr>
      </p:pic>
      <p:pic>
        <p:nvPicPr>
          <p:cNvPr id="880" name="viz-21-12.svg" descr="viz-21-12.svg"/>
          <p:cNvPicPr>
            <a:picLocks noChangeAspect="1"/>
          </p:cNvPicPr>
          <p:nvPr/>
        </p:nvPicPr>
        <p:blipFill>
          <a:blip r:embed="rId16">
            <a:extLst/>
          </a:blip>
          <a:stretch>
            <a:fillRect/>
          </a:stretch>
        </p:blipFill>
        <p:spPr>
          <a:xfrm>
            <a:off x="1168400" y="10109200"/>
            <a:ext cx="5905500" cy="1231900"/>
          </a:xfrm>
          <a:prstGeom prst="rect">
            <a:avLst/>
          </a:prstGeom>
          <a:ln w="12700">
            <a:miter lim="400000"/>
          </a:ln>
        </p:spPr>
      </p:pic>
      <p:pic>
        <p:nvPicPr>
          <p:cNvPr id="881" name="viz-21-13.svg" descr="viz-21-13.svg"/>
          <p:cNvPicPr>
            <a:picLocks noChangeAspect="1"/>
          </p:cNvPicPr>
          <p:nvPr/>
        </p:nvPicPr>
        <p:blipFill>
          <a:blip r:embed="rId17">
            <a:extLst/>
          </a:blip>
          <a:stretch>
            <a:fillRect/>
          </a:stretch>
        </p:blipFill>
        <p:spPr>
          <a:xfrm>
            <a:off x="6908800" y="10566400"/>
            <a:ext cx="952500" cy="317500"/>
          </a:xfrm>
          <a:prstGeom prst="rect">
            <a:avLst/>
          </a:prstGeom>
          <a:ln w="12700">
            <a:miter lim="400000"/>
          </a:ln>
        </p:spPr>
      </p:pic>
      <p:pic>
        <p:nvPicPr>
          <p:cNvPr id="882" name="viz-21-14.svg" descr="viz-21-14.svg"/>
          <p:cNvPicPr>
            <a:picLocks noChangeAspect="1"/>
          </p:cNvPicPr>
          <p:nvPr/>
        </p:nvPicPr>
        <p:blipFill>
          <a:blip r:embed="rId18">
            <a:extLst/>
          </a:blip>
          <a:stretch>
            <a:fillRect/>
          </a:stretch>
        </p:blipFill>
        <p:spPr>
          <a:xfrm>
            <a:off x="7721600" y="10109200"/>
            <a:ext cx="6921500" cy="1231900"/>
          </a:xfrm>
          <a:prstGeom prst="rect">
            <a:avLst/>
          </a:prstGeom>
          <a:ln w="12700">
            <a:miter lim="400000"/>
          </a:ln>
        </p:spPr>
      </p:pic>
      <p:pic>
        <p:nvPicPr>
          <p:cNvPr id="883" name="viz-21-15.svg" descr="viz-21-15.svg"/>
          <p:cNvPicPr>
            <a:picLocks noChangeAspect="1"/>
          </p:cNvPicPr>
          <p:nvPr/>
        </p:nvPicPr>
        <p:blipFill>
          <a:blip r:embed="rId19">
            <a:extLst/>
          </a:blip>
          <a:stretch>
            <a:fillRect/>
          </a:stretch>
        </p:blipFill>
        <p:spPr>
          <a:xfrm>
            <a:off x="18126075" y="635000"/>
            <a:ext cx="5651500" cy="1638300"/>
          </a:xfrm>
          <a:prstGeom prst="rect">
            <a:avLst/>
          </a:prstGeom>
          <a:ln w="12700">
            <a:miter lim="400000"/>
          </a:ln>
        </p:spPr>
      </p:pic>
      <p:sp>
        <p:nvSpPr>
          <p:cNvPr id="884" name="Big tech"/>
          <p:cNvSpPr txBox="1"/>
          <p:nvPr/>
        </p:nvSpPr>
        <p:spPr>
          <a:xfrm>
            <a:off x="1320800" y="4825999"/>
            <a:ext cx="5588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Big tech</a:t>
            </a:r>
          </a:p>
        </p:txBody>
      </p:sp>
      <p:sp>
        <p:nvSpPr>
          <p:cNvPr id="885" name="European or self-hosted"/>
          <p:cNvSpPr txBox="1"/>
          <p:nvPr/>
        </p:nvSpPr>
        <p:spPr>
          <a:xfrm>
            <a:off x="7874000" y="4825999"/>
            <a:ext cx="6604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European or self-hosted</a:t>
            </a:r>
          </a:p>
        </p:txBody>
      </p:sp>
      <p:sp>
        <p:nvSpPr>
          <p:cNvPr id="886" name="The catch"/>
          <p:cNvSpPr txBox="1"/>
          <p:nvPr/>
        </p:nvSpPr>
        <p:spPr>
          <a:xfrm>
            <a:off x="14986000" y="4825999"/>
            <a:ext cx="762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887" name="Cloudflare"/>
          <p:cNvSpPr txBox="1"/>
          <p:nvPr/>
        </p:nvSpPr>
        <p:spPr>
          <a:xfrm>
            <a:off x="1625600" y="58165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Cloudflare</a:t>
            </a:r>
          </a:p>
        </p:txBody>
      </p:sp>
      <p:sp>
        <p:nvSpPr>
          <p:cNvPr id="888" name="Bunny.net, Slovenia"/>
          <p:cNvSpPr txBox="1"/>
          <p:nvPr/>
        </p:nvSpPr>
        <p:spPr>
          <a:xfrm>
            <a:off x="8178800" y="58165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Bunny.net, Slovenia</a:t>
            </a:r>
          </a:p>
        </p:txBody>
      </p:sp>
      <p:sp>
        <p:nvSpPr>
          <p:cNvPr id="889" name="Smaller network than Cloudflare."/>
          <p:cNvSpPr txBox="1"/>
          <p:nvPr/>
        </p:nvSpPr>
        <p:spPr>
          <a:xfrm>
            <a:off x="14986000" y="58166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Smaller network than Cloudflare.</a:t>
            </a:r>
          </a:p>
        </p:txBody>
      </p:sp>
      <p:sp>
        <p:nvSpPr>
          <p:cNvPr id="890" name="Mailgun, SendGrid"/>
          <p:cNvSpPr txBox="1"/>
          <p:nvPr/>
        </p:nvSpPr>
        <p:spPr>
          <a:xfrm>
            <a:off x="1625600" y="69849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Mailgun, SendGrid</a:t>
            </a:r>
          </a:p>
        </p:txBody>
      </p:sp>
      <p:sp>
        <p:nvSpPr>
          <p:cNvPr id="891" name="Brevo, France"/>
          <p:cNvSpPr txBox="1"/>
          <p:nvPr/>
        </p:nvSpPr>
        <p:spPr>
          <a:xfrm>
            <a:off x="8178800" y="69849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Brevo, France</a:t>
            </a:r>
          </a:p>
        </p:txBody>
      </p:sp>
      <p:sp>
        <p:nvSpPr>
          <p:cNvPr id="892" name="Delivery still depends on Gmail and Outlook."/>
          <p:cNvSpPr txBox="1"/>
          <p:nvPr/>
        </p:nvSpPr>
        <p:spPr>
          <a:xfrm>
            <a:off x="14986000" y="69850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Delivery still depends on Gmail and Outlook.</a:t>
            </a:r>
          </a:p>
        </p:txBody>
      </p:sp>
      <p:sp>
        <p:nvSpPr>
          <p:cNvPr id="893" name="GitHub"/>
          <p:cNvSpPr txBox="1"/>
          <p:nvPr/>
        </p:nvSpPr>
        <p:spPr>
          <a:xfrm>
            <a:off x="1625600" y="81533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GitHub</a:t>
            </a:r>
          </a:p>
        </p:txBody>
      </p:sp>
      <p:sp>
        <p:nvSpPr>
          <p:cNvPr id="894" name="Codeberg, Germany, or Forgejo"/>
          <p:cNvSpPr txBox="1"/>
          <p:nvPr/>
        </p:nvSpPr>
        <p:spPr>
          <a:xfrm>
            <a:off x="8178800" y="81533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Codeberg, Germany, or Forgejo</a:t>
            </a:r>
          </a:p>
        </p:txBody>
      </p:sp>
      <p:sp>
        <p:nvSpPr>
          <p:cNvPr id="895" name="Most open source projects still live on GitHub."/>
          <p:cNvSpPr txBox="1"/>
          <p:nvPr/>
        </p:nvSpPr>
        <p:spPr>
          <a:xfrm>
            <a:off x="14986000" y="81534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Most open source projects still live on GitHub.</a:t>
            </a:r>
          </a:p>
        </p:txBody>
      </p:sp>
      <p:sp>
        <p:nvSpPr>
          <p:cNvPr id="896" name="Google Workspace"/>
          <p:cNvSpPr txBox="1"/>
          <p:nvPr/>
        </p:nvSpPr>
        <p:spPr>
          <a:xfrm>
            <a:off x="1625600" y="93217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Google Workspace</a:t>
            </a:r>
          </a:p>
        </p:txBody>
      </p:sp>
      <p:sp>
        <p:nvSpPr>
          <p:cNvPr id="897" name="Nextcloud, self-hosted"/>
          <p:cNvSpPr txBox="1"/>
          <p:nvPr/>
        </p:nvSpPr>
        <p:spPr>
          <a:xfrm>
            <a:off x="8178800" y="93217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Nextcloud, self-hosted</a:t>
            </a:r>
          </a:p>
        </p:txBody>
      </p:sp>
      <p:sp>
        <p:nvSpPr>
          <p:cNvPr id="898" name="Someone has to run and update it."/>
          <p:cNvSpPr txBox="1"/>
          <p:nvPr/>
        </p:nvSpPr>
        <p:spPr>
          <a:xfrm>
            <a:off x="14986000" y="93218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Someone has to run and update it.</a:t>
            </a:r>
          </a:p>
        </p:txBody>
      </p:sp>
      <p:sp>
        <p:nvSpPr>
          <p:cNvPr id="899" name="OpenAI"/>
          <p:cNvSpPr txBox="1"/>
          <p:nvPr/>
        </p:nvSpPr>
        <p:spPr>
          <a:xfrm>
            <a:off x="1625600" y="104901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OpenAI</a:t>
            </a:r>
          </a:p>
        </p:txBody>
      </p:sp>
      <p:sp>
        <p:nvSpPr>
          <p:cNvPr id="900" name="Mistral, France, or local models"/>
          <p:cNvSpPr txBox="1"/>
          <p:nvPr/>
        </p:nvSpPr>
        <p:spPr>
          <a:xfrm>
            <a:off x="8178800" y="104901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Mistral, France, or local models</a:t>
            </a:r>
          </a:p>
        </p:txBody>
      </p:sp>
      <p:sp>
        <p:nvSpPr>
          <p:cNvPr id="901" name="Local models need strong hardware."/>
          <p:cNvSpPr txBox="1"/>
          <p:nvPr/>
        </p:nvSpPr>
        <p:spPr>
          <a:xfrm>
            <a:off x="14986000" y="104902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Local models need strong hardware.</a:t>
            </a:r>
          </a:p>
        </p:txBody>
      </p:sp>
      <p:sp>
        <p:nvSpPr>
          <p:cNvPr id="902" name="More at"/>
          <p:cNvSpPr txBox="1"/>
          <p:nvPr/>
        </p:nvSpPr>
        <p:spPr>
          <a:xfrm>
            <a:off x="19650075" y="10159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More at</a:t>
            </a:r>
          </a:p>
        </p:txBody>
      </p:sp>
      <p:sp>
        <p:nvSpPr>
          <p:cNvPr id="903" name="european-alternatives.eu"/>
          <p:cNvSpPr txBox="1"/>
          <p:nvPr/>
        </p:nvSpPr>
        <p:spPr>
          <a:xfrm>
            <a:off x="19650075" y="13969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u="sng">
                <a:solidFill>
                  <a:srgbClr val="220D44"/>
                </a:solidFill>
                <a:latin typeface="Geist Regular SemiBold"/>
                <a:ea typeface="Geist Regular SemiBold"/>
                <a:cs typeface="Geist Regular SemiBold"/>
                <a:sym typeface="Geist Regular SemiBold"/>
                <a:hlinkClick r:id="rId20" invalidUrl="" action="" tgtFrame="" tooltip="" history="1" highlightClick="0" endSnd="0"/>
              </a:defRPr>
            </a:lvl1pPr>
          </a:lstStyle>
          <a:p>
            <a:pPr>
              <a:defRPr u="none"/>
            </a:pPr>
            <a:r>
              <a:rPr u="sng">
                <a:hlinkClick r:id="rId20" invalidUrl="" action="" tgtFrame="" tooltip="" history="1" highlightClick="0" endSnd="0"/>
              </a:rPr>
              <a:t>european-alternatives.eu</a:t>
            </a:r>
          </a:p>
        </p:txBody>
      </p:sp>
      <p:pic>
        <p:nvPicPr>
          <p:cNvPr id="904" name="ea-logo-no-text.svg" descr="ea-logo-no-text.svg"/>
          <p:cNvPicPr>
            <a:picLocks noChangeAspect="1"/>
          </p:cNvPicPr>
          <p:nvPr/>
        </p:nvPicPr>
        <p:blipFill>
          <a:blip r:embed="rId21">
            <a:extLst/>
          </a:blip>
          <a:stretch>
            <a:fillRect/>
          </a:stretch>
        </p:blipFill>
        <p:spPr>
          <a:xfrm>
            <a:off x="18507075" y="990600"/>
            <a:ext cx="914400" cy="914400"/>
          </a:xfrm>
          <a:prstGeom prst="rect">
            <a:avLst/>
          </a:prstGeom>
          <a:ln w="12700">
            <a:miter lim="400000"/>
          </a:ln>
        </p:spPr>
      </p:pic>
      <p:pic>
        <p:nvPicPr>
          <p:cNvPr id="905" name="prog-21.png" descr="prog-21.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0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910" name="Where to star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start</a:t>
            </a:r>
          </a:p>
        </p:txBody>
      </p:sp>
      <p:sp>
        <p:nvSpPr>
          <p:cNvPr id="911"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912" name="viz-22-00.svg" descr="viz-22-00.svg"/>
          <p:cNvPicPr>
            <a:picLocks noChangeAspect="1"/>
          </p:cNvPicPr>
          <p:nvPr/>
        </p:nvPicPr>
        <p:blipFill>
          <a:blip r:embed="rId4">
            <a:extLst/>
          </a:blip>
          <a:stretch>
            <a:fillRect/>
          </a:stretch>
        </p:blipFill>
        <p:spPr>
          <a:xfrm>
            <a:off x="12192000" y="4673600"/>
            <a:ext cx="317500" cy="6413500"/>
          </a:xfrm>
          <a:prstGeom prst="rect">
            <a:avLst/>
          </a:prstGeom>
          <a:ln w="12700">
            <a:miter lim="400000"/>
          </a:ln>
        </p:spPr>
      </p:pic>
      <p:sp>
        <p:nvSpPr>
          <p:cNvPr id="913" name="Start here"/>
          <p:cNvSpPr txBox="1"/>
          <p:nvPr/>
        </p:nvSpPr>
        <p:spPr>
          <a:xfrm>
            <a:off x="1320800" y="4724399"/>
            <a:ext cx="1016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Start here</a:t>
            </a:r>
          </a:p>
        </p:txBody>
      </p:sp>
      <p:sp>
        <p:nvSpPr>
          <p:cNvPr id="914" name="New to running servers"/>
          <p:cNvSpPr txBox="1"/>
          <p:nvPr/>
        </p:nvSpPr>
        <p:spPr>
          <a:xfrm>
            <a:off x="1320800" y="5486400"/>
            <a:ext cx="10160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F5F8B"/>
                </a:solidFill>
                <a:latin typeface="Geist Regular Medium"/>
                <a:ea typeface="Geist Regular Medium"/>
                <a:cs typeface="Geist Regular Medium"/>
                <a:sym typeface="Geist Regular Medium"/>
              </a:defRPr>
            </a:lvl1pPr>
          </a:lstStyle>
          <a:p>
            <a:pPr/>
            <a:r>
              <a:t>New to running servers</a:t>
            </a:r>
          </a:p>
        </p:txBody>
      </p:sp>
      <p:sp>
        <p:nvSpPr>
          <p:cNvPr id="915" name="1"/>
          <p:cNvSpPr txBox="1"/>
          <p:nvPr/>
        </p:nvSpPr>
        <p:spPr>
          <a:xfrm>
            <a:off x="1320800" y="66421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916" name="Start on your own computer. Use Linux, run one service, and read its config files."/>
          <p:cNvSpPr txBox="1"/>
          <p:nvPr/>
        </p:nvSpPr>
        <p:spPr>
          <a:xfrm>
            <a:off x="2133600" y="6603999"/>
            <a:ext cx="7527561"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Start on your own computer. Use Linux, run one service, and read its config files.</a:t>
            </a:r>
          </a:p>
        </p:txBody>
      </p:sp>
      <p:sp>
        <p:nvSpPr>
          <p:cNvPr id="917" name="2"/>
          <p:cNvSpPr txBox="1"/>
          <p:nvPr/>
        </p:nvSpPr>
        <p:spPr>
          <a:xfrm>
            <a:off x="1320800" y="82169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918" name="Rent the smallest VPS (e.g. UpCloud) and set it up yourself: SSH keys, firewall, nginx and TLS."/>
          <p:cNvSpPr txBox="1"/>
          <p:nvPr/>
        </p:nvSpPr>
        <p:spPr>
          <a:xfrm>
            <a:off x="2133600" y="8178799"/>
            <a:ext cx="9652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Rent the smallest VPS (e.g. UpCloud) and set it up yourself: SSH keys, firewall, nginx and TLS.</a:t>
            </a:r>
          </a:p>
        </p:txBody>
      </p:sp>
      <p:sp>
        <p:nvSpPr>
          <p:cNvPr id="919" name="3"/>
          <p:cNvSpPr txBox="1"/>
          <p:nvPr/>
        </p:nvSpPr>
        <p:spPr>
          <a:xfrm>
            <a:off x="1320800" y="97917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920" name="Write every step down. Start scripting."/>
          <p:cNvSpPr txBox="1"/>
          <p:nvPr/>
        </p:nvSpPr>
        <p:spPr>
          <a:xfrm>
            <a:off x="2133600" y="9753600"/>
            <a:ext cx="965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Write every step down. Start scripting.</a:t>
            </a:r>
          </a:p>
        </p:txBody>
      </p:sp>
      <p:sp>
        <p:nvSpPr>
          <p:cNvPr id="921" name="Go further"/>
          <p:cNvSpPr txBox="1"/>
          <p:nvPr/>
        </p:nvSpPr>
        <p:spPr>
          <a:xfrm>
            <a:off x="12801600" y="4724399"/>
            <a:ext cx="1016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Go further</a:t>
            </a:r>
          </a:p>
        </p:txBody>
      </p:sp>
      <p:sp>
        <p:nvSpPr>
          <p:cNvPr id="922" name="Already running servers"/>
          <p:cNvSpPr txBox="1"/>
          <p:nvPr/>
        </p:nvSpPr>
        <p:spPr>
          <a:xfrm>
            <a:off x="12801600" y="5486400"/>
            <a:ext cx="10160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F5F8B"/>
                </a:solidFill>
                <a:latin typeface="Geist Regular Medium"/>
                <a:ea typeface="Geist Regular Medium"/>
                <a:cs typeface="Geist Regular Medium"/>
                <a:sym typeface="Geist Regular Medium"/>
              </a:defRPr>
            </a:lvl1pPr>
          </a:lstStyle>
          <a:p>
            <a:pPr/>
            <a:r>
              <a:t>Already running servers</a:t>
            </a:r>
          </a:p>
        </p:txBody>
      </p:sp>
      <p:sp>
        <p:nvSpPr>
          <p:cNvPr id="923" name="4"/>
          <p:cNvSpPr txBox="1"/>
          <p:nvPr/>
        </p:nvSpPr>
        <p:spPr>
          <a:xfrm>
            <a:off x="12801600" y="66421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924" name="Move one service you subscribe to onto your own server: Plausible analytics, Outline docs, etc."/>
          <p:cNvSpPr txBox="1"/>
          <p:nvPr/>
        </p:nvSpPr>
        <p:spPr>
          <a:xfrm>
            <a:off x="13614400" y="6603999"/>
            <a:ext cx="9398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Move one service you subscribe to onto your own server: Plausible analytics, Outline docs, etc.</a:t>
            </a:r>
          </a:p>
        </p:txBody>
      </p:sp>
      <p:sp>
        <p:nvSpPr>
          <p:cNvPr id="925" name="5"/>
          <p:cNvSpPr txBox="1"/>
          <p:nvPr/>
        </p:nvSpPr>
        <p:spPr>
          <a:xfrm>
            <a:off x="12801600" y="79883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926" name="Swap one installed package for a source build. Try to see if it compiles via a script or Ansible."/>
          <p:cNvSpPr txBox="1"/>
          <p:nvPr/>
        </p:nvSpPr>
        <p:spPr>
          <a:xfrm>
            <a:off x="13614400" y="7950199"/>
            <a:ext cx="9398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Swap one installed package for a source build. Try to see if it compiles via a script or Ansible.</a:t>
            </a:r>
          </a:p>
        </p:txBody>
      </p:sp>
      <p:sp>
        <p:nvSpPr>
          <p:cNvPr id="927" name="6"/>
          <p:cNvSpPr txBox="1"/>
          <p:nvPr/>
        </p:nvSpPr>
        <p:spPr>
          <a:xfrm>
            <a:off x="12801600" y="97917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928" name="Test your exit. Restore a backup and move one service to another provider."/>
          <p:cNvSpPr txBox="1"/>
          <p:nvPr/>
        </p:nvSpPr>
        <p:spPr>
          <a:xfrm>
            <a:off x="13614400" y="9753599"/>
            <a:ext cx="9398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Test your exit. Restore a backup and move</a:t>
            </a:r>
            <a:br/>
            <a:r>
              <a:t>one service to another provider.</a:t>
            </a:r>
          </a:p>
        </p:txBody>
      </p:sp>
      <p:pic>
        <p:nvPicPr>
          <p:cNvPr id="929" name="prog-22.png" descr="prog-2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3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934" name="Knowing every layer"/>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Knowing every layer</a:t>
            </a:r>
          </a:p>
        </p:txBody>
      </p:sp>
      <p:sp>
        <p:nvSpPr>
          <p:cNvPr id="935" name="is practical sovereignty"/>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is practical sovereignty</a:t>
            </a:r>
          </a:p>
        </p:txBody>
      </p:sp>
      <p:sp>
        <p:nvSpPr>
          <p:cNvPr id="936" name="Host the thing yourself, end to end,"/>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Host the thing yourself, end to end,</a:t>
            </a:r>
          </a:p>
        </p:txBody>
      </p:sp>
      <p:sp>
        <p:nvSpPr>
          <p:cNvPr id="937" name="and keep it running for a year."/>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keep it running for a year.</a:t>
            </a:r>
          </a:p>
        </p:txBody>
      </p:sp>
      <p:sp>
        <p:nvSpPr>
          <p:cNvPr id="93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939" name="prog-23.png" descr="prog-2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43"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944"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945"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946"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947" name="rolle.social · dude.fi"/>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rPr u="sng">
                <a:hlinkClick r:id="rId3" invalidUrl="" action="" tgtFrame="" tooltip="" history="1" highlightClick="0" endSnd="0"/>
              </a:rPr>
              <a:t>rolle.social</a:t>
            </a:r>
            <a:r>
              <a:t> · </a:t>
            </a:r>
            <a:r>
              <a:rPr u="sng">
                <a:hlinkClick r:id="rId4" invalidUrl="" action="" tgtFrame="" tooltip="" history="1" highlightClick="0" endSnd="0"/>
              </a:rPr>
              <a:t>dude.fi</a:t>
            </a:r>
          </a:p>
        </p:txBody>
      </p:sp>
      <p:sp>
        <p:nvSpPr>
          <p:cNvPr id="94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sp>
        <p:nvSpPr>
          <p:cNvPr id="949" name="github.com/rollecode"/>
          <p:cNvSpPr txBox="1"/>
          <p:nvPr/>
        </p:nvSpPr>
        <p:spPr>
          <a:xfrm>
            <a:off x="1854200" y="91694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u="sng">
                <a:solidFill>
                  <a:srgbClr val="4B3051"/>
                </a:solidFill>
                <a:latin typeface="Geist Regular Regular"/>
                <a:ea typeface="Geist Regular Regular"/>
                <a:cs typeface="Geist Regular Regular"/>
                <a:sym typeface="Geist Regular Regular"/>
                <a:hlinkClick r:id="rId5" invalidUrl="" action="" tgtFrame="" tooltip="" history="1" highlightClick="0" endSnd="0"/>
              </a:defRPr>
            </a:lvl1pPr>
          </a:lstStyle>
          <a:p>
            <a:pPr>
              <a:defRPr u="none"/>
            </a:pPr>
            <a:r>
              <a:rPr u="sng">
                <a:hlinkClick r:id="rId5" invalidUrl="" action="" tgtFrame="" tooltip="" history="1" highlightClick="0" endSnd="0"/>
              </a:rPr>
              <a:t>github.com/rollecode</a:t>
            </a:r>
          </a:p>
        </p:txBody>
      </p:sp>
      <p:sp>
        <p:nvSpPr>
          <p:cNvPr id="950" name="github.com/rollecode/mindtrek2026-talk-slides"/>
          <p:cNvSpPr txBox="1"/>
          <p:nvPr/>
        </p:nvSpPr>
        <p:spPr>
          <a:xfrm>
            <a:off x="1854200" y="96520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u="sng">
                <a:solidFill>
                  <a:srgbClr val="4B3051"/>
                </a:solidFill>
                <a:latin typeface="Geist Regular Regular"/>
                <a:ea typeface="Geist Regular Regular"/>
                <a:cs typeface="Geist Regular Regular"/>
                <a:sym typeface="Geist Regular Regular"/>
                <a:hlinkClick r:id="rId6" invalidUrl="" action="" tgtFrame="" tooltip="" history="1" highlightClick="0" endSnd="0"/>
              </a:defRPr>
            </a:lvl1pPr>
          </a:lstStyle>
          <a:p>
            <a:pPr>
              <a:defRPr u="none"/>
            </a:pPr>
            <a:r>
              <a:rPr u="sng">
                <a:hlinkClick r:id="rId6" invalidUrl="" action="" tgtFrame="" tooltip="" history="1" highlightClick="0" endSnd="0"/>
              </a:rPr>
              <a:t>github.com/rollecode/mindtrek2026-talk-slides</a:t>
            </a:r>
          </a:p>
        </p:txBody>
      </p:sp>
      <p:pic>
        <p:nvPicPr>
          <p:cNvPr id="951" name="github-mark.svg" descr="github-mark.svg"/>
          <p:cNvPicPr>
            <a:picLocks noChangeAspect="1"/>
          </p:cNvPicPr>
          <p:nvPr/>
        </p:nvPicPr>
        <p:blipFill>
          <a:blip r:embed="rId7">
            <a:alphaModFix amt="60000"/>
            <a:extLst/>
          </a:blip>
          <a:stretch>
            <a:fillRect/>
          </a:stretch>
        </p:blipFill>
        <p:spPr>
          <a:xfrm>
            <a:off x="1346200" y="9296400"/>
            <a:ext cx="355600" cy="355600"/>
          </a:xfrm>
          <a:prstGeom prst="rect">
            <a:avLst/>
          </a:prstGeom>
          <a:ln w="12700">
            <a:miter lim="400000"/>
          </a:ln>
        </p:spPr>
      </p:pic>
      <p:pic>
        <p:nvPicPr>
          <p:cNvPr id="952" name="prog-16.png" descr="prog-16.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