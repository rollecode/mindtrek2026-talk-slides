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Shape 204"/>
          <p:cNvSpPr/>
          <p:nvPr>
            <p:ph type="sldImg"/>
          </p:nvPr>
        </p:nvSpPr>
        <p:spPr>
          <a:prstGeom prst="rect">
            <a:avLst/>
          </a:prstGeom>
        </p:spPr>
        <p:txBody>
          <a:bodyPr/>
          <a:lstStyle/>
          <a:p>
            <a:pPr/>
          </a:p>
        </p:txBody>
      </p:sp>
      <p:sp>
        <p:nvSpPr>
          <p:cNvPr id="205" name="Shape 205"/>
          <p:cNvSpPr/>
          <p:nvPr>
            <p:ph type="body" sz="quarter" idx="1"/>
          </p:nvPr>
        </p:nvSpPr>
        <p:spPr>
          <a:prstGeom prst="rect">
            <a:avLst/>
          </a:prstGeom>
        </p:spPr>
        <p:txBody>
          <a:bodyPr/>
          <a:lstStyle/>
          <a:p>
            <a:pPr/>
            <a:r>
              <a:t>Let’s start by the definitions. Two words run through the whole talk.</a:t>
            </a:r>
          </a:p>
          <a:p>
            <a:pPr/>
            <a:r>
              <a:t>A server is a computer the outside world can reach online. Nothing more.</a:t>
            </a:r>
          </a:p>
          <a:p>
            <a:pPr/>
            <a:r>
              <a:t>Source is a file I can read and study myself, without barriers between me and 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Shape 226"/>
          <p:cNvSpPr/>
          <p:nvPr>
            <p:ph type="sldImg"/>
          </p:nvPr>
        </p:nvSpPr>
        <p:spPr>
          <a:prstGeom prst="rect">
            <a:avLst/>
          </a:prstGeom>
        </p:spPr>
        <p:txBody>
          <a:bodyPr/>
          <a:lstStyle/>
          <a:p>
            <a:pPr/>
          </a:p>
        </p:txBody>
      </p:sp>
      <p:sp>
        <p:nvSpPr>
          <p:cNvPr id="227" name="Shape 227"/>
          <p:cNvSpPr/>
          <p:nvPr>
            <p:ph type="body" sz="quarter" idx="1"/>
          </p:nvPr>
        </p:nvSpPr>
        <p:spPr>
          <a:prstGeom prst="rect">
            <a:avLst/>
          </a:prstGeom>
        </p:spPr>
        <p:txBody>
          <a:bodyPr/>
          <a:lstStyle/>
          <a:p>
            <a:pPr/>
            <a:r>
              <a:t>Commodore at home, GNU, BSD and Perl, the first Linux distributions on CDs, Apache, MySQL and PHP, and Vim. For some of us in the room, it all started here.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Shape 241"/>
          <p:cNvSpPr/>
          <p:nvPr>
            <p:ph type="sldImg"/>
          </p:nvPr>
        </p:nvSpPr>
        <p:spPr>
          <a:prstGeom prst="rect">
            <a:avLst/>
          </a:prstGeom>
        </p:spPr>
        <p:txBody>
          <a:bodyPr/>
          <a:lstStyle/>
          <a:p>
            <a:pPr/>
          </a:p>
        </p:txBody>
      </p:sp>
      <p:sp>
        <p:nvSpPr>
          <p:cNvPr id="242" name="Shape 242"/>
          <p:cNvSpPr/>
          <p:nvPr>
            <p:ph type="body" sz="quarter" idx="1"/>
          </p:nvPr>
        </p:nvSpPr>
        <p:spPr>
          <a:prstGeom prst="rect">
            <a:avLst/>
          </a:prstGeom>
        </p:spPr>
        <p:txBody>
          <a:bodyPr/>
          <a:lstStyle/>
          <a:p>
            <a:pPr/>
            <a:r>
              <a:t>Before any company, my servers were at home. A box with a dynamic IP, and a script updating the DNS record the moment the address changed.</a:t>
            </a:r>
          </a:p>
          <a:p>
            <a:pPr/>
            <a:r>
              <a:t>I liked it: my own hardware, my own files, nothing between me and the machine.</a:t>
            </a:r>
          </a:p>
          <a:p>
            <a:pPr/>
            <a:r>
              <a:t>It had its problems. It ate the family bandwidth, upload speeds were tiny back then, and we had no spare room, so it lived in a wardrobe and hummed. My wife was not a fan.</a:t>
            </a:r>
          </a:p>
          <a:p>
            <a:pPr/>
            <a:r>
              <a:t>So anything needing bandwidth moved out of the wardrobe to rented servers in a datacentre. The IoT at home still runs on my own hardware.</a:t>
            </a:r>
          </a:p>
          <a:p>
            <a:pPr/>
            <a:r>
              <a:t>Before then: KDE at 8 years old on the family's Red Hat based Linux, Mandrake dual-booted on my sister's PC in 1998, and an IRC shell account on TNNet at school.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6" name="Shape 346"/>
          <p:cNvSpPr/>
          <p:nvPr>
            <p:ph type="sldImg"/>
          </p:nvPr>
        </p:nvSpPr>
        <p:spPr>
          <a:prstGeom prst="rect">
            <a:avLst/>
          </a:prstGeom>
        </p:spPr>
        <p:txBody>
          <a:bodyPr/>
          <a:lstStyle/>
          <a:p>
            <a:pPr/>
          </a:p>
        </p:txBody>
      </p:sp>
      <p:sp>
        <p:nvSpPr>
          <p:cNvPr id="347" name="Shape 347"/>
          <p:cNvSpPr/>
          <p:nvPr>
            <p:ph type="body" sz="quarter" idx="1"/>
          </p:nvPr>
        </p:nvSpPr>
        <p:spPr>
          <a:prstGeom prst="rect">
            <a:avLst/>
          </a:prstGeom>
        </p:spPr>
        <p:txBody>
          <a:bodyPr/>
          <a:lstStyle/>
          <a:p>
            <a:pPr/>
            <a:r>
              <a:t>Roughly the server and hosting landscape today. Clouds and platforms, containers and orchestration, databases, monitoring, CI and everything in between. And somewhere in there is Skynet, if you spotted it.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1" name="Shape 451"/>
          <p:cNvSpPr/>
          <p:nvPr>
            <p:ph type="sldImg"/>
          </p:nvPr>
        </p:nvSpPr>
        <p:spPr>
          <a:prstGeom prst="rect">
            <a:avLst/>
          </a:prstGeom>
        </p:spPr>
        <p:txBody>
          <a:bodyPr/>
          <a:lstStyle/>
          <a:p>
            <a:pPr/>
          </a:p>
        </p:txBody>
      </p:sp>
      <p:sp>
        <p:nvSpPr>
          <p:cNvPr id="452" name="Shape 452"/>
          <p:cNvSpPr/>
          <p:nvPr>
            <p:ph type="body" sz="quarter" idx="1"/>
          </p:nvPr>
        </p:nvSpPr>
        <p:spPr>
          <a:prstGeom prst="rect">
            <a:avLst/>
          </a:prstGeom>
        </p:spPr>
        <p:txBody>
          <a:bodyPr/>
          <a:lstStyle/>
          <a:p>
            <a:pPr/>
            <a:r>
              <a:t>And these are the ones I actually use. Everything lit is in daily use, at Dude or at home. The half-lit ones I use only for some things. The rest I have tried, read about or chosen not to use.</a:t>
            </a:r>
          </a:p>
          <a:p>
            <a:pPr/>
            <a:r>
              <a:t>Most of the lit logos are open source.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0" name="Shape 460"/>
          <p:cNvSpPr/>
          <p:nvPr>
            <p:ph type="sldImg"/>
          </p:nvPr>
        </p:nvSpPr>
        <p:spPr>
          <a:prstGeom prst="rect">
            <a:avLst/>
          </a:prstGeom>
        </p:spPr>
        <p:txBody>
          <a:bodyPr/>
          <a:lstStyle/>
          <a:p>
            <a:pPr/>
          </a:p>
        </p:txBody>
      </p:sp>
      <p:sp>
        <p:nvSpPr>
          <p:cNvPr id="461" name="Shape 461"/>
          <p:cNvSpPr/>
          <p:nvPr>
            <p:ph type="body" sz="quarter" idx="1"/>
          </p:nvPr>
        </p:nvSpPr>
        <p:spPr>
          <a:prstGeom prst="rect">
            <a:avLst/>
          </a:prstGeom>
        </p:spPr>
        <p:txBody>
          <a:bodyPr/>
          <a:lstStyle/>
          <a:p>
            <a:pPr/>
            <a:r>
              <a:t>I understand why containers exist. They isolate things and make them easy to repeat, and I use them for some things.</a:t>
            </a:r>
          </a:p>
          <a:p>
            <a:pPr/>
            <a:r>
              <a:t>But for me, plain files and source code on a server I can log into is the most natural way to work. Nothing is hidden behind an image. If something breaks, I open the file and read it.</a:t>
            </a:r>
          </a:p>
          <a:p>
            <a:pPr/>
            <a:r>
              <a:t>And to be fair, everything is contained at some level: a container, a virtual machine, a rented server in somebody's datacentre. The question for me has always been how much of the box I can see into.</a:t>
            </a:r>
          </a:p>
          <a:p>
            <a:pPr/>
            <a:r>
              <a:t>I know these servers are set up one by one. I will come back to the problems later.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1" name="Shape 501"/>
          <p:cNvSpPr/>
          <p:nvPr>
            <p:ph type="sldImg"/>
          </p:nvPr>
        </p:nvSpPr>
        <p:spPr>
          <a:prstGeom prst="rect">
            <a:avLst/>
          </a:prstGeom>
        </p:spPr>
        <p:txBody>
          <a:bodyPr/>
          <a:lstStyle/>
          <a:p>
            <a:pPr/>
          </a:p>
        </p:txBody>
      </p:sp>
      <p:sp>
        <p:nvSpPr>
          <p:cNvPr id="502" name="Shape 502"/>
          <p:cNvSpPr/>
          <p:nvPr>
            <p:ph type="body" sz="quarter" idx="1"/>
          </p:nvPr>
        </p:nvSpPr>
        <p:spPr>
          <a:prstGeom prst="rect">
            <a:avLst/>
          </a:prstGeom>
        </p:spPr>
        <p:txBody>
          <a:bodyPr/>
          <a:lstStyle/>
          <a:p>
            <a:pPr/>
            <a:r>
              <a:t>I wanted a purely command-line way of working. The first VPS ran HHVM. It kept crashing, so I wrote a cron script to restart it. Doing operations ourselves started there.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0" name="Shape 540"/>
          <p:cNvSpPr/>
          <p:nvPr>
            <p:ph type="sldImg"/>
          </p:nvPr>
        </p:nvSpPr>
        <p:spPr>
          <a:prstGeom prst="rect">
            <a:avLst/>
          </a:prstGeom>
        </p:spPr>
        <p:txBody>
          <a:bodyPr/>
          <a:lstStyle/>
          <a:p>
            <a:pPr/>
          </a:p>
        </p:txBody>
      </p:sp>
      <p:sp>
        <p:nvSpPr>
          <p:cNvPr id="541" name="Shape 541"/>
          <p:cNvSpPr/>
          <p:nvPr>
            <p:ph type="body" sz="quarter" idx="1"/>
          </p:nvPr>
        </p:nvSpPr>
        <p:spPr>
          <a:prstGeom prst="rect">
            <a:avLst/>
          </a:prstGeom>
        </p:spPr>
        <p:txBody>
          <a:bodyPr/>
          <a:lstStyle/>
          <a:p>
            <a:pPr/>
            <a:r>
              <a:t>It started in September 2016 with slow nights and short drops, week after week. The provider's support found nothing.</a:t>
            </a:r>
          </a:p>
          <a:p>
            <a:pPr/>
            <a:r>
              <a:t>Then one Monday morning every client site hung, and nobody in France could be reached. Weeks later a report arrived in French. As far as my school French could tell, an excavator had cut the network.</a:t>
            </a:r>
          </a:p>
          <a:p>
            <a:pPr/>
            <a:r>
              <a:t>In mid-October 2016 we moved every site to a local data center in Finland. </a:t>
            </a:r>
          </a:p>
          <a:p>
            <a:pPr/>
            <a:r>
              <a:t>One thing saved us: we ran DNS for most of our clients ourselves. Without it, the move would have taken days.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0" name="Shape 620"/>
          <p:cNvSpPr/>
          <p:nvPr>
            <p:ph type="sldImg"/>
          </p:nvPr>
        </p:nvSpPr>
        <p:spPr>
          <a:prstGeom prst="rect">
            <a:avLst/>
          </a:prstGeom>
        </p:spPr>
        <p:txBody>
          <a:bodyPr/>
          <a:lstStyle/>
          <a:p>
            <a:pPr/>
          </a:p>
        </p:txBody>
      </p:sp>
      <p:sp>
        <p:nvSpPr>
          <p:cNvPr id="621" name="Shape 621"/>
          <p:cNvSpPr/>
          <p:nvPr>
            <p:ph type="body" sz="quarter" idx="1"/>
          </p:nvPr>
        </p:nvSpPr>
        <p:spPr>
          <a:prstGeom prst="rect">
            <a:avLst/>
          </a:prstGeom>
        </p:spPr>
        <p:txBody>
          <a:bodyPr/>
          <a:lstStyle/>
          <a:p>
            <a:pPr/>
            <a:r>
              <a:t>Deploys go from Git with Capistrano. Larger sites get a cluster with HAProxy, Galera and lsyncd. The self-hosted services are Plausible, Outline and Twenty.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5" name="Shape 665"/>
          <p:cNvSpPr/>
          <p:nvPr>
            <p:ph type="sldImg"/>
          </p:nvPr>
        </p:nvSpPr>
        <p:spPr>
          <a:prstGeom prst="rect">
            <a:avLst/>
          </a:prstGeom>
        </p:spPr>
        <p:txBody>
          <a:bodyPr/>
          <a:lstStyle/>
          <a:p>
            <a:pPr/>
          </a:p>
        </p:txBody>
      </p:sp>
      <p:sp>
        <p:nvSpPr>
          <p:cNvPr id="666" name="Shape 666"/>
          <p:cNvSpPr/>
          <p:nvPr>
            <p:ph type="body" sz="quarter" idx="1"/>
          </p:nvPr>
        </p:nvSpPr>
        <p:spPr>
          <a:prstGeom prst="rect">
            <a:avLst/>
          </a:prstGeom>
        </p:spPr>
        <p:txBody>
          <a:bodyPr/>
          <a:lstStyle/>
          <a:p>
            <a:pPr/>
            <a:r>
              <a:t>The title says from source, so to be exact: most software comes from upstream, and a few modules are compiled by us. The point: unmodified upstream software, configured manually, on a server we can read.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4" name="Shape 684"/>
          <p:cNvSpPr/>
          <p:nvPr>
            <p:ph type="sldImg"/>
          </p:nvPr>
        </p:nvSpPr>
        <p:spPr>
          <a:prstGeom prst="rect">
            <a:avLst/>
          </a:prstGeom>
        </p:spPr>
        <p:txBody>
          <a:bodyPr/>
          <a:lstStyle/>
          <a:p>
            <a:pPr/>
          </a:p>
        </p:txBody>
      </p:sp>
      <p:sp>
        <p:nvSpPr>
          <p:cNvPr id="685" name="Shape 685"/>
          <p:cNvSpPr/>
          <p:nvPr>
            <p:ph type="body" sz="quarter" idx="1"/>
          </p:nvPr>
        </p:nvSpPr>
        <p:spPr>
          <a:prstGeom prst="rect">
            <a:avLst/>
          </a:prstGeom>
        </p:spPr>
        <p:txBody>
          <a:bodyPr/>
          <a:lstStyle/>
          <a:p>
            <a:pPr/>
            <a:r>
              <a:t>On the 9th of June 2026, Ubuntu released a security update for nginx, USN-8398-1. It made nginx crash with a segfault whenever external modules were loaded, and dozens of web services went down. Ubuntu reverted the fix in USN-8398-2 and apologised for the inconvenience.</a:t>
            </a:r>
          </a:p>
          <a:p>
            <a:pPr/>
            <a:r>
              <a:t>Our servers kept running. We run nginx from nginx.org mainline and build the modules from source against the running version, so the Ubuntu update never touched them.</a:t>
            </a:r>
          </a:p>
          <a:p>
            <a:pPr/>
            <a:r>
              <a:t>Ubuntu's nginx is also much older. Mainline always has the latest.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5" name="Shape 715"/>
          <p:cNvSpPr/>
          <p:nvPr>
            <p:ph type="sldImg"/>
          </p:nvPr>
        </p:nvSpPr>
        <p:spPr>
          <a:prstGeom prst="rect">
            <a:avLst/>
          </a:prstGeom>
        </p:spPr>
        <p:txBody>
          <a:bodyPr/>
          <a:lstStyle/>
          <a:p>
            <a:pPr/>
          </a:p>
        </p:txBody>
      </p:sp>
      <p:sp>
        <p:nvSpPr>
          <p:cNvPr id="716" name="Shape 716"/>
          <p:cNvSpPr/>
          <p:nvPr>
            <p:ph type="body" sz="quarter" idx="1"/>
          </p:nvPr>
        </p:nvSpPr>
        <p:spPr>
          <a:prstGeom prst="rect">
            <a:avLst/>
          </a:prstGeom>
        </p:spPr>
        <p:txBody>
          <a:bodyPr/>
          <a:lstStyle/>
          <a:p>
            <a:pPr/>
            <a:r>
              <a:t>Running things from source does not mean every server is a snowflake. We use Ansible playbooks a lot, and Docker for some services, even where parts are built from source.</a:t>
            </a:r>
          </a:p>
          <a:p>
            <a:pPr/>
            <a:r>
              <a:t>Support more than one way of doing things, and agree on how each one is done. And write it down, for servers and for code alike.</a:t>
            </a:r>
          </a:p>
          <a:p>
            <a:pPr/>
            <a:r>
              <a:t>I used to run Vagrant for years, to self-host my development environment too. A story for another time.</a:t>
            </a:r>
          </a:p>
          <a:p>
            <a:pPr/>
            <a:r>
              <a:t>The everyday work runs on its own: monitoring and heartbeats, backups, certificate renewals and cleanups on a schedule. Updates are the one step a person reviews before they go live.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32" name="Shape 732"/>
          <p:cNvSpPr/>
          <p:nvPr>
            <p:ph type="sldImg"/>
          </p:nvPr>
        </p:nvSpPr>
        <p:spPr>
          <a:prstGeom prst="rect">
            <a:avLst/>
          </a:prstGeom>
        </p:spPr>
        <p:txBody>
          <a:bodyPr/>
          <a:lstStyle/>
          <a:p>
            <a:pPr/>
          </a:p>
        </p:txBody>
      </p:sp>
      <p:sp>
        <p:nvSpPr>
          <p:cNvPr id="733" name="Shape 733"/>
          <p:cNvSpPr/>
          <p:nvPr>
            <p:ph type="body" sz="quarter" idx="1"/>
          </p:nvPr>
        </p:nvSpPr>
        <p:spPr>
          <a:prstGeom prst="rect">
            <a:avLst/>
          </a:prstGeom>
        </p:spPr>
        <p:txBody>
          <a:bodyPr/>
          <a:lstStyle/>
          <a:p>
            <a:pPr/>
            <a:r>
              <a:t>Most of the work goes into compiling and configuring new software. Updates themselves are scripted.</a:t>
            </a:r>
          </a:p>
          <a:p>
            <a:pPr/>
            <a:r>
              <a:t>Servers drift apart without fleet control. Fixes happen manually first and end up in scripts later. And the knowledge stays with a few people unless someone writes it down.</a:t>
            </a:r>
          </a:p>
          <a:p>
            <a:pPr/>
            <a:r>
              <a:t>AI makes the slow parts faster. It helps with build options, configuration files and the scripts themselves.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7" name="Shape 747"/>
          <p:cNvSpPr/>
          <p:nvPr>
            <p:ph type="sldImg"/>
          </p:nvPr>
        </p:nvSpPr>
        <p:spPr>
          <a:prstGeom prst="rect">
            <a:avLst/>
          </a:prstGeom>
        </p:spPr>
        <p:txBody>
          <a:bodyPr/>
          <a:lstStyle/>
          <a:p>
            <a:pPr/>
          </a:p>
        </p:txBody>
      </p:sp>
      <p:sp>
        <p:nvSpPr>
          <p:cNvPr id="748" name="Shape 748"/>
          <p:cNvSpPr/>
          <p:nvPr>
            <p:ph type="body" sz="quarter" idx="1"/>
          </p:nvPr>
        </p:nvSpPr>
        <p:spPr>
          <a:prstGeom prst="rect">
            <a:avLst/>
          </a:prstGeom>
        </p:spPr>
        <p:txBody>
          <a:bodyPr/>
          <a:lstStyle/>
          <a:p>
            <a:pPr/>
            <a:r>
              <a:t>Every layer can be read. When something crashes, I can follow it from the log down to the source code, like with the nginx modules.</a:t>
            </a:r>
          </a:p>
          <a:p>
            <a:pPr/>
            <a:r>
              <a:t>When a provider failed us in 2016, we could move every site somewhere else.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88" name="Shape 788"/>
          <p:cNvSpPr/>
          <p:nvPr>
            <p:ph type="sldImg"/>
          </p:nvPr>
        </p:nvSpPr>
        <p:spPr>
          <a:prstGeom prst="rect">
            <a:avLst/>
          </a:prstGeom>
        </p:spPr>
        <p:txBody>
          <a:bodyPr/>
          <a:lstStyle/>
          <a:p>
            <a:pPr/>
          </a:p>
        </p:txBody>
      </p:sp>
      <p:sp>
        <p:nvSpPr>
          <p:cNvPr id="789" name="Shape 789"/>
          <p:cNvSpPr/>
          <p:nvPr>
            <p:ph type="body" sz="quarter" idx="1"/>
          </p:nvPr>
        </p:nvSpPr>
        <p:spPr>
          <a:prstGeom prst="rect">
            <a:avLst/>
          </a:prstGeom>
        </p:spPr>
        <p:txBody>
          <a:bodyPr/>
          <a:lstStyle/>
          <a:p>
            <a:pPr/>
            <a:r>
              <a:t>Most of you know these already, so here is the short version.</a:t>
            </a:r>
          </a:p>
          <a:p>
            <a:pPr/>
            <a:r>
              <a:t>The US CLOUD Act from 2018 lets US authorities request data from American companies wherever the data is stored. A European region does not change 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2" name="Shape 812"/>
          <p:cNvSpPr/>
          <p:nvPr>
            <p:ph type="sldImg"/>
          </p:nvPr>
        </p:nvSpPr>
        <p:spPr>
          <a:prstGeom prst="rect">
            <a:avLst/>
          </a:prstGeom>
        </p:spPr>
        <p:txBody>
          <a:bodyPr/>
          <a:lstStyle/>
          <a:p>
            <a:pPr/>
          </a:p>
        </p:txBody>
      </p:sp>
      <p:sp>
        <p:nvSpPr>
          <p:cNvPr id="813" name="Shape 813"/>
          <p:cNvSpPr/>
          <p:nvPr>
            <p:ph type="body" sz="quarter" idx="1"/>
          </p:nvPr>
        </p:nvSpPr>
        <p:spPr>
          <a:prstGeom prst="rect">
            <a:avLst/>
          </a:prstGeom>
        </p:spPr>
        <p:txBody>
          <a:bodyPr/>
          <a:lstStyle/>
          <a:p>
            <a:pPr/>
            <a:r>
              <a:t>Own your data. My mantra for years.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47" name="Shape 847"/>
          <p:cNvSpPr/>
          <p:nvPr>
            <p:ph type="sldImg"/>
          </p:nvPr>
        </p:nvSpPr>
        <p:spPr>
          <a:prstGeom prst="rect">
            <a:avLst/>
          </a:prstGeom>
        </p:spPr>
        <p:txBody>
          <a:bodyPr/>
          <a:lstStyle/>
          <a:p>
            <a:pPr/>
          </a:p>
        </p:txBody>
      </p:sp>
      <p:sp>
        <p:nvSpPr>
          <p:cNvPr id="848" name="Shape 848"/>
          <p:cNvSpPr/>
          <p:nvPr>
            <p:ph type="body" sz="quarter" idx="1"/>
          </p:nvPr>
        </p:nvSpPr>
        <p:spPr>
          <a:prstGeom prst="rect">
            <a:avLst/>
          </a:prstGeom>
        </p:spPr>
        <p:txBody>
          <a:bodyPr/>
          <a:lstStyle/>
          <a:p>
            <a:pPr/>
            <a:r>
              <a:t>Portability is a huge part of sovereignty. When everything runs on open source, on our own servers, with our own data and open APIs, we can move anywhere we want, any time we want. Lock-in is the real question.</a:t>
            </a:r>
          </a:p>
          <a:p>
            <a:pPr/>
            <a:r>
              <a:t>In the AI era the same goes for any service with a proper API. Anyone can write an MCP server for it, and data can move in any direction at any time. Self-hosting does not become less important. It becomes more important.</a:t>
            </a:r>
          </a:p>
          <a:p>
            <a:pPr/>
            <a:r>
              <a:t>And there is privacy. Nobody else reads the data on our own servers.</a:t>
            </a:r>
          </a:p>
          <a:p>
            <a:pPr/>
            <a:r>
              <a:t>The 2016 move worked because we kept DNS in our own hands.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62" name="Shape 862"/>
          <p:cNvSpPr/>
          <p:nvPr>
            <p:ph type="sldImg"/>
          </p:nvPr>
        </p:nvSpPr>
        <p:spPr>
          <a:prstGeom prst="rect">
            <a:avLst/>
          </a:prstGeom>
        </p:spPr>
        <p:txBody>
          <a:bodyPr/>
          <a:lstStyle/>
          <a:p>
            <a:pPr/>
          </a:p>
        </p:txBody>
      </p:sp>
      <p:sp>
        <p:nvSpPr>
          <p:cNvPr id="863" name="Shape 863"/>
          <p:cNvSpPr/>
          <p:nvPr>
            <p:ph type="body" sz="quarter" idx="1"/>
          </p:nvPr>
        </p:nvSpPr>
        <p:spPr>
          <a:prstGeom prst="rect">
            <a:avLst/>
          </a:prstGeom>
        </p:spPr>
        <p:txBody>
          <a:bodyPr/>
          <a:lstStyle/>
          <a:p>
            <a:pPr/>
            <a:r>
              <a:t>Self-hosting does not make a company independent of everyone. These are the dependencies we keep on purpose, and knowing them is part of the work.</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06" name="Shape 906"/>
          <p:cNvSpPr/>
          <p:nvPr>
            <p:ph type="sldImg"/>
          </p:nvPr>
        </p:nvSpPr>
        <p:spPr>
          <a:prstGeom prst="rect">
            <a:avLst/>
          </a:prstGeom>
        </p:spPr>
        <p:txBody>
          <a:bodyPr/>
          <a:lstStyle/>
          <a:p>
            <a:pPr/>
          </a:p>
        </p:txBody>
      </p:sp>
      <p:sp>
        <p:nvSpPr>
          <p:cNvPr id="907" name="Shape 907"/>
          <p:cNvSpPr/>
          <p:nvPr>
            <p:ph type="body" sz="quarter" idx="1"/>
          </p:nvPr>
        </p:nvSpPr>
        <p:spPr>
          <a:prstGeom prst="rect">
            <a:avLst/>
          </a:prstGeom>
        </p:spPr>
        <p:txBody>
          <a:bodyPr/>
          <a:lstStyle/>
          <a:p>
            <a:pPr/>
            <a:r>
              <a:t>For most big tech services there is a European or self-hosted alternative. None of them is free of trade-offs.</a:t>
            </a:r>
          </a:p>
          <a:p>
            <a:pPr/>
            <a:r>
              <a:t>Bunny.net for CDN and DNS, Brevo for sending email, Codeberg or your own Forgejo for code, Nextcloud for documents and files, and Mistral or a local model for AI.</a:t>
            </a:r>
          </a:p>
          <a:p>
            <a:pPr/>
            <a:r>
              <a:t>Email is the hardest one. Even with a European sender, delivery depends on the big mail providers.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0" name="Shape 930"/>
          <p:cNvSpPr/>
          <p:nvPr>
            <p:ph type="sldImg"/>
          </p:nvPr>
        </p:nvSpPr>
        <p:spPr>
          <a:prstGeom prst="rect">
            <a:avLst/>
          </a:prstGeom>
        </p:spPr>
        <p:txBody>
          <a:bodyPr/>
          <a:lstStyle/>
          <a:p>
            <a:pPr/>
          </a:p>
        </p:txBody>
      </p:sp>
      <p:sp>
        <p:nvSpPr>
          <p:cNvPr id="931" name="Shape 931"/>
          <p:cNvSpPr/>
          <p:nvPr>
            <p:ph type="body" sz="quarter" idx="1"/>
          </p:nvPr>
        </p:nvSpPr>
        <p:spPr>
          <a:prstGeom prst="rect">
            <a:avLst/>
          </a:prstGeom>
        </p:spPr>
        <p:txBody>
          <a:bodyPr/>
          <a:lstStyle/>
          <a:p>
            <a:pPr/>
            <a:r>
              <a:t>A few concrete things to try, depending on where you are.</a:t>
            </a:r>
          </a:p>
          <a:p>
            <a:pPr/>
            <a:r>
              <a:t>If you are just starting: self-hosting starts on your own computer. Run one service locally, a local AI model, your notes, your dev environment, and read its configuration files, not just the docs. Then rent the smallest server you can find and set it up yourself once. Lock yourself out on purpose and get back in through the console. And write every step down, because next month the list becomes your script.</a:t>
            </a:r>
          </a:p>
          <a:p>
            <a:pPr/>
            <a:r>
              <a:t>If you do it for a living: take one service you rent today and run it yourself. Swap one installed package for a source build, and learn its build options. And test your exit. Restore a backup, move one service to another provider. If it takes weeks, you are locked in.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0" name="Shape 940"/>
          <p:cNvSpPr/>
          <p:nvPr>
            <p:ph type="sldImg"/>
          </p:nvPr>
        </p:nvSpPr>
        <p:spPr>
          <a:prstGeom prst="rect">
            <a:avLst/>
          </a:prstGeom>
        </p:spPr>
        <p:txBody>
          <a:bodyPr/>
          <a:lstStyle/>
          <a:p>
            <a:pPr/>
          </a:p>
        </p:txBody>
      </p:sp>
      <p:sp>
        <p:nvSpPr>
          <p:cNvPr id="941" name="Shape 941"/>
          <p:cNvSpPr/>
          <p:nvPr>
            <p:ph type="body" sz="quarter" idx="1"/>
          </p:nvPr>
        </p:nvSpPr>
        <p:spPr>
          <a:prstGeom prst="rect">
            <a:avLst/>
          </a:prstGeom>
        </p:spPr>
        <p:txBody>
          <a:bodyPr/>
          <a:lstStyle/>
          <a:p>
            <a:pPr/>
            <a:r>
              <a:t>Knowing every layer of your stack is the most practical form of digital sovereignty a developer can have. One concrete first step for the developers and students in the room.</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umm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Bowl with salmon cakes, salad, and humm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image" Target="../media/image19.png"/><Relationship Id="rId16" Type="http://schemas.openxmlformats.org/officeDocument/2006/relationships/image" Target="../media/image20.png"/><Relationship Id="rId17" Type="http://schemas.openxmlformats.org/officeDocument/2006/relationships/image" Target="../media/image21.png"/><Relationship Id="rId18" Type="http://schemas.openxmlformats.org/officeDocument/2006/relationships/image" Target="../media/image2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30.png"/><Relationship Id="rId11" Type="http://schemas.openxmlformats.org/officeDocument/2006/relationships/image" Target="../media/image31.png"/><Relationship Id="rId12" Type="http://schemas.openxmlformats.org/officeDocument/2006/relationships/image" Target="../media/image32.png"/><Relationship Id="rId13" Type="http://schemas.openxmlformats.org/officeDocument/2006/relationships/image" Target="../media/image33.png"/><Relationship Id="rId14" Type="http://schemas.openxmlformats.org/officeDocument/2006/relationships/image" Target="../media/image34.png"/><Relationship Id="rId15" Type="http://schemas.openxmlformats.org/officeDocument/2006/relationships/image" Target="../media/image35.png"/><Relationship Id="rId16" Type="http://schemas.openxmlformats.org/officeDocument/2006/relationships/image" Target="../media/image36.png"/><Relationship Id="rId17" Type="http://schemas.openxmlformats.org/officeDocument/2006/relationships/image" Target="../media/image37.png"/><Relationship Id="rId18" Type="http://schemas.openxmlformats.org/officeDocument/2006/relationships/image" Target="../media/image38.png"/><Relationship Id="rId19" Type="http://schemas.openxmlformats.org/officeDocument/2006/relationships/image" Target="../media/image39.png"/><Relationship Id="rId20" Type="http://schemas.openxmlformats.org/officeDocument/2006/relationships/image" Target="../media/image40.png"/><Relationship Id="rId21" Type="http://schemas.openxmlformats.org/officeDocument/2006/relationships/image" Target="../media/image41.png"/><Relationship Id="rId22" Type="http://schemas.openxmlformats.org/officeDocument/2006/relationships/image" Target="../media/image42.png"/><Relationship Id="rId23" Type="http://schemas.openxmlformats.org/officeDocument/2006/relationships/image" Target="../media/image43.png"/><Relationship Id="rId24" Type="http://schemas.openxmlformats.org/officeDocument/2006/relationships/image" Target="../media/image44.png"/><Relationship Id="rId25" Type="http://schemas.openxmlformats.org/officeDocument/2006/relationships/image" Target="../media/image45.png"/><Relationship Id="rId26" Type="http://schemas.openxmlformats.org/officeDocument/2006/relationships/image" Target="../media/image46.png"/><Relationship Id="rId27" Type="http://schemas.openxmlformats.org/officeDocument/2006/relationships/image" Target="../media/image47.png"/><Relationship Id="rId28" Type="http://schemas.openxmlformats.org/officeDocument/2006/relationships/image" Target="../media/image48.png"/><Relationship Id="rId29" Type="http://schemas.openxmlformats.org/officeDocument/2006/relationships/image" Target="../media/image49.png"/><Relationship Id="rId30" Type="http://schemas.openxmlformats.org/officeDocument/2006/relationships/image" Target="../media/image50.png"/><Relationship Id="rId31" Type="http://schemas.openxmlformats.org/officeDocument/2006/relationships/image" Target="../media/image51.png"/><Relationship Id="rId32" Type="http://schemas.openxmlformats.org/officeDocument/2006/relationships/image" Target="../media/image52.png"/><Relationship Id="rId33" Type="http://schemas.openxmlformats.org/officeDocument/2006/relationships/image" Target="../media/image53.png"/><Relationship Id="rId34" Type="http://schemas.openxmlformats.org/officeDocument/2006/relationships/image" Target="../media/image54.png"/><Relationship Id="rId35" Type="http://schemas.openxmlformats.org/officeDocument/2006/relationships/image" Target="../media/image55.png"/><Relationship Id="rId36" Type="http://schemas.openxmlformats.org/officeDocument/2006/relationships/image" Target="../media/image56.png"/><Relationship Id="rId37" Type="http://schemas.openxmlformats.org/officeDocument/2006/relationships/image" Target="../media/image57.png"/><Relationship Id="rId38" Type="http://schemas.openxmlformats.org/officeDocument/2006/relationships/image" Target="../media/image58.png"/><Relationship Id="rId39" Type="http://schemas.openxmlformats.org/officeDocument/2006/relationships/image" Target="../media/image59.png"/><Relationship Id="rId40" Type="http://schemas.openxmlformats.org/officeDocument/2006/relationships/image" Target="../media/image60.png"/><Relationship Id="rId41" Type="http://schemas.openxmlformats.org/officeDocument/2006/relationships/image" Target="../media/image61.png"/><Relationship Id="rId42" Type="http://schemas.openxmlformats.org/officeDocument/2006/relationships/image" Target="../media/image62.png"/><Relationship Id="rId43" Type="http://schemas.openxmlformats.org/officeDocument/2006/relationships/image" Target="../media/image63.png"/><Relationship Id="rId44" Type="http://schemas.openxmlformats.org/officeDocument/2006/relationships/image" Target="../media/image64.png"/><Relationship Id="rId45" Type="http://schemas.openxmlformats.org/officeDocument/2006/relationships/image" Target="../media/image65.png"/><Relationship Id="rId46" Type="http://schemas.openxmlformats.org/officeDocument/2006/relationships/image" Target="../media/image66.png"/><Relationship Id="rId47" Type="http://schemas.openxmlformats.org/officeDocument/2006/relationships/image" Target="../media/image67.png"/><Relationship Id="rId48" Type="http://schemas.openxmlformats.org/officeDocument/2006/relationships/image" Target="../media/image68.png"/><Relationship Id="rId49" Type="http://schemas.openxmlformats.org/officeDocument/2006/relationships/image" Target="../media/image69.png"/><Relationship Id="rId50" Type="http://schemas.openxmlformats.org/officeDocument/2006/relationships/image" Target="../media/image70.png"/><Relationship Id="rId51" Type="http://schemas.openxmlformats.org/officeDocument/2006/relationships/image" Target="../media/image71.png"/><Relationship Id="rId52" Type="http://schemas.openxmlformats.org/officeDocument/2006/relationships/image" Target="../media/image72.png"/><Relationship Id="rId53" Type="http://schemas.openxmlformats.org/officeDocument/2006/relationships/image" Target="../media/image73.png"/><Relationship Id="rId54" Type="http://schemas.openxmlformats.org/officeDocument/2006/relationships/image" Target="../media/image74.png"/><Relationship Id="rId55" Type="http://schemas.openxmlformats.org/officeDocument/2006/relationships/image" Target="../media/image75.png"/><Relationship Id="rId56" Type="http://schemas.openxmlformats.org/officeDocument/2006/relationships/image" Target="../media/image76.png"/><Relationship Id="rId57" Type="http://schemas.openxmlformats.org/officeDocument/2006/relationships/image" Target="../media/image77.png"/><Relationship Id="rId58" Type="http://schemas.openxmlformats.org/officeDocument/2006/relationships/image" Target="../media/image78.png"/><Relationship Id="rId59" Type="http://schemas.openxmlformats.org/officeDocument/2006/relationships/image" Target="../media/image79.png"/><Relationship Id="rId60" Type="http://schemas.openxmlformats.org/officeDocument/2006/relationships/image" Target="../media/image80.png"/><Relationship Id="rId61" Type="http://schemas.openxmlformats.org/officeDocument/2006/relationships/image" Target="../media/image81.png"/><Relationship Id="rId62" Type="http://schemas.openxmlformats.org/officeDocument/2006/relationships/image" Target="../media/image82.png"/><Relationship Id="rId63" Type="http://schemas.openxmlformats.org/officeDocument/2006/relationships/image" Target="../media/image83.png"/><Relationship Id="rId64" Type="http://schemas.openxmlformats.org/officeDocument/2006/relationships/image" Target="../media/image84.png"/><Relationship Id="rId65" Type="http://schemas.openxmlformats.org/officeDocument/2006/relationships/image" Target="../media/image85.png"/><Relationship Id="rId66" Type="http://schemas.openxmlformats.org/officeDocument/2006/relationships/image" Target="../media/image86.png"/><Relationship Id="rId67" Type="http://schemas.openxmlformats.org/officeDocument/2006/relationships/image" Target="../media/image87.png"/><Relationship Id="rId68" Type="http://schemas.openxmlformats.org/officeDocument/2006/relationships/image" Target="../media/image88.png"/><Relationship Id="rId69" Type="http://schemas.openxmlformats.org/officeDocument/2006/relationships/image" Target="../media/image89.png"/><Relationship Id="rId70" Type="http://schemas.openxmlformats.org/officeDocument/2006/relationships/image" Target="../media/image90.png"/><Relationship Id="rId71" Type="http://schemas.openxmlformats.org/officeDocument/2006/relationships/image" Target="../media/image91.png"/><Relationship Id="rId72" Type="http://schemas.openxmlformats.org/officeDocument/2006/relationships/image" Target="../media/image92.png"/><Relationship Id="rId73" Type="http://schemas.openxmlformats.org/officeDocument/2006/relationships/image" Target="../media/image93.png"/><Relationship Id="rId74" Type="http://schemas.openxmlformats.org/officeDocument/2006/relationships/image" Target="../media/image94.png"/><Relationship Id="rId75" Type="http://schemas.openxmlformats.org/officeDocument/2006/relationships/image" Target="../media/image95.png"/><Relationship Id="rId76" Type="http://schemas.openxmlformats.org/officeDocument/2006/relationships/image" Target="../media/image96.png"/><Relationship Id="rId77" Type="http://schemas.openxmlformats.org/officeDocument/2006/relationships/image" Target="../media/image97.png"/><Relationship Id="rId78" Type="http://schemas.openxmlformats.org/officeDocument/2006/relationships/image" Target="../media/image98.png"/><Relationship Id="rId79" Type="http://schemas.openxmlformats.org/officeDocument/2006/relationships/image" Target="../media/image99.png"/><Relationship Id="rId80" Type="http://schemas.openxmlformats.org/officeDocument/2006/relationships/image" Target="../media/image100.png"/><Relationship Id="rId81" Type="http://schemas.openxmlformats.org/officeDocument/2006/relationships/image" Target="../media/image101.png"/><Relationship Id="rId82" Type="http://schemas.openxmlformats.org/officeDocument/2006/relationships/image" Target="../media/image102.png"/><Relationship Id="rId83" Type="http://schemas.openxmlformats.org/officeDocument/2006/relationships/image" Target="../media/image103.png"/><Relationship Id="rId84" Type="http://schemas.openxmlformats.org/officeDocument/2006/relationships/image" Target="../media/image104.png"/><Relationship Id="rId85" Type="http://schemas.openxmlformats.org/officeDocument/2006/relationships/image" Target="../media/image105.png"/><Relationship Id="rId86" Type="http://schemas.openxmlformats.org/officeDocument/2006/relationships/image" Target="../media/image106.png"/><Relationship Id="rId87" Type="http://schemas.openxmlformats.org/officeDocument/2006/relationships/image" Target="../media/image107.png"/><Relationship Id="rId88" Type="http://schemas.openxmlformats.org/officeDocument/2006/relationships/image" Target="../media/image108.png"/><Relationship Id="rId89" Type="http://schemas.openxmlformats.org/officeDocument/2006/relationships/image" Target="../media/image109.png"/><Relationship Id="rId90" Type="http://schemas.openxmlformats.org/officeDocument/2006/relationships/image" Target="../media/image110.png"/><Relationship Id="rId91" Type="http://schemas.openxmlformats.org/officeDocument/2006/relationships/image" Target="../media/image111.png"/><Relationship Id="rId92" Type="http://schemas.openxmlformats.org/officeDocument/2006/relationships/image" Target="../media/image112.png"/><Relationship Id="rId93" Type="http://schemas.openxmlformats.org/officeDocument/2006/relationships/image" Target="../media/image113.png"/><Relationship Id="rId94" Type="http://schemas.openxmlformats.org/officeDocument/2006/relationships/image" Target="../media/image114.png"/><Relationship Id="rId95" Type="http://schemas.openxmlformats.org/officeDocument/2006/relationships/image" Target="../media/image115.png"/><Relationship Id="rId96" Type="http://schemas.openxmlformats.org/officeDocument/2006/relationships/image" Target="../media/image116.png"/><Relationship Id="rId97" Type="http://schemas.openxmlformats.org/officeDocument/2006/relationships/image" Target="../media/image117.png"/><Relationship Id="rId98" Type="http://schemas.openxmlformats.org/officeDocument/2006/relationships/image" Target="../media/image118.png"/><Relationship Id="rId99" Type="http://schemas.openxmlformats.org/officeDocument/2006/relationships/image" Target="../media/image119.png"/><Relationship Id="rId100" Type="http://schemas.openxmlformats.org/officeDocument/2006/relationships/image" Target="../media/image120.png"/><Relationship Id="rId101" Type="http://schemas.openxmlformats.org/officeDocument/2006/relationships/image" Target="../media/image121.png"/><Relationship Id="rId102" Type="http://schemas.openxmlformats.org/officeDocument/2006/relationships/image" Target="../media/image122.png"/><Relationship Id="rId103" Type="http://schemas.openxmlformats.org/officeDocument/2006/relationships/image" Target="../media/image12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26.png"/><Relationship Id="rId7" Type="http://schemas.openxmlformats.org/officeDocument/2006/relationships/image" Target="../media/image126.png"/><Relationship Id="rId8" Type="http://schemas.openxmlformats.org/officeDocument/2006/relationships/image" Target="../media/image127.png"/><Relationship Id="rId9" Type="http://schemas.openxmlformats.org/officeDocument/2006/relationships/image" Target="../media/image128.png"/><Relationship Id="rId10" Type="http://schemas.openxmlformats.org/officeDocument/2006/relationships/image" Target="../media/image129.png"/><Relationship Id="rId11" Type="http://schemas.openxmlformats.org/officeDocument/2006/relationships/image" Target="../media/image130.png"/><Relationship Id="rId12" Type="http://schemas.openxmlformats.org/officeDocument/2006/relationships/image" Target="../media/image131.png"/><Relationship Id="rId13" Type="http://schemas.openxmlformats.org/officeDocument/2006/relationships/image" Target="../media/image33.png"/><Relationship Id="rId14" Type="http://schemas.openxmlformats.org/officeDocument/2006/relationships/image" Target="../media/image132.png"/><Relationship Id="rId15" Type="http://schemas.openxmlformats.org/officeDocument/2006/relationships/image" Target="../media/image35.png"/><Relationship Id="rId16" Type="http://schemas.openxmlformats.org/officeDocument/2006/relationships/image" Target="../media/image133.png"/><Relationship Id="rId17" Type="http://schemas.openxmlformats.org/officeDocument/2006/relationships/image" Target="../media/image134.png"/><Relationship Id="rId18" Type="http://schemas.openxmlformats.org/officeDocument/2006/relationships/image" Target="../media/image38.png"/><Relationship Id="rId19" Type="http://schemas.openxmlformats.org/officeDocument/2006/relationships/image" Target="../media/image135.png"/><Relationship Id="rId20" Type="http://schemas.openxmlformats.org/officeDocument/2006/relationships/image" Target="../media/image136.png"/><Relationship Id="rId21" Type="http://schemas.openxmlformats.org/officeDocument/2006/relationships/image" Target="../media/image137.png"/><Relationship Id="rId22" Type="http://schemas.openxmlformats.org/officeDocument/2006/relationships/image" Target="../media/image42.png"/><Relationship Id="rId23" Type="http://schemas.openxmlformats.org/officeDocument/2006/relationships/image" Target="../media/image138.png"/><Relationship Id="rId24" Type="http://schemas.openxmlformats.org/officeDocument/2006/relationships/image" Target="../media/image139.png"/><Relationship Id="rId25" Type="http://schemas.openxmlformats.org/officeDocument/2006/relationships/image" Target="../media/image140.png"/><Relationship Id="rId26" Type="http://schemas.openxmlformats.org/officeDocument/2006/relationships/image" Target="../media/image141.png"/><Relationship Id="rId27" Type="http://schemas.openxmlformats.org/officeDocument/2006/relationships/image" Target="../media/image142.png"/><Relationship Id="rId28" Type="http://schemas.openxmlformats.org/officeDocument/2006/relationships/image" Target="../media/image143.png"/><Relationship Id="rId29" Type="http://schemas.openxmlformats.org/officeDocument/2006/relationships/image" Target="../media/image144.png"/><Relationship Id="rId30" Type="http://schemas.openxmlformats.org/officeDocument/2006/relationships/image" Target="../media/image50.png"/><Relationship Id="rId31" Type="http://schemas.openxmlformats.org/officeDocument/2006/relationships/image" Target="../media/image145.png"/><Relationship Id="rId32" Type="http://schemas.openxmlformats.org/officeDocument/2006/relationships/image" Target="../media/image52.png"/><Relationship Id="rId33" Type="http://schemas.openxmlformats.org/officeDocument/2006/relationships/image" Target="../media/image53.png"/><Relationship Id="rId34" Type="http://schemas.openxmlformats.org/officeDocument/2006/relationships/image" Target="../media/image146.png"/><Relationship Id="rId35" Type="http://schemas.openxmlformats.org/officeDocument/2006/relationships/image" Target="../media/image147.png"/><Relationship Id="rId36" Type="http://schemas.openxmlformats.org/officeDocument/2006/relationships/image" Target="../media/image148.png"/><Relationship Id="rId37" Type="http://schemas.openxmlformats.org/officeDocument/2006/relationships/image" Target="../media/image149.png"/><Relationship Id="rId38" Type="http://schemas.openxmlformats.org/officeDocument/2006/relationships/image" Target="../media/image150.png"/><Relationship Id="rId39" Type="http://schemas.openxmlformats.org/officeDocument/2006/relationships/image" Target="../media/image59.png"/><Relationship Id="rId40" Type="http://schemas.openxmlformats.org/officeDocument/2006/relationships/image" Target="../media/image151.png"/><Relationship Id="rId41" Type="http://schemas.openxmlformats.org/officeDocument/2006/relationships/image" Target="../media/image152.png"/><Relationship Id="rId42" Type="http://schemas.openxmlformats.org/officeDocument/2006/relationships/image" Target="../media/image153.png"/><Relationship Id="rId43" Type="http://schemas.openxmlformats.org/officeDocument/2006/relationships/image" Target="../media/image154.png"/><Relationship Id="rId44" Type="http://schemas.openxmlformats.org/officeDocument/2006/relationships/image" Target="../media/image155.png"/><Relationship Id="rId45" Type="http://schemas.openxmlformats.org/officeDocument/2006/relationships/image" Target="../media/image156.png"/><Relationship Id="rId46" Type="http://schemas.openxmlformats.org/officeDocument/2006/relationships/image" Target="../media/image157.png"/><Relationship Id="rId47" Type="http://schemas.openxmlformats.org/officeDocument/2006/relationships/image" Target="../media/image67.png"/><Relationship Id="rId48" Type="http://schemas.openxmlformats.org/officeDocument/2006/relationships/image" Target="../media/image158.png"/><Relationship Id="rId49" Type="http://schemas.openxmlformats.org/officeDocument/2006/relationships/image" Target="../media/image159.png"/><Relationship Id="rId50" Type="http://schemas.openxmlformats.org/officeDocument/2006/relationships/image" Target="../media/image160.png"/><Relationship Id="rId51" Type="http://schemas.openxmlformats.org/officeDocument/2006/relationships/image" Target="../media/image161.png"/><Relationship Id="rId52" Type="http://schemas.openxmlformats.org/officeDocument/2006/relationships/image" Target="../media/image162.png"/><Relationship Id="rId53" Type="http://schemas.openxmlformats.org/officeDocument/2006/relationships/image" Target="../media/image163.png"/><Relationship Id="rId54" Type="http://schemas.openxmlformats.org/officeDocument/2006/relationships/image" Target="../media/image164.png"/><Relationship Id="rId55" Type="http://schemas.openxmlformats.org/officeDocument/2006/relationships/image" Target="../media/image75.png"/><Relationship Id="rId56" Type="http://schemas.openxmlformats.org/officeDocument/2006/relationships/image" Target="../media/image165.png"/><Relationship Id="rId57" Type="http://schemas.openxmlformats.org/officeDocument/2006/relationships/image" Target="../media/image166.png"/><Relationship Id="rId58" Type="http://schemas.openxmlformats.org/officeDocument/2006/relationships/image" Target="../media/image78.png"/><Relationship Id="rId59" Type="http://schemas.openxmlformats.org/officeDocument/2006/relationships/image" Target="../media/image79.png"/><Relationship Id="rId60" Type="http://schemas.openxmlformats.org/officeDocument/2006/relationships/image" Target="../media/image80.png"/><Relationship Id="rId61" Type="http://schemas.openxmlformats.org/officeDocument/2006/relationships/image" Target="../media/image167.png"/><Relationship Id="rId62" Type="http://schemas.openxmlformats.org/officeDocument/2006/relationships/image" Target="../media/image168.png"/><Relationship Id="rId63" Type="http://schemas.openxmlformats.org/officeDocument/2006/relationships/image" Target="../media/image169.png"/><Relationship Id="rId64" Type="http://schemas.openxmlformats.org/officeDocument/2006/relationships/image" Target="../media/image170.png"/><Relationship Id="rId65" Type="http://schemas.openxmlformats.org/officeDocument/2006/relationships/image" Target="../media/image171.png"/><Relationship Id="rId66" Type="http://schemas.openxmlformats.org/officeDocument/2006/relationships/image" Target="../media/image172.png"/><Relationship Id="rId67" Type="http://schemas.openxmlformats.org/officeDocument/2006/relationships/image" Target="../media/image87.png"/><Relationship Id="rId68" Type="http://schemas.openxmlformats.org/officeDocument/2006/relationships/image" Target="../media/image173.png"/><Relationship Id="rId69" Type="http://schemas.openxmlformats.org/officeDocument/2006/relationships/image" Target="../media/image174.png"/><Relationship Id="rId70" Type="http://schemas.openxmlformats.org/officeDocument/2006/relationships/image" Target="../media/image175.png"/><Relationship Id="rId71" Type="http://schemas.openxmlformats.org/officeDocument/2006/relationships/image" Target="../media/image176.png"/><Relationship Id="rId72" Type="http://schemas.openxmlformats.org/officeDocument/2006/relationships/image" Target="../media/image177.png"/><Relationship Id="rId73" Type="http://schemas.openxmlformats.org/officeDocument/2006/relationships/image" Target="../media/image178.png"/><Relationship Id="rId74" Type="http://schemas.openxmlformats.org/officeDocument/2006/relationships/image" Target="../media/image179.png"/><Relationship Id="rId75" Type="http://schemas.openxmlformats.org/officeDocument/2006/relationships/image" Target="../media/image95.png"/><Relationship Id="rId76" Type="http://schemas.openxmlformats.org/officeDocument/2006/relationships/image" Target="../media/image180.png"/><Relationship Id="rId77" Type="http://schemas.openxmlformats.org/officeDocument/2006/relationships/image" Target="../media/image181.png"/><Relationship Id="rId78" Type="http://schemas.openxmlformats.org/officeDocument/2006/relationships/image" Target="../media/image182.png"/><Relationship Id="rId79" Type="http://schemas.openxmlformats.org/officeDocument/2006/relationships/image" Target="../media/image183.png"/><Relationship Id="rId80" Type="http://schemas.openxmlformats.org/officeDocument/2006/relationships/image" Target="../media/image184.png"/><Relationship Id="rId81" Type="http://schemas.openxmlformats.org/officeDocument/2006/relationships/image" Target="../media/image101.png"/><Relationship Id="rId82" Type="http://schemas.openxmlformats.org/officeDocument/2006/relationships/image" Target="../media/image102.png"/><Relationship Id="rId83" Type="http://schemas.openxmlformats.org/officeDocument/2006/relationships/image" Target="../media/image185.png"/><Relationship Id="rId84" Type="http://schemas.openxmlformats.org/officeDocument/2006/relationships/image" Target="../media/image186.png"/><Relationship Id="rId85" Type="http://schemas.openxmlformats.org/officeDocument/2006/relationships/image" Target="../media/image187.png"/><Relationship Id="rId86" Type="http://schemas.openxmlformats.org/officeDocument/2006/relationships/image" Target="../media/image106.png"/><Relationship Id="rId87" Type="http://schemas.openxmlformats.org/officeDocument/2006/relationships/image" Target="../media/image188.png"/><Relationship Id="rId88" Type="http://schemas.openxmlformats.org/officeDocument/2006/relationships/image" Target="../media/image189.png"/><Relationship Id="rId89" Type="http://schemas.openxmlformats.org/officeDocument/2006/relationships/image" Target="../media/image190.png"/><Relationship Id="rId90" Type="http://schemas.openxmlformats.org/officeDocument/2006/relationships/image" Target="../media/image110.png"/><Relationship Id="rId91" Type="http://schemas.openxmlformats.org/officeDocument/2006/relationships/image" Target="../media/image191.png"/><Relationship Id="rId92" Type="http://schemas.openxmlformats.org/officeDocument/2006/relationships/image" Target="../media/image192.png"/><Relationship Id="rId93" Type="http://schemas.openxmlformats.org/officeDocument/2006/relationships/image" Target="../media/image193.png"/><Relationship Id="rId94" Type="http://schemas.openxmlformats.org/officeDocument/2006/relationships/image" Target="../media/image114.png"/><Relationship Id="rId95" Type="http://schemas.openxmlformats.org/officeDocument/2006/relationships/image" Target="../media/image115.png"/><Relationship Id="rId96" Type="http://schemas.openxmlformats.org/officeDocument/2006/relationships/image" Target="../media/image194.png"/><Relationship Id="rId97" Type="http://schemas.openxmlformats.org/officeDocument/2006/relationships/image" Target="../media/image195.png"/><Relationship Id="rId98" Type="http://schemas.openxmlformats.org/officeDocument/2006/relationships/image" Target="../media/image196.png"/><Relationship Id="rId99" Type="http://schemas.openxmlformats.org/officeDocument/2006/relationships/image" Target="../media/image197.png"/><Relationship Id="rId100" Type="http://schemas.openxmlformats.org/officeDocument/2006/relationships/image" Target="../media/image198.png"/><Relationship Id="rId101" Type="http://schemas.openxmlformats.org/officeDocument/2006/relationships/image" Target="../media/image199.png"/><Relationship Id="rId102" Type="http://schemas.openxmlformats.org/officeDocument/2006/relationships/image" Target="../media/image200.png"/><Relationship Id="rId103" Type="http://schemas.openxmlformats.org/officeDocument/2006/relationships/image" Target="../media/image20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0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03.png"/><Relationship Id="rId5" Type="http://schemas.openxmlformats.org/officeDocument/2006/relationships/image" Target="../media/image204.png"/><Relationship Id="rId6" Type="http://schemas.openxmlformats.org/officeDocument/2006/relationships/image" Target="../media/image205.png"/><Relationship Id="rId7" Type="http://schemas.openxmlformats.org/officeDocument/2006/relationships/image" Target="../media/image206.png"/><Relationship Id="rId8" Type="http://schemas.openxmlformats.org/officeDocument/2006/relationships/image" Target="../media/image207.png"/><Relationship Id="rId9" Type="http://schemas.openxmlformats.org/officeDocument/2006/relationships/image" Target="../media/image208.png"/><Relationship Id="rId10" Type="http://schemas.openxmlformats.org/officeDocument/2006/relationships/image" Target="../media/image209.png"/><Relationship Id="rId11" Type="http://schemas.openxmlformats.org/officeDocument/2006/relationships/image" Target="../media/image210.png"/><Relationship Id="rId12" Type="http://schemas.openxmlformats.org/officeDocument/2006/relationships/image" Target="../media/image211.png"/><Relationship Id="rId13" Type="http://schemas.openxmlformats.org/officeDocument/2006/relationships/image" Target="../media/image212.png"/><Relationship Id="rId14" Type="http://schemas.openxmlformats.org/officeDocument/2006/relationships/image" Target="../media/image213.png"/><Relationship Id="rId15" Type="http://schemas.openxmlformats.org/officeDocument/2006/relationships/image" Target="../media/image214.png"/><Relationship Id="rId16" Type="http://schemas.openxmlformats.org/officeDocument/2006/relationships/image" Target="../media/image215.png"/><Relationship Id="rId17" Type="http://schemas.openxmlformats.org/officeDocument/2006/relationships/image" Target="../media/image216.png"/><Relationship Id="rId18" Type="http://schemas.openxmlformats.org/officeDocument/2006/relationships/image" Target="../media/image217.png"/><Relationship Id="rId19" Type="http://schemas.openxmlformats.org/officeDocument/2006/relationships/image" Target="../media/image218.png"/><Relationship Id="rId20" Type="http://schemas.openxmlformats.org/officeDocument/2006/relationships/image" Target="../media/image219.png"/><Relationship Id="rId21" Type="http://schemas.openxmlformats.org/officeDocument/2006/relationships/image" Target="../media/image220.png"/><Relationship Id="rId22" Type="http://schemas.openxmlformats.org/officeDocument/2006/relationships/image" Target="../media/image22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22.png"/><Relationship Id="rId5" Type="http://schemas.openxmlformats.org/officeDocument/2006/relationships/image" Target="../media/image223.png"/><Relationship Id="rId6" Type="http://schemas.openxmlformats.org/officeDocument/2006/relationships/image" Target="../media/image224.png"/><Relationship Id="rId7" Type="http://schemas.openxmlformats.org/officeDocument/2006/relationships/image" Target="../media/image225.png"/><Relationship Id="rId8" Type="http://schemas.openxmlformats.org/officeDocument/2006/relationships/image" Target="../media/image226.png"/><Relationship Id="rId9" Type="http://schemas.openxmlformats.org/officeDocument/2006/relationships/image" Target="../media/image227.png"/><Relationship Id="rId10" Type="http://schemas.openxmlformats.org/officeDocument/2006/relationships/image" Target="../media/image228.png"/><Relationship Id="rId11" Type="http://schemas.openxmlformats.org/officeDocument/2006/relationships/image" Target="../media/image229.png"/><Relationship Id="rId12" Type="http://schemas.openxmlformats.org/officeDocument/2006/relationships/image" Target="../media/image230.png"/><Relationship Id="rId13" Type="http://schemas.openxmlformats.org/officeDocument/2006/relationships/image" Target="../media/image231.png"/><Relationship Id="rId14" Type="http://schemas.openxmlformats.org/officeDocument/2006/relationships/image" Target="../media/image23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33.png"/><Relationship Id="rId5" Type="http://schemas.openxmlformats.org/officeDocument/2006/relationships/image" Target="../media/image234.png"/><Relationship Id="rId6" Type="http://schemas.openxmlformats.org/officeDocument/2006/relationships/image" Target="../media/image235.png"/><Relationship Id="rId7" Type="http://schemas.openxmlformats.org/officeDocument/2006/relationships/image" Target="../media/image236.png"/><Relationship Id="rId8" Type="http://schemas.openxmlformats.org/officeDocument/2006/relationships/image" Target="../media/image237.png"/><Relationship Id="rId9" Type="http://schemas.openxmlformats.org/officeDocument/2006/relationships/image" Target="../media/image238.png"/><Relationship Id="rId10" Type="http://schemas.openxmlformats.org/officeDocument/2006/relationships/image" Target="../media/image239.png"/><Relationship Id="rId11" Type="http://schemas.openxmlformats.org/officeDocument/2006/relationships/image" Target="../media/image240.png"/><Relationship Id="rId12" Type="http://schemas.openxmlformats.org/officeDocument/2006/relationships/image" Target="../media/image241.png"/><Relationship Id="rId13" Type="http://schemas.openxmlformats.org/officeDocument/2006/relationships/image" Target="../media/image242.png"/><Relationship Id="rId14" Type="http://schemas.openxmlformats.org/officeDocument/2006/relationships/image" Target="../media/image243.png"/><Relationship Id="rId15" Type="http://schemas.openxmlformats.org/officeDocument/2006/relationships/image" Target="../media/image244.png"/><Relationship Id="rId16" Type="http://schemas.openxmlformats.org/officeDocument/2006/relationships/image" Target="../media/image245.png"/><Relationship Id="rId17" Type="http://schemas.openxmlformats.org/officeDocument/2006/relationships/image" Target="../media/image246.png"/><Relationship Id="rId18" Type="http://schemas.openxmlformats.org/officeDocument/2006/relationships/image" Target="../media/image247.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48.png"/><Relationship Id="rId5" Type="http://schemas.openxmlformats.org/officeDocument/2006/relationships/image" Target="../media/image249.png"/><Relationship Id="rId6" Type="http://schemas.openxmlformats.org/officeDocument/2006/relationships/image" Target="../media/image250.png"/><Relationship Id="rId7" Type="http://schemas.openxmlformats.org/officeDocument/2006/relationships/image" Target="../media/image251.png"/><Relationship Id="rId8" Type="http://schemas.openxmlformats.org/officeDocument/2006/relationships/image" Target="../media/image252.png"/><Relationship Id="rId9" Type="http://schemas.openxmlformats.org/officeDocument/2006/relationships/image" Target="../media/image253.png"/><Relationship Id="rId10" Type="http://schemas.openxmlformats.org/officeDocument/2006/relationships/image" Target="../media/image254.png"/><Relationship Id="rId11" Type="http://schemas.openxmlformats.org/officeDocument/2006/relationships/image" Target="../media/image255.png"/><Relationship Id="rId12" Type="http://schemas.openxmlformats.org/officeDocument/2006/relationships/image" Target="../media/image256.png"/><Relationship Id="rId13" Type="http://schemas.openxmlformats.org/officeDocument/2006/relationships/image" Target="../media/image257.png"/><Relationship Id="rId14" Type="http://schemas.openxmlformats.org/officeDocument/2006/relationships/image" Target="../media/image258.png"/><Relationship Id="rId15" Type="http://schemas.openxmlformats.org/officeDocument/2006/relationships/image" Target="../media/image259.png"/><Relationship Id="rId16" Type="http://schemas.openxmlformats.org/officeDocument/2006/relationships/image" Target="../media/image260.png"/><Relationship Id="rId17" Type="http://schemas.openxmlformats.org/officeDocument/2006/relationships/image" Target="../media/image212.png"/><Relationship Id="rId18" Type="http://schemas.openxmlformats.org/officeDocument/2006/relationships/image" Target="../media/image261.png"/><Relationship Id="rId19" Type="http://schemas.openxmlformats.org/officeDocument/2006/relationships/image" Target="../media/image262.png"/><Relationship Id="rId20" Type="http://schemas.openxmlformats.org/officeDocument/2006/relationships/image" Target="../media/image263.png"/><Relationship Id="rId21" Type="http://schemas.openxmlformats.org/officeDocument/2006/relationships/image" Target="../media/image264.png"/><Relationship Id="rId22" Type="http://schemas.openxmlformats.org/officeDocument/2006/relationships/image" Target="../media/image265.png"/><Relationship Id="rId23" Type="http://schemas.openxmlformats.org/officeDocument/2006/relationships/image" Target="../media/image266.png"/><Relationship Id="rId24" Type="http://schemas.openxmlformats.org/officeDocument/2006/relationships/image" Target="../media/image267.png"/><Relationship Id="rId25" Type="http://schemas.openxmlformats.org/officeDocument/2006/relationships/image" Target="../media/image268.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69.png"/><Relationship Id="rId5" Type="http://schemas.openxmlformats.org/officeDocument/2006/relationships/image" Target="../media/image270.png"/><Relationship Id="rId6" Type="http://schemas.openxmlformats.org/officeDocument/2006/relationships/image" Target="../media/image271.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72.png"/><Relationship Id="rId5" Type="http://schemas.openxmlformats.org/officeDocument/2006/relationships/image" Target="../media/image249.png"/><Relationship Id="rId6" Type="http://schemas.openxmlformats.org/officeDocument/2006/relationships/image" Target="../media/image273.png"/><Relationship Id="rId7" Type="http://schemas.openxmlformats.org/officeDocument/2006/relationships/image" Target="../media/image274.png"/><Relationship Id="rId8" Type="http://schemas.openxmlformats.org/officeDocument/2006/relationships/image" Target="../media/image275.png"/><Relationship Id="rId9" Type="http://schemas.openxmlformats.org/officeDocument/2006/relationships/image" Target="../media/image276.png"/><Relationship Id="rId10" Type="http://schemas.openxmlformats.org/officeDocument/2006/relationships/image" Target="../media/image277.png"/><Relationship Id="rId11" Type="http://schemas.openxmlformats.org/officeDocument/2006/relationships/image" Target="../media/image278.png"/><Relationship Id="rId12" Type="http://schemas.openxmlformats.org/officeDocument/2006/relationships/image" Target="../media/image279.png"/><Relationship Id="rId13" Type="http://schemas.openxmlformats.org/officeDocument/2006/relationships/image" Target="../media/image280.png"/><Relationship Id="rId14" Type="http://schemas.openxmlformats.org/officeDocument/2006/relationships/image" Target="../media/image281.png"/><Relationship Id="rId15" Type="http://schemas.openxmlformats.org/officeDocument/2006/relationships/image" Target="../media/image282.png"/><Relationship Id="rId16" Type="http://schemas.openxmlformats.org/officeDocument/2006/relationships/image" Target="../media/image283.png"/><Relationship Id="rId17" Type="http://schemas.openxmlformats.org/officeDocument/2006/relationships/image" Target="../media/image284.png"/><Relationship Id="rId18" Type="http://schemas.openxmlformats.org/officeDocument/2006/relationships/image" Target="../media/image285.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86.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87.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88.png"/><Relationship Id="rId5" Type="http://schemas.openxmlformats.org/officeDocument/2006/relationships/image" Target="../media/image289.png"/><Relationship Id="rId6" Type="http://schemas.openxmlformats.org/officeDocument/2006/relationships/image" Target="../media/image290.png"/><Relationship Id="rId7" Type="http://schemas.openxmlformats.org/officeDocument/2006/relationships/image" Target="../media/image291.png"/><Relationship Id="rId8" Type="http://schemas.openxmlformats.org/officeDocument/2006/relationships/image" Target="../media/image292.png"/><Relationship Id="rId9" Type="http://schemas.openxmlformats.org/officeDocument/2006/relationships/image" Target="../media/image293.png"/><Relationship Id="rId10" Type="http://schemas.openxmlformats.org/officeDocument/2006/relationships/image" Target="../media/image294.png"/><Relationship Id="rId11" Type="http://schemas.openxmlformats.org/officeDocument/2006/relationships/image" Target="../media/image295.png"/><Relationship Id="rId12" Type="http://schemas.openxmlformats.org/officeDocument/2006/relationships/image" Target="../media/image296.png"/><Relationship Id="rId13" Type="http://schemas.openxmlformats.org/officeDocument/2006/relationships/image" Target="../media/image297.png"/><Relationship Id="rId14" Type="http://schemas.openxmlformats.org/officeDocument/2006/relationships/image" Target="../media/image298.png"/><Relationship Id="rId15" Type="http://schemas.openxmlformats.org/officeDocument/2006/relationships/image" Target="../media/image299.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300.png"/><Relationship Id="rId5" Type="http://schemas.openxmlformats.org/officeDocument/2006/relationships/image" Target="../media/image301.png"/><Relationship Id="rId6" Type="http://schemas.openxmlformats.org/officeDocument/2006/relationships/image" Target="../media/image302.png"/><Relationship Id="rId7" Type="http://schemas.openxmlformats.org/officeDocument/2006/relationships/image" Target="../media/image303.png"/><Relationship Id="rId8" Type="http://schemas.openxmlformats.org/officeDocument/2006/relationships/image" Target="../media/image304.png"/><Relationship Id="rId9" Type="http://schemas.openxmlformats.org/officeDocument/2006/relationships/image" Target="../media/image305.png"/><Relationship Id="rId10" Type="http://schemas.openxmlformats.org/officeDocument/2006/relationships/image" Target="../media/image306.png"/><Relationship Id="rId11" Type="http://schemas.openxmlformats.org/officeDocument/2006/relationships/image" Target="../media/image307.png"/><Relationship Id="rId12" Type="http://schemas.openxmlformats.org/officeDocument/2006/relationships/image" Target="../media/image308.png"/><Relationship Id="rId13" Type="http://schemas.openxmlformats.org/officeDocument/2006/relationships/image" Target="../media/image309.png"/><Relationship Id="rId14" Type="http://schemas.openxmlformats.org/officeDocument/2006/relationships/image" Target="../media/image310.png"/><Relationship Id="rId15" Type="http://schemas.openxmlformats.org/officeDocument/2006/relationships/image" Target="../media/image311.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12.png"/><Relationship Id="rId5" Type="http://schemas.openxmlformats.org/officeDocument/2006/relationships/image" Target="../media/image313.png"/><Relationship Id="rId6" Type="http://schemas.openxmlformats.org/officeDocument/2006/relationships/image" Target="../media/image249.png"/><Relationship Id="rId7" Type="http://schemas.openxmlformats.org/officeDocument/2006/relationships/image" Target="../media/image314.png"/><Relationship Id="rId8" Type="http://schemas.openxmlformats.org/officeDocument/2006/relationships/image" Target="../media/image212.png"/><Relationship Id="rId9" Type="http://schemas.openxmlformats.org/officeDocument/2006/relationships/image" Target="../media/image315.png"/><Relationship Id="rId10" Type="http://schemas.openxmlformats.org/officeDocument/2006/relationships/image" Target="../media/image316.png"/><Relationship Id="rId11" Type="http://schemas.openxmlformats.org/officeDocument/2006/relationships/image" Target="../media/image317.png"/><Relationship Id="rId12" Type="http://schemas.openxmlformats.org/officeDocument/2006/relationships/image" Target="../media/image318.png"/><Relationship Id="rId13" Type="http://schemas.openxmlformats.org/officeDocument/2006/relationships/image" Target="../media/image319.png"/><Relationship Id="rId14" Type="http://schemas.openxmlformats.org/officeDocument/2006/relationships/image" Target="../media/image229.png"/><Relationship Id="rId15" Type="http://schemas.openxmlformats.org/officeDocument/2006/relationships/image" Target="../media/image320.png"/><Relationship Id="rId16" Type="http://schemas.openxmlformats.org/officeDocument/2006/relationships/image" Target="../media/image321.png"/><Relationship Id="rId17" Type="http://schemas.openxmlformats.org/officeDocument/2006/relationships/image" Target="../media/image322.png"/><Relationship Id="rId18" Type="http://schemas.openxmlformats.org/officeDocument/2006/relationships/image" Target="../media/image323.png"/><Relationship Id="rId19" Type="http://schemas.openxmlformats.org/officeDocument/2006/relationships/image" Target="../media/image324.png"/><Relationship Id="rId20" Type="http://schemas.openxmlformats.org/officeDocument/2006/relationships/image" Target="../media/image325.png"/><Relationship Id="rId21" Type="http://schemas.openxmlformats.org/officeDocument/2006/relationships/image" Target="../media/image326.png"/><Relationship Id="rId22" Type="http://schemas.openxmlformats.org/officeDocument/2006/relationships/image" Target="../media/image327.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328.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329.png"/><Relationship Id="rId5" Type="http://schemas.openxmlformats.org/officeDocument/2006/relationships/image" Target="../media/image330.png"/><Relationship Id="rId6" Type="http://schemas.openxmlformats.org/officeDocument/2006/relationships/image" Target="../media/image331.png"/><Relationship Id="rId7" Type="http://schemas.openxmlformats.org/officeDocument/2006/relationships/image" Target="../media/image332.png"/><Relationship Id="rId8" Type="http://schemas.openxmlformats.org/officeDocument/2006/relationships/image" Target="../media/image333.png"/><Relationship Id="rId9" Type="http://schemas.openxmlformats.org/officeDocument/2006/relationships/image" Target="../media/image334.png"/><Relationship Id="rId10" Type="http://schemas.openxmlformats.org/officeDocument/2006/relationships/image" Target="../media/image335.png"/><Relationship Id="rId11" Type="http://schemas.openxmlformats.org/officeDocument/2006/relationships/image" Target="../media/image336.png"/><Relationship Id="rId12" Type="http://schemas.openxmlformats.org/officeDocument/2006/relationships/image" Target="../media/image337.png"/><Relationship Id="rId13" Type="http://schemas.openxmlformats.org/officeDocument/2006/relationships/image" Target="../media/image338.png"/><Relationship Id="rId14" Type="http://schemas.openxmlformats.org/officeDocument/2006/relationships/image" Target="../media/image339.png"/><Relationship Id="rId15" Type="http://schemas.openxmlformats.org/officeDocument/2006/relationships/image" Target="../media/image340.png"/><Relationship Id="rId16" Type="http://schemas.openxmlformats.org/officeDocument/2006/relationships/image" Target="../media/image341.png"/><Relationship Id="rId17" Type="http://schemas.openxmlformats.org/officeDocument/2006/relationships/image" Target="../media/image342.png"/><Relationship Id="rId18" Type="http://schemas.openxmlformats.org/officeDocument/2006/relationships/image" Target="../media/image343.png"/><Relationship Id="rId19" Type="http://schemas.openxmlformats.org/officeDocument/2006/relationships/image" Target="../media/image344.png"/><Relationship Id="rId20" Type="http://schemas.openxmlformats.org/officeDocument/2006/relationships/hyperlink" Target="http://european-alternatives.eu" TargetMode="External"/><Relationship Id="rId21" Type="http://schemas.openxmlformats.org/officeDocument/2006/relationships/image" Target="../media/image345.png"/><Relationship Id="rId22" Type="http://schemas.openxmlformats.org/officeDocument/2006/relationships/image" Target="../media/image346.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347.png"/><Relationship Id="rId5" Type="http://schemas.openxmlformats.org/officeDocument/2006/relationships/image" Target="../media/image348.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349.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 Id="rId3" Type="http://schemas.openxmlformats.org/officeDocument/2006/relationships/hyperlink" Target="http://rolle.social" TargetMode="External"/><Relationship Id="rId4" Type="http://schemas.openxmlformats.org/officeDocument/2006/relationships/hyperlink" Target="http://dude.fi" TargetMode="External"/><Relationship Id="rId5" Type="http://schemas.openxmlformats.org/officeDocument/2006/relationships/hyperlink" Target="http://github.com/rollecode" TargetMode="External"/><Relationship Id="rId6" Type="http://schemas.openxmlformats.org/officeDocument/2006/relationships/hyperlink" Target="http://github.com/rollecode/mindtrek2026-talk-slides" TargetMode="External"/><Relationship Id="rId7" Type="http://schemas.openxmlformats.org/officeDocument/2006/relationships/image" Target="../media/image350.png"/><Relationship Id="rId8" Type="http://schemas.openxmlformats.org/officeDocument/2006/relationships/image" Target="../media/image35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1" name="bg.png" descr="bg.png"/>
          <p:cNvPicPr>
            <a:picLocks noChangeAspect="1"/>
          </p:cNvPicPr>
          <p:nvPr/>
        </p:nvPicPr>
        <p:blipFill>
          <a:blip r:embed="rId2">
            <a:extLst/>
          </a:blip>
          <a:stretch>
            <a:fillRect/>
          </a:stretch>
        </p:blipFill>
        <p:spPr>
          <a:xfrm>
            <a:off x="0" y="0"/>
            <a:ext cx="24384000" cy="13716000"/>
          </a:xfrm>
          <a:prstGeom prst="rect">
            <a:avLst/>
          </a:prstGeom>
          <a:ln w="12700">
            <a:miter lim="400000"/>
          </a:ln>
        </p:spPr>
      </p:pic>
      <p:pic>
        <p:nvPicPr>
          <p:cNvPr id="172" name="portrait-crop.jpg" descr="portrait-crop.jpg"/>
          <p:cNvPicPr>
            <a:picLocks noChangeAspect="1"/>
          </p:cNvPicPr>
          <p:nvPr/>
        </p:nvPicPr>
        <p:blipFill>
          <a:blip r:embed="rId3">
            <a:extLst/>
          </a:blip>
          <a:stretch>
            <a:fillRect/>
          </a:stretch>
        </p:blipFill>
        <p:spPr>
          <a:xfrm>
            <a:off x="18554700" y="0"/>
            <a:ext cx="5829300" cy="13716000"/>
          </a:xfrm>
          <a:prstGeom prst="rect">
            <a:avLst/>
          </a:prstGeom>
          <a:ln w="12700">
            <a:miter lim="400000"/>
          </a:ln>
        </p:spPr>
      </p:pic>
      <p:pic>
        <p:nvPicPr>
          <p:cNvPr id="173" name="mindtrek.png" descr="mindtrek.png"/>
          <p:cNvPicPr>
            <a:picLocks noChangeAspect="1"/>
          </p:cNvPicPr>
          <p:nvPr/>
        </p:nvPicPr>
        <p:blipFill>
          <a:blip r:embed="rId4">
            <a:extLst/>
          </a:blip>
          <a:stretch>
            <a:fillRect/>
          </a:stretch>
        </p:blipFill>
        <p:spPr>
          <a:xfrm>
            <a:off x="1371600" y="965200"/>
            <a:ext cx="3048000" cy="393700"/>
          </a:xfrm>
          <a:prstGeom prst="rect">
            <a:avLst/>
          </a:prstGeom>
          <a:ln w="12700">
            <a:miter lim="400000"/>
          </a:ln>
        </p:spPr>
      </p:pic>
      <p:pic>
        <p:nvPicPr>
          <p:cNvPr id="174" name="icons.png" descr="icons.png"/>
          <p:cNvPicPr>
            <a:picLocks noChangeAspect="1"/>
          </p:cNvPicPr>
          <p:nvPr/>
        </p:nvPicPr>
        <p:blipFill>
          <a:blip r:embed="rId5">
            <a:extLst/>
          </a:blip>
          <a:stretch>
            <a:fillRect/>
          </a:stretch>
        </p:blipFill>
        <p:spPr>
          <a:xfrm>
            <a:off x="1371600" y="12407900"/>
            <a:ext cx="3922713" cy="355600"/>
          </a:xfrm>
          <a:prstGeom prst="rect">
            <a:avLst/>
          </a:prstGeom>
          <a:ln w="12700">
            <a:miter lim="400000"/>
          </a:ln>
        </p:spPr>
      </p:pic>
      <p:sp>
        <p:nvSpPr>
          <p:cNvPr id="175" name="Mindtrek 2026, Tampere, 6th of October, 2026"/>
          <p:cNvSpPr txBox="1"/>
          <p:nvPr/>
        </p:nvSpPr>
        <p:spPr>
          <a:xfrm>
            <a:off x="1320800" y="1473200"/>
            <a:ext cx="70993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665A7C"/>
                </a:solidFill>
                <a:latin typeface="Geist Regular Medium"/>
                <a:ea typeface="Geist Regular Medium"/>
                <a:cs typeface="Geist Regular Medium"/>
                <a:sym typeface="Geist Regular Medium"/>
              </a:defRPr>
            </a:lvl1pPr>
          </a:lstStyle>
          <a:p>
            <a:pPr/>
            <a:r>
              <a:t>Mindtrek 2026, Tampere, 6th of October, 2026</a:t>
            </a:r>
          </a:p>
        </p:txBody>
      </p:sp>
      <p:sp>
        <p:nvSpPr>
          <p:cNvPr id="176" name="Sovereign"/>
          <p:cNvSpPr txBox="1"/>
          <p:nvPr/>
        </p:nvSpPr>
        <p:spPr>
          <a:xfrm>
            <a:off x="1295400" y="3505200"/>
            <a:ext cx="18072100" cy="2273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3800">
                <a:solidFill>
                  <a:srgbClr val="220D44"/>
                </a:solidFill>
                <a:latin typeface="Unbounded Regular ExtraBold"/>
                <a:ea typeface="Unbounded Regular ExtraBold"/>
                <a:cs typeface="Unbounded Regular ExtraBold"/>
                <a:sym typeface="Unbounded Regular ExtraBold"/>
              </a:defRPr>
            </a:lvl1pPr>
          </a:lstStyle>
          <a:p>
            <a:pPr/>
            <a:r>
              <a:t>Sovereign</a:t>
            </a:r>
          </a:p>
        </p:txBody>
      </p:sp>
      <p:sp>
        <p:nvSpPr>
          <p:cNvPr id="177" name="by habit"/>
          <p:cNvSpPr txBox="1"/>
          <p:nvPr/>
        </p:nvSpPr>
        <p:spPr>
          <a:xfrm>
            <a:off x="1409700" y="4940300"/>
            <a:ext cx="18072100" cy="2971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i="1" sz="17400">
                <a:solidFill>
                  <a:srgbClr val="6033A6"/>
                </a:solidFill>
                <a:latin typeface="Instrument Serif Regular"/>
                <a:ea typeface="Instrument Serif Regular"/>
                <a:cs typeface="Instrument Serif Regular"/>
                <a:sym typeface="Instrument Serif Regular"/>
              </a:defRPr>
            </a:lvl1pPr>
          </a:lstStyle>
          <a:p>
            <a:pPr/>
            <a:r>
              <a:t>by habit</a:t>
            </a:r>
          </a:p>
        </p:txBody>
      </p:sp>
      <p:sp>
        <p:nvSpPr>
          <p:cNvPr id="178" name="20 years of self-hosting from source"/>
          <p:cNvSpPr txBox="1"/>
          <p:nvPr/>
        </p:nvSpPr>
        <p:spPr>
          <a:xfrm>
            <a:off x="1320800" y="7772400"/>
            <a:ext cx="18072100" cy="723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4B3051"/>
                </a:solidFill>
                <a:latin typeface="Geist Regular Regular"/>
                <a:ea typeface="Geist Regular Regular"/>
                <a:cs typeface="Geist Regular Regular"/>
                <a:sym typeface="Geist Regular Regular"/>
              </a:defRPr>
            </a:lvl1pPr>
          </a:lstStyle>
          <a:p>
            <a:pPr/>
            <a:r>
              <a:t>20 years of self-hosting from source</a:t>
            </a:r>
          </a:p>
        </p:txBody>
      </p:sp>
      <p:sp>
        <p:nvSpPr>
          <p:cNvPr id="179" name="on European servers"/>
          <p:cNvSpPr txBox="1"/>
          <p:nvPr/>
        </p:nvSpPr>
        <p:spPr>
          <a:xfrm>
            <a:off x="1320800" y="8420100"/>
            <a:ext cx="18072100" cy="723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4B3051"/>
                </a:solidFill>
                <a:latin typeface="Geist Regular Regular"/>
                <a:ea typeface="Geist Regular Regular"/>
                <a:cs typeface="Geist Regular Regular"/>
                <a:sym typeface="Geist Regular Regular"/>
              </a:defRPr>
            </a:lvl1pPr>
          </a:lstStyle>
          <a:p>
            <a:pPr/>
            <a:r>
              <a:t>on European servers</a:t>
            </a:r>
          </a:p>
        </p:txBody>
      </p:sp>
      <p:sp>
        <p:nvSpPr>
          <p:cNvPr id="180" name="Rolle Laukkarinen"/>
          <p:cNvSpPr txBox="1"/>
          <p:nvPr/>
        </p:nvSpPr>
        <p:spPr>
          <a:xfrm>
            <a:off x="1320800" y="11010899"/>
            <a:ext cx="18072100" cy="698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600">
                <a:solidFill>
                  <a:srgbClr val="220D44"/>
                </a:solidFill>
                <a:latin typeface="Geist Regular SemiBold"/>
                <a:ea typeface="Geist Regular SemiBold"/>
                <a:cs typeface="Geist Regular SemiBold"/>
                <a:sym typeface="Geist Regular SemiBold"/>
              </a:defRPr>
            </a:lvl1pPr>
          </a:lstStyle>
          <a:p>
            <a:pPr/>
            <a:r>
              <a:t>Rolle Laukkarinen</a:t>
            </a:r>
          </a:p>
        </p:txBody>
      </p:sp>
      <p:sp>
        <p:nvSpPr>
          <p:cNvPr id="181" name="Founder and CTO, Digitoimisto Dude Oy"/>
          <p:cNvSpPr txBox="1"/>
          <p:nvPr/>
        </p:nvSpPr>
        <p:spPr>
          <a:xfrm>
            <a:off x="1320800" y="11645899"/>
            <a:ext cx="18072100" cy="584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900">
                <a:solidFill>
                  <a:srgbClr val="5D4E61"/>
                </a:solidFill>
                <a:latin typeface="Geist Regular Regular"/>
                <a:ea typeface="Geist Regular Regular"/>
                <a:cs typeface="Geist Regular Regular"/>
                <a:sym typeface="Geist Regular Regular"/>
              </a:defRPr>
            </a:lvl1pPr>
          </a:lstStyle>
          <a:p>
            <a:pPr/>
            <a:r>
              <a:t>Founder and CTO, Digitoimisto Dude Oy</a:t>
            </a:r>
          </a:p>
        </p:txBody>
      </p:sp>
      <p:sp>
        <p:nvSpPr>
          <p:cNvPr id="182" name="→ rolle.social"/>
          <p:cNvSpPr txBox="1"/>
          <p:nvPr/>
        </p:nvSpPr>
        <p:spPr>
          <a:xfrm>
            <a:off x="5524500" y="12306300"/>
            <a:ext cx="23622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5D4E61"/>
                </a:solidFill>
                <a:latin typeface="Geist Regular Medium"/>
                <a:ea typeface="Geist Regular Medium"/>
                <a:cs typeface="Geist Regular Medium"/>
                <a:sym typeface="Geist Regular Medium"/>
              </a:defRPr>
            </a:lvl1pPr>
          </a:lstStyle>
          <a:p>
            <a:pPr/>
            <a:r>
              <a:t>→ rolle.social</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4" name="bg.png" descr="bg.png"/>
          <p:cNvPicPr>
            <a:picLocks noChangeAspect="1"/>
          </p:cNvPicPr>
          <p:nvPr/>
        </p:nvPicPr>
        <p:blipFill>
          <a:blip r:embed="rId2">
            <a:extLst/>
          </a:blip>
          <a:stretch>
            <a:fillRect/>
          </a:stretch>
        </p:blipFill>
        <p:spPr>
          <a:xfrm>
            <a:off x="0" y="0"/>
            <a:ext cx="24384000" cy="13716000"/>
          </a:xfrm>
          <a:prstGeom prst="rect">
            <a:avLst/>
          </a:prstGeom>
          <a:ln w="12700">
            <a:miter lim="400000"/>
          </a:ln>
        </p:spPr>
      </p:pic>
      <p:sp>
        <p:nvSpPr>
          <p:cNvPr id="185" name="About Rolle"/>
          <p:cNvSpPr txBox="1"/>
          <p:nvPr/>
        </p:nvSpPr>
        <p:spPr>
          <a:xfrm>
            <a:off x="1308100" y="2743200"/>
            <a:ext cx="11176000" cy="1447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6400">
                <a:solidFill>
                  <a:srgbClr val="220D44"/>
                </a:solidFill>
                <a:latin typeface="Unbounded Regular ExtraBold"/>
                <a:ea typeface="Unbounded Regular ExtraBold"/>
                <a:cs typeface="Unbounded Regular ExtraBold"/>
                <a:sym typeface="Unbounded Regular ExtraBold"/>
              </a:defRPr>
            </a:pPr>
            <a:r>
              <a:t>About </a:t>
            </a:r>
            <a:r>
              <a:rPr i="1" sz="8200">
                <a:solidFill>
                  <a:srgbClr val="6033A6"/>
                </a:solidFill>
                <a:latin typeface="Instrument Serif Regular"/>
                <a:ea typeface="Instrument Serif Regular"/>
                <a:cs typeface="Instrument Serif Regular"/>
                <a:sym typeface="Instrument Serif Regular"/>
              </a:rPr>
              <a:t>Rolle</a:t>
            </a:r>
          </a:p>
        </p:txBody>
      </p:sp>
      <p:sp>
        <p:nvSpPr>
          <p:cNvPr id="186" name="Founder and CTO of Digitoimisto Dude Oy. Code soon 30 years, WordPress since 2005, online since 1999. Accessibility, open source, Linux servers, and building my own tools. Free time: running, bilingual family, knows sign language."/>
          <p:cNvSpPr txBox="1"/>
          <p:nvPr/>
        </p:nvSpPr>
        <p:spPr>
          <a:xfrm>
            <a:off x="1320800" y="4165599"/>
            <a:ext cx="11176000" cy="267208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solidFill>
                  <a:srgbClr val="3D2644"/>
                </a:solidFill>
                <a:latin typeface="Geist Regular Regular"/>
                <a:ea typeface="Geist Regular Regular"/>
                <a:cs typeface="Geist Regular Regular"/>
                <a:sym typeface="Geist Regular Regular"/>
              </a:defRPr>
            </a:lvl1pPr>
          </a:lstStyle>
          <a:p>
            <a:pPr/>
            <a:r>
              <a:t>Founder and CTO of Digitoimisto Dude Oy. Code soon 30 years, WordPress since 2005, online since 1999. Accessibility, open source, Linux servers, and building my own tools. Free time: running, bilingual family, knows sign language.</a:t>
            </a:r>
          </a:p>
        </p:txBody>
      </p:sp>
      <p:sp>
        <p:nvSpPr>
          <p:cNvPr id="187" name="Contributing to WordPress and open source since we founded Dude in 2013: 71 open source repositories on GitHub, including air-light, our starter theme with over 1100 stars. Self-hosting as much as we can."/>
          <p:cNvSpPr txBox="1"/>
          <p:nvPr/>
        </p:nvSpPr>
        <p:spPr>
          <a:xfrm>
            <a:off x="1320800" y="8623300"/>
            <a:ext cx="11176000" cy="216916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solidFill>
                  <a:srgbClr val="3D2644"/>
                </a:solidFill>
                <a:latin typeface="Geist Regular Regular"/>
                <a:ea typeface="Geist Regular Regular"/>
                <a:cs typeface="Geist Regular Regular"/>
                <a:sym typeface="Geist Regular Regular"/>
              </a:defRPr>
            </a:lvl1pPr>
          </a:lstStyle>
          <a:p>
            <a:pPr/>
            <a:r>
              <a:t>Contributing to WordPress and open source since we founded Dude in 2013: 71 open source repositories on GitHub, including air-light, our starter theme with over 1100 stars. Self-hosting as much as we can.</a:t>
            </a:r>
          </a:p>
        </p:txBody>
      </p:sp>
      <p:sp>
        <p:nvSpPr>
          <p:cNvPr id="188"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189" name="rolle-90s-tall.jpg" descr="rolle-90s-tall.jpg"/>
          <p:cNvPicPr>
            <a:picLocks noChangeAspect="1"/>
          </p:cNvPicPr>
          <p:nvPr/>
        </p:nvPicPr>
        <p:blipFill>
          <a:blip r:embed="rId3">
            <a:extLst/>
          </a:blip>
          <a:stretch>
            <a:fillRect/>
          </a:stretch>
        </p:blipFill>
        <p:spPr>
          <a:xfrm>
            <a:off x="13716000" y="0"/>
            <a:ext cx="5334000" cy="5715000"/>
          </a:xfrm>
          <a:prstGeom prst="rect">
            <a:avLst/>
          </a:prstGeom>
          <a:ln w="12700">
            <a:miter lim="400000"/>
          </a:ln>
        </p:spPr>
      </p:pic>
      <p:pic>
        <p:nvPicPr>
          <p:cNvPr id="190" name="rolle-pc-tall.jpg" descr="rolle-pc-tall.jpg"/>
          <p:cNvPicPr>
            <a:picLocks noChangeAspect="1"/>
          </p:cNvPicPr>
          <p:nvPr/>
        </p:nvPicPr>
        <p:blipFill>
          <a:blip r:embed="rId4">
            <a:extLst/>
          </a:blip>
          <a:stretch>
            <a:fillRect/>
          </a:stretch>
        </p:blipFill>
        <p:spPr>
          <a:xfrm>
            <a:off x="19050000" y="0"/>
            <a:ext cx="5334000" cy="5715000"/>
          </a:xfrm>
          <a:prstGeom prst="rect">
            <a:avLst/>
          </a:prstGeom>
          <a:ln w="12700">
            <a:miter lim="400000"/>
          </a:ln>
        </p:spPr>
      </p:pic>
      <p:pic>
        <p:nvPicPr>
          <p:cNvPr id="191" name="dudella.jpg" descr="dudella.jpg"/>
          <p:cNvPicPr>
            <a:picLocks noChangeAspect="1"/>
          </p:cNvPicPr>
          <p:nvPr/>
        </p:nvPicPr>
        <p:blipFill>
          <a:blip r:embed="rId5">
            <a:extLst/>
          </a:blip>
          <a:stretch>
            <a:fillRect/>
          </a:stretch>
        </p:blipFill>
        <p:spPr>
          <a:xfrm>
            <a:off x="13716000" y="5715000"/>
            <a:ext cx="10668000" cy="8001000"/>
          </a:xfrm>
          <a:prstGeom prst="rect">
            <a:avLst/>
          </a:prstGeom>
          <a:ln w="12700">
            <a:miter lim="400000"/>
          </a:ln>
        </p:spPr>
      </p:pic>
      <p:pic>
        <p:nvPicPr>
          <p:cNvPr id="192" name="dude-logo-ink.png" descr="dude-logo-ink.png"/>
          <p:cNvPicPr>
            <a:picLocks noChangeAspect="1"/>
          </p:cNvPicPr>
          <p:nvPr/>
        </p:nvPicPr>
        <p:blipFill>
          <a:blip r:embed="rId6">
            <a:extLst/>
          </a:blip>
          <a:stretch>
            <a:fillRect/>
          </a:stretch>
        </p:blipFill>
        <p:spPr>
          <a:xfrm>
            <a:off x="1371600" y="7848600"/>
            <a:ext cx="2648612" cy="516629"/>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4"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195" name="What I mean by server and source"/>
          <p:cNvSpPr txBox="1"/>
          <p:nvPr/>
        </p:nvSpPr>
        <p:spPr>
          <a:xfrm>
            <a:off x="1308100" y="2692399"/>
            <a:ext cx="22707600" cy="1714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7600">
                <a:solidFill>
                  <a:srgbClr val="220D44"/>
                </a:solidFill>
                <a:latin typeface="Unbounded Regular ExtraBold"/>
                <a:ea typeface="Unbounded Regular ExtraBold"/>
                <a:cs typeface="Unbounded Regular ExtraBold"/>
                <a:sym typeface="Unbounded Regular ExtraBold"/>
              </a:defRPr>
            </a:pPr>
            <a:r>
              <a:t>What I mean by </a:t>
            </a:r>
            <a:r>
              <a:rPr i="1" sz="9800">
                <a:solidFill>
                  <a:srgbClr val="6033A6"/>
                </a:solidFill>
                <a:latin typeface="Instrument Serif Regular"/>
                <a:ea typeface="Instrument Serif Regular"/>
                <a:cs typeface="Instrument Serif Regular"/>
                <a:sym typeface="Instrument Serif Regular"/>
              </a:rPr>
              <a:t>server and source</a:t>
            </a:r>
          </a:p>
        </p:txBody>
      </p:sp>
      <p:sp>
        <p:nvSpPr>
          <p:cNvPr id="196" name="Server"/>
          <p:cNvSpPr txBox="1"/>
          <p:nvPr/>
        </p:nvSpPr>
        <p:spPr>
          <a:xfrm>
            <a:off x="1295400" y="7365999"/>
            <a:ext cx="10744200" cy="762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200">
                <a:solidFill>
                  <a:srgbClr val="6033A6"/>
                </a:solidFill>
                <a:latin typeface="Unbounded Regular SemiBold"/>
                <a:ea typeface="Unbounded Regular SemiBold"/>
                <a:cs typeface="Unbounded Regular SemiBold"/>
                <a:sym typeface="Unbounded Regular SemiBold"/>
              </a:defRPr>
            </a:lvl1pPr>
          </a:lstStyle>
          <a:p>
            <a:pPr/>
            <a:r>
              <a:t>Server</a:t>
            </a:r>
          </a:p>
        </p:txBody>
      </p:sp>
      <p:sp>
        <p:nvSpPr>
          <p:cNvPr id="197" name="A computer the outside world can reach online."/>
          <p:cNvSpPr txBox="1"/>
          <p:nvPr/>
        </p:nvSpPr>
        <p:spPr>
          <a:xfrm>
            <a:off x="1320800" y="8191499"/>
            <a:ext cx="6501081" cy="11633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solidFill>
                  <a:srgbClr val="3D2644"/>
                </a:solidFill>
                <a:latin typeface="Geist Regular Regular"/>
                <a:ea typeface="Geist Regular Regular"/>
                <a:cs typeface="Geist Regular Regular"/>
                <a:sym typeface="Geist Regular Regular"/>
              </a:defRPr>
            </a:lvl1pPr>
          </a:lstStyle>
          <a:p>
            <a:pPr/>
            <a:r>
              <a:t>A computer the outside world can reach online.</a:t>
            </a:r>
          </a:p>
        </p:txBody>
      </p:sp>
      <p:sp>
        <p:nvSpPr>
          <p:cNvPr id="198" name="Source"/>
          <p:cNvSpPr txBox="1"/>
          <p:nvPr/>
        </p:nvSpPr>
        <p:spPr>
          <a:xfrm>
            <a:off x="12801600" y="7365999"/>
            <a:ext cx="10744200" cy="762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200">
                <a:solidFill>
                  <a:srgbClr val="6033A6"/>
                </a:solidFill>
                <a:latin typeface="Unbounded Regular SemiBold"/>
                <a:ea typeface="Unbounded Regular SemiBold"/>
                <a:cs typeface="Unbounded Regular SemiBold"/>
                <a:sym typeface="Unbounded Regular SemiBold"/>
              </a:defRPr>
            </a:lvl1pPr>
          </a:lstStyle>
          <a:p>
            <a:pPr/>
            <a:r>
              <a:t>Source</a:t>
            </a:r>
          </a:p>
        </p:txBody>
      </p:sp>
      <p:sp>
        <p:nvSpPr>
          <p:cNvPr id="199" name="A file I can read and study myself, without barriers."/>
          <p:cNvSpPr txBox="1"/>
          <p:nvPr/>
        </p:nvSpPr>
        <p:spPr>
          <a:xfrm>
            <a:off x="12827000" y="8191499"/>
            <a:ext cx="6953816" cy="11633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solidFill>
                  <a:srgbClr val="3D2644"/>
                </a:solidFill>
                <a:latin typeface="Geist Regular Regular"/>
                <a:ea typeface="Geist Regular Regular"/>
                <a:cs typeface="Geist Regular Regular"/>
                <a:sym typeface="Geist Regular Regular"/>
              </a:defRPr>
            </a:lvl1pPr>
          </a:lstStyle>
          <a:p>
            <a:pPr/>
            <a:r>
              <a:t>A file I can read and study myself, without barriers.</a:t>
            </a:r>
          </a:p>
        </p:txBody>
      </p:sp>
      <p:sp>
        <p:nvSpPr>
          <p:cNvPr id="200"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201" name="server.png" descr="server.png"/>
          <p:cNvPicPr>
            <a:picLocks noChangeAspect="1"/>
          </p:cNvPicPr>
          <p:nvPr/>
        </p:nvPicPr>
        <p:blipFill>
          <a:blip r:embed="rId4">
            <a:extLst/>
          </a:blip>
          <a:stretch>
            <a:fillRect/>
          </a:stretch>
        </p:blipFill>
        <p:spPr>
          <a:xfrm>
            <a:off x="1371600" y="5842000"/>
            <a:ext cx="4299887" cy="965200"/>
          </a:xfrm>
          <a:prstGeom prst="rect">
            <a:avLst/>
          </a:prstGeom>
          <a:ln w="12700">
            <a:miter lim="400000"/>
          </a:ln>
        </p:spPr>
      </p:pic>
      <p:pic>
        <p:nvPicPr>
          <p:cNvPr id="202" name="source.png" descr="source.png"/>
          <p:cNvPicPr>
            <a:picLocks noChangeAspect="1"/>
          </p:cNvPicPr>
          <p:nvPr/>
        </p:nvPicPr>
        <p:blipFill>
          <a:blip r:embed="rId5">
            <a:extLst/>
          </a:blip>
          <a:stretch>
            <a:fillRect/>
          </a:stretch>
        </p:blipFill>
        <p:spPr>
          <a:xfrm>
            <a:off x="12877800" y="5842000"/>
            <a:ext cx="4246880" cy="965200"/>
          </a:xfrm>
          <a:prstGeom prst="rect">
            <a:avLst/>
          </a:prstGeom>
          <a:ln w="12700">
            <a:miter lim="400000"/>
          </a:ln>
        </p:spPr>
      </p:pic>
      <p:pic>
        <p:nvPicPr>
          <p:cNvPr id="203" name="prog-3.png" descr="prog-3.png"/>
          <p:cNvPicPr>
            <a:picLocks noChangeAspect="1"/>
          </p:cNvPicPr>
          <p:nvPr/>
        </p:nvPicPr>
        <p:blipFill>
          <a:blip r:embed="rId6">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7"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208" name="When some of us started,"/>
          <p:cNvSpPr txBox="1"/>
          <p:nvPr/>
        </p:nvSpPr>
        <p:spPr>
          <a:xfrm>
            <a:off x="1295400" y="3975099"/>
            <a:ext cx="22707600" cy="1562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9200">
                <a:solidFill>
                  <a:srgbClr val="220D44"/>
                </a:solidFill>
                <a:latin typeface="Unbounded Regular ExtraBold"/>
                <a:ea typeface="Unbounded Regular ExtraBold"/>
                <a:cs typeface="Unbounded Regular ExtraBold"/>
                <a:sym typeface="Unbounded Regular ExtraBold"/>
              </a:defRPr>
            </a:lvl1pPr>
          </a:lstStyle>
          <a:p>
            <a:pPr/>
            <a:r>
              <a:t>When some of us started,</a:t>
            </a:r>
          </a:p>
        </p:txBody>
      </p:sp>
      <p:sp>
        <p:nvSpPr>
          <p:cNvPr id="209" name="this was the whole stack"/>
          <p:cNvSpPr txBox="1"/>
          <p:nvPr/>
        </p:nvSpPr>
        <p:spPr>
          <a:xfrm>
            <a:off x="1308100" y="5143499"/>
            <a:ext cx="22707600" cy="2057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i="1" sz="11800">
                <a:solidFill>
                  <a:srgbClr val="6033A6"/>
                </a:solidFill>
                <a:latin typeface="Instrument Serif Regular"/>
                <a:ea typeface="Instrument Serif Regular"/>
                <a:cs typeface="Instrument Serif Regular"/>
                <a:sym typeface="Instrument Serif Regular"/>
              </a:defRPr>
            </a:lvl1pPr>
          </a:lstStyle>
          <a:p>
            <a:pPr/>
            <a:r>
              <a:t>this was the whole stack</a:t>
            </a:r>
          </a:p>
        </p:txBody>
      </p:sp>
      <p:sp>
        <p:nvSpPr>
          <p:cNvPr id="210"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211" name="commodore.png" descr="commodore.png"/>
          <p:cNvPicPr>
            <a:picLocks noChangeAspect="1"/>
          </p:cNvPicPr>
          <p:nvPr/>
        </p:nvPicPr>
        <p:blipFill>
          <a:blip r:embed="rId4">
            <a:extLst/>
          </a:blip>
          <a:stretch>
            <a:fillRect/>
          </a:stretch>
        </p:blipFill>
        <p:spPr>
          <a:xfrm>
            <a:off x="1320800" y="7924800"/>
            <a:ext cx="2538173" cy="406400"/>
          </a:xfrm>
          <a:prstGeom prst="rect">
            <a:avLst/>
          </a:prstGeom>
          <a:ln w="12700">
            <a:miter lim="400000"/>
          </a:ln>
        </p:spPr>
      </p:pic>
      <p:pic>
        <p:nvPicPr>
          <p:cNvPr id="212" name="gnu.png" descr="gnu.png"/>
          <p:cNvPicPr>
            <a:picLocks noChangeAspect="1"/>
          </p:cNvPicPr>
          <p:nvPr/>
        </p:nvPicPr>
        <p:blipFill>
          <a:blip r:embed="rId5">
            <a:extLst/>
          </a:blip>
          <a:stretch>
            <a:fillRect/>
          </a:stretch>
        </p:blipFill>
        <p:spPr>
          <a:xfrm>
            <a:off x="4787900" y="7848600"/>
            <a:ext cx="1655911" cy="558800"/>
          </a:xfrm>
          <a:prstGeom prst="rect">
            <a:avLst/>
          </a:prstGeom>
          <a:ln w="12700">
            <a:miter lim="400000"/>
          </a:ln>
        </p:spPr>
      </p:pic>
      <p:pic>
        <p:nvPicPr>
          <p:cNvPr id="213" name="freebsd.png" descr="freebsd.png"/>
          <p:cNvPicPr>
            <a:picLocks noChangeAspect="1"/>
          </p:cNvPicPr>
          <p:nvPr/>
        </p:nvPicPr>
        <p:blipFill>
          <a:blip r:embed="rId6">
            <a:extLst/>
          </a:blip>
          <a:stretch>
            <a:fillRect/>
          </a:stretch>
        </p:blipFill>
        <p:spPr>
          <a:xfrm>
            <a:off x="7391400" y="7874000"/>
            <a:ext cx="2451007" cy="495300"/>
          </a:xfrm>
          <a:prstGeom prst="rect">
            <a:avLst/>
          </a:prstGeom>
          <a:ln w="12700">
            <a:miter lim="400000"/>
          </a:ln>
        </p:spPr>
      </p:pic>
      <p:pic>
        <p:nvPicPr>
          <p:cNvPr id="214" name="perl.png" descr="perl.png"/>
          <p:cNvPicPr>
            <a:picLocks noChangeAspect="1"/>
          </p:cNvPicPr>
          <p:nvPr/>
        </p:nvPicPr>
        <p:blipFill>
          <a:blip r:embed="rId7">
            <a:extLst/>
          </a:blip>
          <a:stretch>
            <a:fillRect/>
          </a:stretch>
        </p:blipFill>
        <p:spPr>
          <a:xfrm>
            <a:off x="10833100" y="7848600"/>
            <a:ext cx="1491997" cy="558800"/>
          </a:xfrm>
          <a:prstGeom prst="rect">
            <a:avLst/>
          </a:prstGeom>
          <a:ln w="12700">
            <a:miter lim="400000"/>
          </a:ln>
        </p:spPr>
      </p:pic>
      <p:pic>
        <p:nvPicPr>
          <p:cNvPr id="215" name="linux.png" descr="linux.png"/>
          <p:cNvPicPr>
            <a:picLocks noChangeAspect="1"/>
          </p:cNvPicPr>
          <p:nvPr/>
        </p:nvPicPr>
        <p:blipFill>
          <a:blip r:embed="rId8">
            <a:extLst/>
          </a:blip>
          <a:stretch>
            <a:fillRect/>
          </a:stretch>
        </p:blipFill>
        <p:spPr>
          <a:xfrm>
            <a:off x="13271500" y="7848600"/>
            <a:ext cx="1745319" cy="558800"/>
          </a:xfrm>
          <a:prstGeom prst="rect">
            <a:avLst/>
          </a:prstGeom>
          <a:ln w="12700">
            <a:miter lim="400000"/>
          </a:ln>
        </p:spPr>
      </p:pic>
      <p:pic>
        <p:nvPicPr>
          <p:cNvPr id="216" name="slackware.png" descr="slackware.png"/>
          <p:cNvPicPr>
            <a:picLocks noChangeAspect="1"/>
          </p:cNvPicPr>
          <p:nvPr/>
        </p:nvPicPr>
        <p:blipFill>
          <a:blip r:embed="rId9">
            <a:extLst/>
          </a:blip>
          <a:stretch>
            <a:fillRect/>
          </a:stretch>
        </p:blipFill>
        <p:spPr>
          <a:xfrm>
            <a:off x="15963900" y="7899400"/>
            <a:ext cx="2238947" cy="444500"/>
          </a:xfrm>
          <a:prstGeom prst="rect">
            <a:avLst/>
          </a:prstGeom>
          <a:ln w="12700">
            <a:miter lim="400000"/>
          </a:ln>
        </p:spPr>
      </p:pic>
      <p:pic>
        <p:nvPicPr>
          <p:cNvPr id="217" name="debian.png" descr="debian.png"/>
          <p:cNvPicPr>
            <a:picLocks noChangeAspect="1"/>
          </p:cNvPicPr>
          <p:nvPr/>
        </p:nvPicPr>
        <p:blipFill>
          <a:blip r:embed="rId10">
            <a:extLst/>
          </a:blip>
          <a:stretch>
            <a:fillRect/>
          </a:stretch>
        </p:blipFill>
        <p:spPr>
          <a:xfrm>
            <a:off x="19177000" y="7683500"/>
            <a:ext cx="671653" cy="889000"/>
          </a:xfrm>
          <a:prstGeom prst="rect">
            <a:avLst/>
          </a:prstGeom>
          <a:ln w="12700">
            <a:miter lim="400000"/>
          </a:ln>
        </p:spPr>
      </p:pic>
      <p:pic>
        <p:nvPicPr>
          <p:cNvPr id="218" name="redhat.png" descr="redhat.png"/>
          <p:cNvPicPr>
            <a:picLocks noChangeAspect="1"/>
          </p:cNvPicPr>
          <p:nvPr/>
        </p:nvPicPr>
        <p:blipFill>
          <a:blip r:embed="rId11">
            <a:extLst/>
          </a:blip>
          <a:stretch>
            <a:fillRect/>
          </a:stretch>
        </p:blipFill>
        <p:spPr>
          <a:xfrm>
            <a:off x="1320800" y="9258300"/>
            <a:ext cx="886565" cy="889000"/>
          </a:xfrm>
          <a:prstGeom prst="rect">
            <a:avLst/>
          </a:prstGeom>
          <a:ln w="12700">
            <a:miter lim="400000"/>
          </a:ln>
        </p:spPr>
      </p:pic>
      <p:pic>
        <p:nvPicPr>
          <p:cNvPr id="219" name="suse.png" descr="suse.png"/>
          <p:cNvPicPr>
            <a:picLocks noChangeAspect="1"/>
          </p:cNvPicPr>
          <p:nvPr/>
        </p:nvPicPr>
        <p:blipFill>
          <a:blip r:embed="rId12">
            <a:extLst/>
          </a:blip>
          <a:stretch>
            <a:fillRect/>
          </a:stretch>
        </p:blipFill>
        <p:spPr>
          <a:xfrm>
            <a:off x="3175000" y="9309100"/>
            <a:ext cx="1270733" cy="787400"/>
          </a:xfrm>
          <a:prstGeom prst="rect">
            <a:avLst/>
          </a:prstGeom>
          <a:ln w="12700">
            <a:miter lim="400000"/>
          </a:ln>
        </p:spPr>
      </p:pic>
      <p:pic>
        <p:nvPicPr>
          <p:cNvPr id="220" name="apache.png" descr="apache.png"/>
          <p:cNvPicPr>
            <a:picLocks noChangeAspect="1"/>
          </p:cNvPicPr>
          <p:nvPr/>
        </p:nvPicPr>
        <p:blipFill>
          <a:blip r:embed="rId13">
            <a:extLst/>
          </a:blip>
          <a:stretch>
            <a:fillRect/>
          </a:stretch>
        </p:blipFill>
        <p:spPr>
          <a:xfrm>
            <a:off x="5410200" y="9398000"/>
            <a:ext cx="1624653" cy="622300"/>
          </a:xfrm>
          <a:prstGeom prst="rect">
            <a:avLst/>
          </a:prstGeom>
          <a:ln w="12700">
            <a:miter lim="400000"/>
          </a:ln>
        </p:spPr>
      </p:pic>
      <p:pic>
        <p:nvPicPr>
          <p:cNvPr id="221" name="mysql.png" descr="mysql.png"/>
          <p:cNvPicPr>
            <a:picLocks noChangeAspect="1"/>
          </p:cNvPicPr>
          <p:nvPr/>
        </p:nvPicPr>
        <p:blipFill>
          <a:blip r:embed="rId14">
            <a:extLst/>
          </a:blip>
          <a:stretch>
            <a:fillRect/>
          </a:stretch>
        </p:blipFill>
        <p:spPr>
          <a:xfrm>
            <a:off x="7988300" y="9347200"/>
            <a:ext cx="1393073" cy="723900"/>
          </a:xfrm>
          <a:prstGeom prst="rect">
            <a:avLst/>
          </a:prstGeom>
          <a:ln w="12700">
            <a:miter lim="400000"/>
          </a:ln>
        </p:spPr>
      </p:pic>
      <p:pic>
        <p:nvPicPr>
          <p:cNvPr id="222" name="php.png" descr="php.png"/>
          <p:cNvPicPr>
            <a:picLocks noChangeAspect="1"/>
          </p:cNvPicPr>
          <p:nvPr/>
        </p:nvPicPr>
        <p:blipFill>
          <a:blip r:embed="rId15">
            <a:extLst/>
          </a:blip>
          <a:stretch>
            <a:fillRect/>
          </a:stretch>
        </p:blipFill>
        <p:spPr>
          <a:xfrm>
            <a:off x="10337800" y="9347200"/>
            <a:ext cx="1374184" cy="723900"/>
          </a:xfrm>
          <a:prstGeom prst="rect">
            <a:avLst/>
          </a:prstGeom>
          <a:ln w="12700">
            <a:miter lim="400000"/>
          </a:ln>
        </p:spPr>
      </p:pic>
      <p:pic>
        <p:nvPicPr>
          <p:cNvPr id="223" name="vim.png" descr="vim.png"/>
          <p:cNvPicPr>
            <a:picLocks noChangeAspect="1"/>
          </p:cNvPicPr>
          <p:nvPr/>
        </p:nvPicPr>
        <p:blipFill>
          <a:blip r:embed="rId16">
            <a:extLst/>
          </a:blip>
          <a:stretch>
            <a:fillRect/>
          </a:stretch>
        </p:blipFill>
        <p:spPr>
          <a:xfrm>
            <a:off x="12674600" y="9258300"/>
            <a:ext cx="888182" cy="889000"/>
          </a:xfrm>
          <a:prstGeom prst="rect">
            <a:avLst/>
          </a:prstGeom>
          <a:ln w="12700">
            <a:miter lim="400000"/>
          </a:ln>
        </p:spPr>
      </p:pic>
      <p:pic>
        <p:nvPicPr>
          <p:cNvPr id="224" name="emacs.png" descr="emacs.png"/>
          <p:cNvPicPr>
            <a:picLocks noChangeAspect="1"/>
          </p:cNvPicPr>
          <p:nvPr/>
        </p:nvPicPr>
        <p:blipFill>
          <a:blip r:embed="rId17">
            <a:extLst/>
          </a:blip>
          <a:stretch>
            <a:fillRect/>
          </a:stretch>
        </p:blipFill>
        <p:spPr>
          <a:xfrm>
            <a:off x="14528800" y="9423400"/>
            <a:ext cx="2089912" cy="558800"/>
          </a:xfrm>
          <a:prstGeom prst="rect">
            <a:avLst/>
          </a:prstGeom>
          <a:ln w="12700">
            <a:miter lim="400000"/>
          </a:ln>
        </p:spPr>
      </p:pic>
      <p:pic>
        <p:nvPicPr>
          <p:cNvPr id="225" name="prog-4.png" descr="prog-4.png"/>
          <p:cNvPicPr>
            <a:picLocks noChangeAspect="1"/>
          </p:cNvPicPr>
          <p:nvPr/>
        </p:nvPicPr>
        <p:blipFill>
          <a:blip r:embed="rId18">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9"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230" name="My first servers ran at home"/>
          <p:cNvSpPr txBox="1"/>
          <p:nvPr/>
        </p:nvSpPr>
        <p:spPr>
          <a:xfrm>
            <a:off x="1308100" y="2692399"/>
            <a:ext cx="22707600" cy="1714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7600">
                <a:solidFill>
                  <a:srgbClr val="220D44"/>
                </a:solidFill>
                <a:latin typeface="Unbounded Regular ExtraBold"/>
                <a:ea typeface="Unbounded Regular ExtraBold"/>
                <a:cs typeface="Unbounded Regular ExtraBold"/>
                <a:sym typeface="Unbounded Regular ExtraBold"/>
              </a:defRPr>
            </a:pPr>
            <a:r>
              <a:t>My first servers </a:t>
            </a:r>
            <a:r>
              <a:rPr i="1" sz="9800">
                <a:solidFill>
                  <a:srgbClr val="6033A6"/>
                </a:solidFill>
                <a:latin typeface="Instrument Serif Regular"/>
                <a:ea typeface="Instrument Serif Regular"/>
                <a:cs typeface="Instrument Serif Regular"/>
                <a:sym typeface="Instrument Serif Regular"/>
              </a:rPr>
              <a:t>ran at home</a:t>
            </a:r>
          </a:p>
        </p:txBody>
      </p:sp>
      <p:sp>
        <p:nvSpPr>
          <p:cNvPr id="231" name="Dynamic DNS"/>
          <p:cNvSpPr txBox="1"/>
          <p:nvPr/>
        </p:nvSpPr>
        <p:spPr>
          <a:xfrm>
            <a:off x="1295400" y="4813299"/>
            <a:ext cx="10744200" cy="762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200">
                <a:solidFill>
                  <a:srgbClr val="6033A6"/>
                </a:solidFill>
                <a:latin typeface="Unbounded Regular SemiBold"/>
                <a:ea typeface="Unbounded Regular SemiBold"/>
                <a:cs typeface="Unbounded Regular SemiBold"/>
                <a:sym typeface="Unbounded Regular SemiBold"/>
              </a:defRPr>
            </a:lvl1pPr>
          </a:lstStyle>
          <a:p>
            <a:pPr/>
            <a:r>
              <a:t>Dynamic DNS</a:t>
            </a:r>
          </a:p>
        </p:txBody>
      </p:sp>
      <p:sp>
        <p:nvSpPr>
          <p:cNvPr id="232" name="A script updated the DNS the moment my home IP changed."/>
          <p:cNvSpPr txBox="1"/>
          <p:nvPr/>
        </p:nvSpPr>
        <p:spPr>
          <a:xfrm>
            <a:off x="1320800" y="5638799"/>
            <a:ext cx="9278169" cy="11633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solidFill>
                  <a:srgbClr val="3D2644"/>
                </a:solidFill>
                <a:latin typeface="Geist Regular Regular"/>
                <a:ea typeface="Geist Regular Regular"/>
                <a:cs typeface="Geist Regular Regular"/>
                <a:sym typeface="Geist Regular Regular"/>
              </a:defRPr>
            </a:lvl1pPr>
          </a:lstStyle>
          <a:p>
            <a:pPr/>
            <a:r>
              <a:t>A script updated the DNS the moment my home IP changed.</a:t>
            </a:r>
          </a:p>
        </p:txBody>
      </p:sp>
      <p:sp>
        <p:nvSpPr>
          <p:cNvPr id="233" name="The problems"/>
          <p:cNvSpPr txBox="1"/>
          <p:nvPr/>
        </p:nvSpPr>
        <p:spPr>
          <a:xfrm>
            <a:off x="12801600" y="4813299"/>
            <a:ext cx="10744200" cy="762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200">
                <a:solidFill>
                  <a:srgbClr val="6033A6"/>
                </a:solidFill>
                <a:latin typeface="Unbounded Regular SemiBold"/>
                <a:ea typeface="Unbounded Regular SemiBold"/>
                <a:cs typeface="Unbounded Regular SemiBold"/>
                <a:sym typeface="Unbounded Regular SemiBold"/>
              </a:defRPr>
            </a:lvl1pPr>
          </a:lstStyle>
          <a:p>
            <a:pPr/>
            <a:r>
              <a:t>The problems</a:t>
            </a:r>
          </a:p>
        </p:txBody>
      </p:sp>
      <p:sp>
        <p:nvSpPr>
          <p:cNvPr id="234" name="It ate the family bandwidth, upload was tiny, and it hummed in a wardrobe."/>
          <p:cNvSpPr txBox="1"/>
          <p:nvPr/>
        </p:nvSpPr>
        <p:spPr>
          <a:xfrm>
            <a:off x="12827000" y="5638799"/>
            <a:ext cx="8994138" cy="11633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solidFill>
                  <a:srgbClr val="3D2644"/>
                </a:solidFill>
                <a:latin typeface="Geist Regular Regular"/>
                <a:ea typeface="Geist Regular Regular"/>
                <a:cs typeface="Geist Regular Regular"/>
                <a:sym typeface="Geist Regular Regular"/>
              </a:defRPr>
            </a:lvl1pPr>
          </a:lstStyle>
          <a:p>
            <a:pPr/>
            <a:r>
              <a:t>It ate the family bandwidth, upload was tiny, and it hummed in a wardrobe.</a:t>
            </a:r>
          </a:p>
        </p:txBody>
      </p:sp>
      <p:sp>
        <p:nvSpPr>
          <p:cNvPr id="235" name="Renting servers"/>
          <p:cNvSpPr txBox="1"/>
          <p:nvPr/>
        </p:nvSpPr>
        <p:spPr>
          <a:xfrm>
            <a:off x="1295400" y="7734299"/>
            <a:ext cx="10744200" cy="762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200">
                <a:solidFill>
                  <a:srgbClr val="6033A6"/>
                </a:solidFill>
                <a:latin typeface="Unbounded Regular SemiBold"/>
                <a:ea typeface="Unbounded Regular SemiBold"/>
                <a:cs typeface="Unbounded Regular SemiBold"/>
                <a:sym typeface="Unbounded Regular SemiBold"/>
              </a:defRPr>
            </a:lvl1pPr>
          </a:lstStyle>
          <a:p>
            <a:pPr/>
            <a:r>
              <a:t>Renting servers</a:t>
            </a:r>
          </a:p>
        </p:txBody>
      </p:sp>
      <p:sp>
        <p:nvSpPr>
          <p:cNvPr id="236" name="Anything that needed bandwidth moved out of the wardrobe to rented servers."/>
          <p:cNvSpPr txBox="1"/>
          <p:nvPr/>
        </p:nvSpPr>
        <p:spPr>
          <a:xfrm>
            <a:off x="1320800" y="8811259"/>
            <a:ext cx="8662155" cy="11633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solidFill>
                  <a:srgbClr val="3D2644"/>
                </a:solidFill>
                <a:latin typeface="Geist Regular Regular"/>
                <a:ea typeface="Geist Regular Regular"/>
                <a:cs typeface="Geist Regular Regular"/>
                <a:sym typeface="Geist Regular Regular"/>
              </a:defRPr>
            </a:lvl1pPr>
          </a:lstStyle>
          <a:p>
            <a:pPr/>
            <a:r>
              <a:t>Anything that needed bandwidth moved out of the wardrobe to rented servers.</a:t>
            </a:r>
          </a:p>
        </p:txBody>
      </p:sp>
      <p:sp>
        <p:nvSpPr>
          <p:cNvPr id="237" name="Still at home"/>
          <p:cNvSpPr txBox="1"/>
          <p:nvPr/>
        </p:nvSpPr>
        <p:spPr>
          <a:xfrm>
            <a:off x="12801600" y="7734299"/>
            <a:ext cx="10744200" cy="762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200">
                <a:solidFill>
                  <a:srgbClr val="6033A6"/>
                </a:solidFill>
                <a:latin typeface="Unbounded Regular SemiBold"/>
                <a:ea typeface="Unbounded Regular SemiBold"/>
                <a:cs typeface="Unbounded Regular SemiBold"/>
                <a:sym typeface="Unbounded Regular SemiBold"/>
              </a:defRPr>
            </a:lvl1pPr>
          </a:lstStyle>
          <a:p>
            <a:pPr/>
            <a:r>
              <a:t>Still at home</a:t>
            </a:r>
          </a:p>
        </p:txBody>
      </p:sp>
      <p:sp>
        <p:nvSpPr>
          <p:cNvPr id="238" name="My IoT still runs at home on my own hardware, and I still tinker and self-host at home."/>
          <p:cNvSpPr txBox="1"/>
          <p:nvPr/>
        </p:nvSpPr>
        <p:spPr>
          <a:xfrm>
            <a:off x="12827000" y="8559799"/>
            <a:ext cx="9395371" cy="11633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solidFill>
                  <a:srgbClr val="3D2644"/>
                </a:solidFill>
                <a:latin typeface="Geist Regular Regular"/>
                <a:ea typeface="Geist Regular Regular"/>
                <a:cs typeface="Geist Regular Regular"/>
                <a:sym typeface="Geist Regular Regular"/>
              </a:defRPr>
            </a:lvl1pPr>
          </a:lstStyle>
          <a:p>
            <a:pPr/>
            <a:r>
              <a:t>My IoT still runs at home on my own hardware, and I still tinker and self-host at home.</a:t>
            </a:r>
          </a:p>
        </p:txBody>
      </p:sp>
      <p:sp>
        <p:nvSpPr>
          <p:cNvPr id="239"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240" name="prog-5.png" descr="prog-5.png"/>
          <p:cNvPicPr>
            <a:picLocks noChangeAspect="1"/>
          </p:cNvPicPr>
          <p:nvPr/>
        </p:nvPicPr>
        <p:blipFill>
          <a:blip r:embed="rId4">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44"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245"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246" name="pulumi-color.png" descr="pulumi-color.png"/>
          <p:cNvPicPr>
            <a:picLocks noChangeAspect="1"/>
          </p:cNvPicPr>
          <p:nvPr/>
        </p:nvPicPr>
        <p:blipFill>
          <a:blip r:embed="rId4">
            <a:extLst/>
          </a:blip>
          <a:stretch>
            <a:fillRect/>
          </a:stretch>
        </p:blipFill>
        <p:spPr>
          <a:xfrm>
            <a:off x="1320800" y="1358900"/>
            <a:ext cx="1524000" cy="381000"/>
          </a:xfrm>
          <a:prstGeom prst="rect">
            <a:avLst/>
          </a:prstGeom>
          <a:ln w="12700">
            <a:miter lim="400000"/>
          </a:ln>
        </p:spPr>
      </p:pic>
      <p:pic>
        <p:nvPicPr>
          <p:cNvPr id="247" name="cloudflareworkers-color.png" descr="cloudflareworkers-color.png"/>
          <p:cNvPicPr>
            <a:picLocks noChangeAspect="1"/>
          </p:cNvPicPr>
          <p:nvPr/>
        </p:nvPicPr>
        <p:blipFill>
          <a:blip r:embed="rId5">
            <a:extLst/>
          </a:blip>
          <a:stretch>
            <a:fillRect/>
          </a:stretch>
        </p:blipFill>
        <p:spPr>
          <a:xfrm>
            <a:off x="4241800" y="1371600"/>
            <a:ext cx="3104974" cy="368300"/>
          </a:xfrm>
          <a:prstGeom prst="rect">
            <a:avLst/>
          </a:prstGeom>
          <a:ln w="12700">
            <a:miter lim="400000"/>
          </a:ln>
        </p:spPr>
      </p:pic>
      <p:pic>
        <p:nvPicPr>
          <p:cNvPr id="248" name="ansible-color.png" descr="ansible-color.png"/>
          <p:cNvPicPr>
            <a:picLocks noChangeAspect="1"/>
          </p:cNvPicPr>
          <p:nvPr/>
        </p:nvPicPr>
        <p:blipFill>
          <a:blip r:embed="rId6">
            <a:extLst/>
          </a:blip>
          <a:stretch>
            <a:fillRect/>
          </a:stretch>
        </p:blipFill>
        <p:spPr>
          <a:xfrm>
            <a:off x="8737599" y="1371600"/>
            <a:ext cx="1463041" cy="355600"/>
          </a:xfrm>
          <a:prstGeom prst="rect">
            <a:avLst/>
          </a:prstGeom>
          <a:ln w="12700">
            <a:miter lim="400000"/>
          </a:ln>
        </p:spPr>
      </p:pic>
      <p:pic>
        <p:nvPicPr>
          <p:cNvPr id="249" name="openstack-color.png" descr="openstack-color.png"/>
          <p:cNvPicPr>
            <a:picLocks noChangeAspect="1"/>
          </p:cNvPicPr>
          <p:nvPr/>
        </p:nvPicPr>
        <p:blipFill>
          <a:blip r:embed="rId7">
            <a:extLst/>
          </a:blip>
          <a:stretch>
            <a:fillRect/>
          </a:stretch>
        </p:blipFill>
        <p:spPr>
          <a:xfrm>
            <a:off x="11595100" y="1397000"/>
            <a:ext cx="1950358" cy="317500"/>
          </a:xfrm>
          <a:prstGeom prst="rect">
            <a:avLst/>
          </a:prstGeom>
          <a:ln w="12700">
            <a:miter lim="400000"/>
          </a:ln>
        </p:spPr>
      </p:pic>
      <p:pic>
        <p:nvPicPr>
          <p:cNvPr id="250" name="sentry-color.png" descr="sentry-color.png"/>
          <p:cNvPicPr>
            <a:picLocks noChangeAspect="1"/>
          </p:cNvPicPr>
          <p:nvPr/>
        </p:nvPicPr>
        <p:blipFill>
          <a:blip r:embed="rId8">
            <a:extLst/>
          </a:blip>
          <a:stretch>
            <a:fillRect/>
          </a:stretch>
        </p:blipFill>
        <p:spPr>
          <a:xfrm>
            <a:off x="14960600" y="1371600"/>
            <a:ext cx="1572127" cy="355600"/>
          </a:xfrm>
          <a:prstGeom prst="rect">
            <a:avLst/>
          </a:prstGeom>
          <a:ln w="12700">
            <a:miter lim="400000"/>
          </a:ln>
        </p:spPr>
      </p:pic>
      <p:pic>
        <p:nvPicPr>
          <p:cNvPr id="251" name="serverless-color.png" descr="serverless-color.png"/>
          <p:cNvPicPr>
            <a:picLocks noChangeAspect="1"/>
          </p:cNvPicPr>
          <p:nvPr/>
        </p:nvPicPr>
        <p:blipFill>
          <a:blip r:embed="rId9">
            <a:extLst/>
          </a:blip>
          <a:stretch>
            <a:fillRect/>
          </a:stretch>
        </p:blipFill>
        <p:spPr>
          <a:xfrm>
            <a:off x="17970499" y="1397000"/>
            <a:ext cx="1891097" cy="292100"/>
          </a:xfrm>
          <a:prstGeom prst="rect">
            <a:avLst/>
          </a:prstGeom>
          <a:ln w="12700">
            <a:miter lim="400000"/>
          </a:ln>
        </p:spPr>
      </p:pic>
      <p:pic>
        <p:nvPicPr>
          <p:cNvPr id="252" name="scaleway-color.png" descr="scaleway-color.png"/>
          <p:cNvPicPr>
            <a:picLocks noChangeAspect="1"/>
          </p:cNvPicPr>
          <p:nvPr/>
        </p:nvPicPr>
        <p:blipFill>
          <a:blip r:embed="rId10">
            <a:extLst/>
          </a:blip>
          <a:stretch>
            <a:fillRect/>
          </a:stretch>
        </p:blipFill>
        <p:spPr>
          <a:xfrm>
            <a:off x="21272500" y="1371599"/>
            <a:ext cx="1749425" cy="368301"/>
          </a:xfrm>
          <a:prstGeom prst="rect">
            <a:avLst/>
          </a:prstGeom>
          <a:ln w="12700">
            <a:miter lim="400000"/>
          </a:ln>
        </p:spPr>
      </p:pic>
      <p:pic>
        <p:nvPicPr>
          <p:cNvPr id="253" name="bitbucket-color.png" descr="bitbucket-color.png"/>
          <p:cNvPicPr>
            <a:picLocks noChangeAspect="1"/>
          </p:cNvPicPr>
          <p:nvPr/>
        </p:nvPicPr>
        <p:blipFill>
          <a:blip r:embed="rId11">
            <a:extLst/>
          </a:blip>
          <a:stretch>
            <a:fillRect/>
          </a:stretch>
        </p:blipFill>
        <p:spPr>
          <a:xfrm>
            <a:off x="1320799" y="2260599"/>
            <a:ext cx="1747521" cy="330201"/>
          </a:xfrm>
          <a:prstGeom prst="rect">
            <a:avLst/>
          </a:prstGeom>
          <a:ln w="12700">
            <a:miter lim="400000"/>
          </a:ln>
        </p:spPr>
      </p:pic>
      <p:pic>
        <p:nvPicPr>
          <p:cNvPr id="254" name="jenkins-color.png" descr="jenkins-color.png"/>
          <p:cNvPicPr>
            <a:picLocks noChangeAspect="1"/>
          </p:cNvPicPr>
          <p:nvPr/>
        </p:nvPicPr>
        <p:blipFill>
          <a:blip r:embed="rId12">
            <a:extLst/>
          </a:blip>
          <a:stretch>
            <a:fillRect/>
          </a:stretch>
        </p:blipFill>
        <p:spPr>
          <a:xfrm>
            <a:off x="4114800" y="2247900"/>
            <a:ext cx="1509007" cy="368300"/>
          </a:xfrm>
          <a:prstGeom prst="rect">
            <a:avLst/>
          </a:prstGeom>
          <a:ln w="12700">
            <a:miter lim="400000"/>
          </a:ln>
        </p:spPr>
      </p:pic>
      <p:pic>
        <p:nvPicPr>
          <p:cNvPr id="255" name="archlinux-color.png" descr="archlinux-color.png"/>
          <p:cNvPicPr>
            <a:picLocks noChangeAspect="1"/>
          </p:cNvPicPr>
          <p:nvPr/>
        </p:nvPicPr>
        <p:blipFill>
          <a:blip r:embed="rId13">
            <a:extLst/>
          </a:blip>
          <a:stretch>
            <a:fillRect/>
          </a:stretch>
        </p:blipFill>
        <p:spPr>
          <a:xfrm>
            <a:off x="6667499" y="2222500"/>
            <a:ext cx="1417808" cy="419100"/>
          </a:xfrm>
          <a:prstGeom prst="rect">
            <a:avLst/>
          </a:prstGeom>
          <a:ln w="12700">
            <a:miter lim="400000"/>
          </a:ln>
        </p:spPr>
      </p:pic>
      <p:pic>
        <p:nvPicPr>
          <p:cNvPr id="256" name="varnish-color.png" descr="varnish-color.png"/>
          <p:cNvPicPr>
            <a:picLocks noChangeAspect="1"/>
          </p:cNvPicPr>
          <p:nvPr/>
        </p:nvPicPr>
        <p:blipFill>
          <a:blip r:embed="rId14">
            <a:extLst/>
          </a:blip>
          <a:stretch>
            <a:fillRect/>
          </a:stretch>
        </p:blipFill>
        <p:spPr>
          <a:xfrm>
            <a:off x="9118600" y="2311400"/>
            <a:ext cx="1028700" cy="228600"/>
          </a:xfrm>
          <a:prstGeom prst="rect">
            <a:avLst/>
          </a:prstGeom>
          <a:ln w="12700">
            <a:miter lim="400000"/>
          </a:ln>
        </p:spPr>
      </p:pic>
      <p:pic>
        <p:nvPicPr>
          <p:cNvPr id="257" name="ubuntu-color.png" descr="ubuntu-color.png"/>
          <p:cNvPicPr>
            <a:picLocks noChangeAspect="1"/>
          </p:cNvPicPr>
          <p:nvPr/>
        </p:nvPicPr>
        <p:blipFill>
          <a:blip r:embed="rId15">
            <a:extLst/>
          </a:blip>
          <a:stretch>
            <a:fillRect/>
          </a:stretch>
        </p:blipFill>
        <p:spPr>
          <a:xfrm>
            <a:off x="11163299" y="2197100"/>
            <a:ext cx="1238866" cy="457200"/>
          </a:xfrm>
          <a:prstGeom prst="rect">
            <a:avLst/>
          </a:prstGeom>
          <a:ln w="12700">
            <a:miter lim="400000"/>
          </a:ln>
        </p:spPr>
      </p:pic>
      <p:pic>
        <p:nvPicPr>
          <p:cNvPr id="258" name="prometheus-color.png" descr="prometheus-color.png"/>
          <p:cNvPicPr>
            <a:picLocks noChangeAspect="1"/>
          </p:cNvPicPr>
          <p:nvPr/>
        </p:nvPicPr>
        <p:blipFill>
          <a:blip r:embed="rId16">
            <a:extLst/>
          </a:blip>
          <a:stretch>
            <a:fillRect/>
          </a:stretch>
        </p:blipFill>
        <p:spPr>
          <a:xfrm>
            <a:off x="13462000" y="2247900"/>
            <a:ext cx="2110053" cy="368300"/>
          </a:xfrm>
          <a:prstGeom prst="rect">
            <a:avLst/>
          </a:prstGeom>
          <a:ln w="12700">
            <a:miter lim="400000"/>
          </a:ln>
        </p:spPr>
      </p:pic>
      <p:pic>
        <p:nvPicPr>
          <p:cNvPr id="259" name="netlify-color.png" descr="netlify-color.png"/>
          <p:cNvPicPr>
            <a:picLocks noChangeAspect="1"/>
          </p:cNvPicPr>
          <p:nvPr/>
        </p:nvPicPr>
        <p:blipFill>
          <a:blip r:embed="rId17">
            <a:extLst/>
          </a:blip>
          <a:stretch>
            <a:fillRect/>
          </a:stretch>
        </p:blipFill>
        <p:spPr>
          <a:xfrm>
            <a:off x="16598900" y="2197099"/>
            <a:ext cx="1097281" cy="457201"/>
          </a:xfrm>
          <a:prstGeom prst="rect">
            <a:avLst/>
          </a:prstGeom>
          <a:ln w="12700">
            <a:miter lim="400000"/>
          </a:ln>
        </p:spPr>
      </p:pic>
      <p:pic>
        <p:nvPicPr>
          <p:cNvPr id="260" name="supabase-color.png" descr="supabase-color.png"/>
          <p:cNvPicPr>
            <a:picLocks noChangeAspect="1"/>
          </p:cNvPicPr>
          <p:nvPr/>
        </p:nvPicPr>
        <p:blipFill>
          <a:blip r:embed="rId18">
            <a:extLst/>
          </a:blip>
          <a:stretch>
            <a:fillRect/>
          </a:stretch>
        </p:blipFill>
        <p:spPr>
          <a:xfrm>
            <a:off x="18745200" y="2247900"/>
            <a:ext cx="1821039" cy="368301"/>
          </a:xfrm>
          <a:prstGeom prst="rect">
            <a:avLst/>
          </a:prstGeom>
          <a:ln w="12700">
            <a:miter lim="400000"/>
          </a:ln>
        </p:spPr>
      </p:pic>
      <p:pic>
        <p:nvPicPr>
          <p:cNvPr id="261" name="nixos-color.png" descr="nixos-color.png"/>
          <p:cNvPicPr>
            <a:picLocks noChangeAspect="1"/>
          </p:cNvPicPr>
          <p:nvPr/>
        </p:nvPicPr>
        <p:blipFill>
          <a:blip r:embed="rId19">
            <a:extLst/>
          </a:blip>
          <a:stretch>
            <a:fillRect/>
          </a:stretch>
        </p:blipFill>
        <p:spPr>
          <a:xfrm>
            <a:off x="21590000" y="2222499"/>
            <a:ext cx="1409430" cy="406401"/>
          </a:xfrm>
          <a:prstGeom prst="rect">
            <a:avLst/>
          </a:prstGeom>
          <a:ln w="12700">
            <a:miter lim="400000"/>
          </a:ln>
        </p:spPr>
      </p:pic>
      <p:pic>
        <p:nvPicPr>
          <p:cNvPr id="262" name="argo-color.png" descr="argo-color.png"/>
          <p:cNvPicPr>
            <a:picLocks noChangeAspect="1"/>
          </p:cNvPicPr>
          <p:nvPr/>
        </p:nvPicPr>
        <p:blipFill>
          <a:blip r:embed="rId20">
            <a:extLst/>
          </a:blip>
          <a:stretch>
            <a:fillRect/>
          </a:stretch>
        </p:blipFill>
        <p:spPr>
          <a:xfrm>
            <a:off x="1320800" y="3124200"/>
            <a:ext cx="1570391" cy="368300"/>
          </a:xfrm>
          <a:prstGeom prst="rect">
            <a:avLst/>
          </a:prstGeom>
          <a:ln w="12700">
            <a:miter lim="400000"/>
          </a:ln>
        </p:spPr>
      </p:pic>
      <p:pic>
        <p:nvPicPr>
          <p:cNvPr id="263" name="docker-color.png" descr="docker-color.png"/>
          <p:cNvPicPr>
            <a:picLocks noChangeAspect="1"/>
          </p:cNvPicPr>
          <p:nvPr/>
        </p:nvPicPr>
        <p:blipFill>
          <a:blip r:embed="rId21">
            <a:extLst/>
          </a:blip>
          <a:stretch>
            <a:fillRect/>
          </a:stretch>
        </p:blipFill>
        <p:spPr>
          <a:xfrm>
            <a:off x="4190999" y="3200400"/>
            <a:ext cx="1432561" cy="215900"/>
          </a:xfrm>
          <a:prstGeom prst="rect">
            <a:avLst/>
          </a:prstGeom>
          <a:ln w="12700">
            <a:miter lim="400000"/>
          </a:ln>
        </p:spPr>
      </p:pic>
      <p:pic>
        <p:nvPicPr>
          <p:cNvPr id="264" name="netdata-color.png" descr="netdata-color.png"/>
          <p:cNvPicPr>
            <a:picLocks noChangeAspect="1"/>
          </p:cNvPicPr>
          <p:nvPr/>
        </p:nvPicPr>
        <p:blipFill>
          <a:blip r:embed="rId22">
            <a:extLst/>
          </a:blip>
          <a:stretch>
            <a:fillRect/>
          </a:stretch>
        </p:blipFill>
        <p:spPr>
          <a:xfrm>
            <a:off x="6934200" y="3162300"/>
            <a:ext cx="1547248" cy="304800"/>
          </a:xfrm>
          <a:prstGeom prst="rect">
            <a:avLst/>
          </a:prstGeom>
          <a:ln w="12700">
            <a:miter lim="400000"/>
          </a:ln>
        </p:spPr>
      </p:pic>
      <p:pic>
        <p:nvPicPr>
          <p:cNvPr id="265" name="terraform-color.png" descr="terraform-color.png"/>
          <p:cNvPicPr>
            <a:picLocks noChangeAspect="1"/>
          </p:cNvPicPr>
          <p:nvPr/>
        </p:nvPicPr>
        <p:blipFill>
          <a:blip r:embed="rId23">
            <a:extLst/>
          </a:blip>
          <a:stretch>
            <a:fillRect/>
          </a:stretch>
        </p:blipFill>
        <p:spPr>
          <a:xfrm>
            <a:off x="9766299" y="3149600"/>
            <a:ext cx="1743558" cy="330201"/>
          </a:xfrm>
          <a:prstGeom prst="rect">
            <a:avLst/>
          </a:prstGeom>
          <a:ln w="12700">
            <a:miter lim="400000"/>
          </a:ln>
        </p:spPr>
      </p:pic>
      <p:pic>
        <p:nvPicPr>
          <p:cNvPr id="266" name="podman-color.png" descr="podman-color.png"/>
          <p:cNvPicPr>
            <a:picLocks noChangeAspect="1"/>
          </p:cNvPicPr>
          <p:nvPr/>
        </p:nvPicPr>
        <p:blipFill>
          <a:blip r:embed="rId24">
            <a:extLst/>
          </a:blip>
          <a:stretch>
            <a:fillRect/>
          </a:stretch>
        </p:blipFill>
        <p:spPr>
          <a:xfrm>
            <a:off x="12839700" y="3136900"/>
            <a:ext cx="1572127" cy="355600"/>
          </a:xfrm>
          <a:prstGeom prst="rect">
            <a:avLst/>
          </a:prstGeom>
          <a:ln w="12700">
            <a:miter lim="400000"/>
          </a:ln>
        </p:spPr>
      </p:pic>
      <p:pic>
        <p:nvPicPr>
          <p:cNvPr id="267" name="nomad-color.png" descr="nomad-color.png"/>
          <p:cNvPicPr>
            <a:picLocks noChangeAspect="1"/>
          </p:cNvPicPr>
          <p:nvPr/>
        </p:nvPicPr>
        <p:blipFill>
          <a:blip r:embed="rId25">
            <a:extLst/>
          </a:blip>
          <a:stretch>
            <a:fillRect/>
          </a:stretch>
        </p:blipFill>
        <p:spPr>
          <a:xfrm>
            <a:off x="15748000" y="3124200"/>
            <a:ext cx="1411817" cy="368301"/>
          </a:xfrm>
          <a:prstGeom prst="rect">
            <a:avLst/>
          </a:prstGeom>
          <a:ln w="12700">
            <a:miter lim="400000"/>
          </a:ln>
        </p:spPr>
      </p:pic>
      <p:pic>
        <p:nvPicPr>
          <p:cNvPr id="268" name="appwrite-color.png" descr="appwrite-color.png"/>
          <p:cNvPicPr>
            <a:picLocks noChangeAspect="1"/>
          </p:cNvPicPr>
          <p:nvPr/>
        </p:nvPicPr>
        <p:blipFill>
          <a:blip r:embed="rId26">
            <a:extLst/>
          </a:blip>
          <a:stretch>
            <a:fillRect/>
          </a:stretch>
        </p:blipFill>
        <p:spPr>
          <a:xfrm>
            <a:off x="18453100" y="3149600"/>
            <a:ext cx="1733551" cy="330201"/>
          </a:xfrm>
          <a:prstGeom prst="rect">
            <a:avLst/>
          </a:prstGeom>
          <a:ln w="12700">
            <a:miter lim="400000"/>
          </a:ln>
        </p:spPr>
      </p:pic>
      <p:pic>
        <p:nvPicPr>
          <p:cNvPr id="269" name="grafana-color.png" descr="grafana-color.png"/>
          <p:cNvPicPr>
            <a:picLocks noChangeAspect="1"/>
          </p:cNvPicPr>
          <p:nvPr/>
        </p:nvPicPr>
        <p:blipFill>
          <a:blip r:embed="rId27">
            <a:extLst/>
          </a:blip>
          <a:stretch>
            <a:fillRect/>
          </a:stretch>
        </p:blipFill>
        <p:spPr>
          <a:xfrm>
            <a:off x="21501100" y="3124200"/>
            <a:ext cx="1526911" cy="368300"/>
          </a:xfrm>
          <a:prstGeom prst="rect">
            <a:avLst/>
          </a:prstGeom>
          <a:ln w="12700">
            <a:miter lim="400000"/>
          </a:ln>
        </p:spPr>
      </p:pic>
      <p:pic>
        <p:nvPicPr>
          <p:cNvPr id="270" name="wordpressvip-color.png" descr="wordpressvip-color.png"/>
          <p:cNvPicPr>
            <a:picLocks noChangeAspect="1"/>
          </p:cNvPicPr>
          <p:nvPr/>
        </p:nvPicPr>
        <p:blipFill>
          <a:blip r:embed="rId28">
            <a:extLst/>
          </a:blip>
          <a:stretch>
            <a:fillRect/>
          </a:stretch>
        </p:blipFill>
        <p:spPr>
          <a:xfrm>
            <a:off x="1320800" y="4013200"/>
            <a:ext cx="2493698" cy="368301"/>
          </a:xfrm>
          <a:prstGeom prst="rect">
            <a:avLst/>
          </a:prstGeom>
          <a:ln w="12700">
            <a:miter lim="400000"/>
          </a:ln>
        </p:spPr>
      </p:pic>
      <p:pic>
        <p:nvPicPr>
          <p:cNvPr id="271" name="vercel-color.png" descr="vercel-color.png"/>
          <p:cNvPicPr>
            <a:picLocks noChangeAspect="1"/>
          </p:cNvPicPr>
          <p:nvPr/>
        </p:nvPicPr>
        <p:blipFill>
          <a:blip r:embed="rId29">
            <a:extLst/>
          </a:blip>
          <a:stretch>
            <a:fillRect/>
          </a:stretch>
        </p:blipFill>
        <p:spPr>
          <a:xfrm>
            <a:off x="5041900" y="4013200"/>
            <a:ext cx="1572127" cy="355600"/>
          </a:xfrm>
          <a:prstGeom prst="rect">
            <a:avLst/>
          </a:prstGeom>
          <a:ln w="12700">
            <a:miter lim="400000"/>
          </a:ln>
        </p:spPr>
      </p:pic>
      <p:pic>
        <p:nvPicPr>
          <p:cNvPr id="272" name="cloudflare-color.png" descr="cloudflare-color.png"/>
          <p:cNvPicPr>
            <a:picLocks noChangeAspect="1"/>
          </p:cNvPicPr>
          <p:nvPr/>
        </p:nvPicPr>
        <p:blipFill>
          <a:blip r:embed="rId30">
            <a:extLst/>
          </a:blip>
          <a:stretch>
            <a:fillRect/>
          </a:stretch>
        </p:blipFill>
        <p:spPr>
          <a:xfrm>
            <a:off x="7874000" y="3975100"/>
            <a:ext cx="1301751" cy="444500"/>
          </a:xfrm>
          <a:prstGeom prst="rect">
            <a:avLst/>
          </a:prstGeom>
          <a:ln w="12700">
            <a:miter lim="400000"/>
          </a:ln>
        </p:spPr>
      </p:pic>
      <p:pic>
        <p:nvPicPr>
          <p:cNvPr id="273" name="wpengine-color.png" descr="wpengine-color.png"/>
          <p:cNvPicPr>
            <a:picLocks noChangeAspect="1"/>
          </p:cNvPicPr>
          <p:nvPr/>
        </p:nvPicPr>
        <p:blipFill>
          <a:blip r:embed="rId31">
            <a:extLst/>
          </a:blip>
          <a:stretch>
            <a:fillRect/>
          </a:stretch>
        </p:blipFill>
        <p:spPr>
          <a:xfrm>
            <a:off x="10426700" y="4013200"/>
            <a:ext cx="1941248" cy="368301"/>
          </a:xfrm>
          <a:prstGeom prst="rect">
            <a:avLst/>
          </a:prstGeom>
          <a:ln w="12700">
            <a:miter lim="400000"/>
          </a:ln>
        </p:spPr>
      </p:pic>
      <p:pic>
        <p:nvPicPr>
          <p:cNvPr id="274" name="php-color.png" descr="php-color.png"/>
          <p:cNvPicPr>
            <a:picLocks noChangeAspect="1"/>
          </p:cNvPicPr>
          <p:nvPr/>
        </p:nvPicPr>
        <p:blipFill>
          <a:blip r:embed="rId32">
            <a:extLst/>
          </a:blip>
          <a:stretch>
            <a:fillRect/>
          </a:stretch>
        </p:blipFill>
        <p:spPr>
          <a:xfrm>
            <a:off x="13601699" y="3962399"/>
            <a:ext cx="853441" cy="457201"/>
          </a:xfrm>
          <a:prstGeom prst="rect">
            <a:avLst/>
          </a:prstGeom>
          <a:ln w="12700">
            <a:miter lim="400000"/>
          </a:ln>
        </p:spPr>
      </p:pic>
      <p:pic>
        <p:nvPicPr>
          <p:cNvPr id="275" name="postgresql-color.png" descr="postgresql-color.png"/>
          <p:cNvPicPr>
            <a:picLocks noChangeAspect="1"/>
          </p:cNvPicPr>
          <p:nvPr/>
        </p:nvPicPr>
        <p:blipFill>
          <a:blip r:embed="rId33">
            <a:extLst/>
          </a:blip>
          <a:stretch>
            <a:fillRect/>
          </a:stretch>
        </p:blipFill>
        <p:spPr>
          <a:xfrm>
            <a:off x="15697199" y="4013200"/>
            <a:ext cx="2084642" cy="355600"/>
          </a:xfrm>
          <a:prstGeom prst="rect">
            <a:avLst/>
          </a:prstGeom>
          <a:ln w="12700">
            <a:miter lim="400000"/>
          </a:ln>
        </p:spPr>
      </p:pic>
      <p:pic>
        <p:nvPicPr>
          <p:cNvPr id="276" name="elastic-color.png" descr="elastic-color.png"/>
          <p:cNvPicPr>
            <a:picLocks noChangeAspect="1"/>
          </p:cNvPicPr>
          <p:nvPr/>
        </p:nvPicPr>
        <p:blipFill>
          <a:blip r:embed="rId34">
            <a:extLst/>
          </a:blip>
          <a:stretch>
            <a:fillRect/>
          </a:stretch>
        </p:blipFill>
        <p:spPr>
          <a:xfrm>
            <a:off x="18986499" y="4013200"/>
            <a:ext cx="1673413" cy="355600"/>
          </a:xfrm>
          <a:prstGeom prst="rect">
            <a:avLst/>
          </a:prstGeom>
          <a:ln w="12700">
            <a:miter lim="400000"/>
          </a:ln>
        </p:spPr>
      </p:pic>
      <p:pic>
        <p:nvPicPr>
          <p:cNvPr id="277" name="helm-color.png" descr="helm-color.png"/>
          <p:cNvPicPr>
            <a:picLocks noChangeAspect="1"/>
          </p:cNvPicPr>
          <p:nvPr/>
        </p:nvPicPr>
        <p:blipFill>
          <a:blip r:embed="rId35">
            <a:extLst/>
          </a:blip>
          <a:stretch>
            <a:fillRect/>
          </a:stretch>
        </p:blipFill>
        <p:spPr>
          <a:xfrm>
            <a:off x="21882100" y="4013200"/>
            <a:ext cx="1138150" cy="368301"/>
          </a:xfrm>
          <a:prstGeom prst="rect">
            <a:avLst/>
          </a:prstGeom>
          <a:ln w="12700">
            <a:miter lim="400000"/>
          </a:ln>
        </p:spPr>
      </p:pic>
      <p:pic>
        <p:nvPicPr>
          <p:cNvPr id="278" name="proxmox-color.png" descr="proxmox-color.png"/>
          <p:cNvPicPr>
            <a:picLocks noChangeAspect="1"/>
          </p:cNvPicPr>
          <p:nvPr/>
        </p:nvPicPr>
        <p:blipFill>
          <a:blip r:embed="rId36">
            <a:extLst/>
          </a:blip>
          <a:stretch>
            <a:fillRect/>
          </a:stretch>
        </p:blipFill>
        <p:spPr>
          <a:xfrm>
            <a:off x="1320799" y="4914900"/>
            <a:ext cx="1637898" cy="317500"/>
          </a:xfrm>
          <a:prstGeom prst="rect">
            <a:avLst/>
          </a:prstGeom>
          <a:ln w="12700">
            <a:miter lim="400000"/>
          </a:ln>
        </p:spPr>
      </p:pic>
      <p:pic>
        <p:nvPicPr>
          <p:cNvPr id="279" name="pressidium-color.png" descr="pressidium-color.png"/>
          <p:cNvPicPr>
            <a:picLocks noChangeAspect="1"/>
          </p:cNvPicPr>
          <p:nvPr/>
        </p:nvPicPr>
        <p:blipFill>
          <a:blip r:embed="rId37">
            <a:extLst/>
          </a:blip>
          <a:stretch>
            <a:fillRect/>
          </a:stretch>
        </p:blipFill>
        <p:spPr>
          <a:xfrm>
            <a:off x="4000500" y="4965699"/>
            <a:ext cx="1498889" cy="228601"/>
          </a:xfrm>
          <a:prstGeom prst="rect">
            <a:avLst/>
          </a:prstGeom>
          <a:ln w="12700">
            <a:miter lim="400000"/>
          </a:ln>
        </p:spPr>
      </p:pic>
      <p:pic>
        <p:nvPicPr>
          <p:cNvPr id="280" name="kubernetes-color.png" descr="kubernetes-color.png"/>
          <p:cNvPicPr>
            <a:picLocks noChangeAspect="1"/>
          </p:cNvPicPr>
          <p:nvPr/>
        </p:nvPicPr>
        <p:blipFill>
          <a:blip r:embed="rId38">
            <a:extLst/>
          </a:blip>
          <a:stretch>
            <a:fillRect/>
          </a:stretch>
        </p:blipFill>
        <p:spPr>
          <a:xfrm>
            <a:off x="6502400" y="4902199"/>
            <a:ext cx="2021840" cy="355601"/>
          </a:xfrm>
          <a:prstGeom prst="rect">
            <a:avLst/>
          </a:prstGeom>
          <a:ln w="12700">
            <a:miter lim="400000"/>
          </a:ln>
        </p:spPr>
      </p:pic>
      <p:pic>
        <p:nvPicPr>
          <p:cNvPr id="281" name="bun-color.png" descr="bun-color.png"/>
          <p:cNvPicPr>
            <a:picLocks noChangeAspect="1"/>
          </p:cNvPicPr>
          <p:nvPr/>
        </p:nvPicPr>
        <p:blipFill>
          <a:blip r:embed="rId39">
            <a:extLst/>
          </a:blip>
          <a:stretch>
            <a:fillRect/>
          </a:stretch>
        </p:blipFill>
        <p:spPr>
          <a:xfrm>
            <a:off x="9550400" y="4914900"/>
            <a:ext cx="993180" cy="330200"/>
          </a:xfrm>
          <a:prstGeom prst="rect">
            <a:avLst/>
          </a:prstGeom>
          <a:ln w="12700">
            <a:miter lim="400000"/>
          </a:ln>
        </p:spPr>
      </p:pic>
      <p:pic>
        <p:nvPicPr>
          <p:cNvPr id="282" name="vmware-color.png" descr="vmware-color.png"/>
          <p:cNvPicPr>
            <a:picLocks noChangeAspect="1"/>
          </p:cNvPicPr>
          <p:nvPr/>
        </p:nvPicPr>
        <p:blipFill>
          <a:blip r:embed="rId40">
            <a:extLst/>
          </a:blip>
          <a:stretch>
            <a:fillRect/>
          </a:stretch>
        </p:blipFill>
        <p:spPr>
          <a:xfrm>
            <a:off x="11556999" y="4927600"/>
            <a:ext cx="1828801" cy="304801"/>
          </a:xfrm>
          <a:prstGeom prst="rect">
            <a:avLst/>
          </a:prstGeom>
          <a:ln w="12700">
            <a:miter lim="400000"/>
          </a:ln>
        </p:spPr>
      </p:pic>
      <p:pic>
        <p:nvPicPr>
          <p:cNvPr id="283" name="istio-color.png" descr="istio-color.png"/>
          <p:cNvPicPr>
            <a:picLocks noChangeAspect="1"/>
          </p:cNvPicPr>
          <p:nvPr/>
        </p:nvPicPr>
        <p:blipFill>
          <a:blip r:embed="rId41">
            <a:extLst/>
          </a:blip>
          <a:stretch>
            <a:fillRect/>
          </a:stretch>
        </p:blipFill>
        <p:spPr>
          <a:xfrm>
            <a:off x="14452600" y="4889499"/>
            <a:ext cx="971903" cy="368301"/>
          </a:xfrm>
          <a:prstGeom prst="rect">
            <a:avLst/>
          </a:prstGeom>
          <a:ln w="12700">
            <a:miter lim="400000"/>
          </a:ln>
        </p:spPr>
      </p:pic>
      <p:pic>
        <p:nvPicPr>
          <p:cNvPr id="284" name="fedora-color.png" descr="fedora-color.png"/>
          <p:cNvPicPr>
            <a:picLocks noChangeAspect="1"/>
          </p:cNvPicPr>
          <p:nvPr/>
        </p:nvPicPr>
        <p:blipFill>
          <a:blip r:embed="rId42">
            <a:extLst/>
          </a:blip>
          <a:stretch>
            <a:fillRect/>
          </a:stretch>
        </p:blipFill>
        <p:spPr>
          <a:xfrm>
            <a:off x="16459200" y="4889499"/>
            <a:ext cx="1401587" cy="368301"/>
          </a:xfrm>
          <a:prstGeom prst="rect">
            <a:avLst/>
          </a:prstGeom>
          <a:ln w="12700">
            <a:miter lim="400000"/>
          </a:ln>
        </p:spPr>
      </p:pic>
      <p:pic>
        <p:nvPicPr>
          <p:cNvPr id="285" name="rancher-color.png" descr="rancher-color.png"/>
          <p:cNvPicPr>
            <a:picLocks noChangeAspect="1"/>
          </p:cNvPicPr>
          <p:nvPr/>
        </p:nvPicPr>
        <p:blipFill>
          <a:blip r:embed="rId43">
            <a:extLst/>
          </a:blip>
          <a:stretch>
            <a:fillRect/>
          </a:stretch>
        </p:blipFill>
        <p:spPr>
          <a:xfrm>
            <a:off x="18884899" y="4965700"/>
            <a:ext cx="1592581" cy="215901"/>
          </a:xfrm>
          <a:prstGeom prst="rect">
            <a:avLst/>
          </a:prstGeom>
          <a:ln w="12700">
            <a:miter lim="400000"/>
          </a:ln>
        </p:spPr>
      </p:pic>
      <p:pic>
        <p:nvPicPr>
          <p:cNvPr id="286" name="railway-color.png" descr="railway-color.png"/>
          <p:cNvPicPr>
            <a:picLocks noChangeAspect="1"/>
          </p:cNvPicPr>
          <p:nvPr/>
        </p:nvPicPr>
        <p:blipFill>
          <a:blip r:embed="rId44">
            <a:extLst/>
          </a:blip>
          <a:stretch>
            <a:fillRect/>
          </a:stretch>
        </p:blipFill>
        <p:spPr>
          <a:xfrm>
            <a:off x="21501099" y="4889500"/>
            <a:ext cx="1516681" cy="368300"/>
          </a:xfrm>
          <a:prstGeom prst="rect">
            <a:avLst/>
          </a:prstGeom>
          <a:ln w="12700">
            <a:miter lim="400000"/>
          </a:ln>
        </p:spPr>
      </p:pic>
      <p:pic>
        <p:nvPicPr>
          <p:cNvPr id="287" name="githubactions-color.png" descr="githubactions-color.png"/>
          <p:cNvPicPr>
            <a:picLocks noChangeAspect="1"/>
          </p:cNvPicPr>
          <p:nvPr/>
        </p:nvPicPr>
        <p:blipFill>
          <a:blip r:embed="rId45">
            <a:extLst/>
          </a:blip>
          <a:stretch>
            <a:fillRect/>
          </a:stretch>
        </p:blipFill>
        <p:spPr>
          <a:xfrm>
            <a:off x="1320800" y="5778500"/>
            <a:ext cx="2519275" cy="368301"/>
          </a:xfrm>
          <a:prstGeom prst="rect">
            <a:avLst/>
          </a:prstGeom>
          <a:ln w="12700">
            <a:miter lim="400000"/>
          </a:ln>
        </p:spPr>
      </p:pic>
      <p:pic>
        <p:nvPicPr>
          <p:cNvPr id="288" name="datadog-color.png" descr="datadog-color.png"/>
          <p:cNvPicPr>
            <a:picLocks noChangeAspect="1"/>
          </p:cNvPicPr>
          <p:nvPr/>
        </p:nvPicPr>
        <p:blipFill>
          <a:blip r:embed="rId46">
            <a:extLst/>
          </a:blip>
          <a:stretch>
            <a:fillRect/>
          </a:stretch>
        </p:blipFill>
        <p:spPr>
          <a:xfrm>
            <a:off x="5359400" y="5778500"/>
            <a:ext cx="1601082" cy="368300"/>
          </a:xfrm>
          <a:prstGeom prst="rect">
            <a:avLst/>
          </a:prstGeom>
          <a:ln w="12700">
            <a:miter lim="400000"/>
          </a:ln>
        </p:spPr>
      </p:pic>
      <p:pic>
        <p:nvPicPr>
          <p:cNvPr id="289" name="mariadb-color.png" descr="mariadb-color.png"/>
          <p:cNvPicPr>
            <a:picLocks noChangeAspect="1"/>
          </p:cNvPicPr>
          <p:nvPr/>
        </p:nvPicPr>
        <p:blipFill>
          <a:blip r:embed="rId47">
            <a:extLst/>
          </a:blip>
          <a:stretch>
            <a:fillRect/>
          </a:stretch>
        </p:blipFill>
        <p:spPr>
          <a:xfrm>
            <a:off x="8470900" y="5842000"/>
            <a:ext cx="1630059" cy="241300"/>
          </a:xfrm>
          <a:prstGeom prst="rect">
            <a:avLst/>
          </a:prstGeom>
          <a:ln w="12700">
            <a:miter lim="400000"/>
          </a:ln>
        </p:spPr>
      </p:pic>
      <p:pic>
        <p:nvPicPr>
          <p:cNvPr id="290" name="ovh-color.png" descr="ovh-color.png"/>
          <p:cNvPicPr>
            <a:picLocks noChangeAspect="1"/>
          </p:cNvPicPr>
          <p:nvPr/>
        </p:nvPicPr>
        <p:blipFill>
          <a:blip r:embed="rId48">
            <a:extLst/>
          </a:blip>
          <a:stretch>
            <a:fillRect/>
          </a:stretch>
        </p:blipFill>
        <p:spPr>
          <a:xfrm>
            <a:off x="11607800" y="5854700"/>
            <a:ext cx="1802514" cy="215900"/>
          </a:xfrm>
          <a:prstGeom prst="rect">
            <a:avLst/>
          </a:prstGeom>
          <a:ln w="12700">
            <a:miter lim="400000"/>
          </a:ln>
        </p:spPr>
      </p:pic>
      <p:pic>
        <p:nvPicPr>
          <p:cNvPr id="291" name="knative-color.png" descr="knative-color.png"/>
          <p:cNvPicPr>
            <a:picLocks noChangeAspect="1"/>
          </p:cNvPicPr>
          <p:nvPr/>
        </p:nvPicPr>
        <p:blipFill>
          <a:blip r:embed="rId49">
            <a:extLst/>
          </a:blip>
          <a:stretch>
            <a:fillRect/>
          </a:stretch>
        </p:blipFill>
        <p:spPr>
          <a:xfrm>
            <a:off x="14973300" y="5803900"/>
            <a:ext cx="1503336" cy="304800"/>
          </a:xfrm>
          <a:prstGeom prst="rect">
            <a:avLst/>
          </a:prstGeom>
          <a:ln w="12700">
            <a:miter lim="400000"/>
          </a:ln>
        </p:spPr>
      </p:pic>
      <p:pic>
        <p:nvPicPr>
          <p:cNvPr id="292" name="googlecloud-color.png" descr="googlecloud-color.png"/>
          <p:cNvPicPr>
            <a:picLocks noChangeAspect="1"/>
          </p:cNvPicPr>
          <p:nvPr/>
        </p:nvPicPr>
        <p:blipFill>
          <a:blip r:embed="rId50">
            <a:extLst/>
          </a:blip>
          <a:stretch>
            <a:fillRect/>
          </a:stretch>
        </p:blipFill>
        <p:spPr>
          <a:xfrm>
            <a:off x="17983200" y="5803900"/>
            <a:ext cx="2243528" cy="304801"/>
          </a:xfrm>
          <a:prstGeom prst="rect">
            <a:avLst/>
          </a:prstGeom>
          <a:ln w="12700">
            <a:miter lim="400000"/>
          </a:ln>
        </p:spPr>
      </p:pic>
      <p:pic>
        <p:nvPicPr>
          <p:cNvPr id="293" name="turso-color.png" descr="turso-color.png"/>
          <p:cNvPicPr>
            <a:picLocks noChangeAspect="1"/>
          </p:cNvPicPr>
          <p:nvPr/>
        </p:nvPicPr>
        <p:blipFill>
          <a:blip r:embed="rId51">
            <a:extLst/>
          </a:blip>
          <a:stretch>
            <a:fillRect/>
          </a:stretch>
        </p:blipFill>
        <p:spPr>
          <a:xfrm>
            <a:off x="21793200" y="5778500"/>
            <a:ext cx="1225110" cy="368301"/>
          </a:xfrm>
          <a:prstGeom prst="rect">
            <a:avLst/>
          </a:prstGeom>
          <a:ln w="12700">
            <a:miter lim="400000"/>
          </a:ln>
        </p:spPr>
      </p:pic>
      <p:pic>
        <p:nvPicPr>
          <p:cNvPr id="294" name="flydotio-color.png" descr="flydotio-color.png"/>
          <p:cNvPicPr>
            <a:picLocks noChangeAspect="1"/>
          </p:cNvPicPr>
          <p:nvPr/>
        </p:nvPicPr>
        <p:blipFill>
          <a:blip r:embed="rId52">
            <a:extLst/>
          </a:blip>
          <a:stretch>
            <a:fillRect/>
          </a:stretch>
        </p:blipFill>
        <p:spPr>
          <a:xfrm>
            <a:off x="1320800" y="6654799"/>
            <a:ext cx="1127919" cy="368301"/>
          </a:xfrm>
          <a:prstGeom prst="rect">
            <a:avLst/>
          </a:prstGeom>
          <a:ln w="12700">
            <a:miter lim="400000"/>
          </a:ln>
        </p:spPr>
      </p:pic>
      <p:pic>
        <p:nvPicPr>
          <p:cNvPr id="295" name="rabbitmq-color.png" descr="rabbitmq-color.png"/>
          <p:cNvPicPr>
            <a:picLocks noChangeAspect="1"/>
          </p:cNvPicPr>
          <p:nvPr/>
        </p:nvPicPr>
        <p:blipFill>
          <a:blip r:embed="rId53">
            <a:extLst/>
          </a:blip>
          <a:stretch>
            <a:fillRect/>
          </a:stretch>
        </p:blipFill>
        <p:spPr>
          <a:xfrm>
            <a:off x="3492499" y="6654800"/>
            <a:ext cx="1808252" cy="368301"/>
          </a:xfrm>
          <a:prstGeom prst="rect">
            <a:avLst/>
          </a:prstGeom>
          <a:ln w="12700">
            <a:miter lim="400000"/>
          </a:ln>
        </p:spPr>
      </p:pic>
      <p:pic>
        <p:nvPicPr>
          <p:cNvPr id="296" name="traefikproxy-color.png" descr="traefikproxy-color.png"/>
          <p:cNvPicPr>
            <a:picLocks noChangeAspect="1"/>
          </p:cNvPicPr>
          <p:nvPr/>
        </p:nvPicPr>
        <p:blipFill>
          <a:blip r:embed="rId54">
            <a:extLst/>
          </a:blip>
          <a:stretch>
            <a:fillRect/>
          </a:stretch>
        </p:blipFill>
        <p:spPr>
          <a:xfrm>
            <a:off x="6337300" y="6616700"/>
            <a:ext cx="1200150" cy="457201"/>
          </a:xfrm>
          <a:prstGeom prst="rect">
            <a:avLst/>
          </a:prstGeom>
          <a:ln w="12700">
            <a:miter lim="400000"/>
          </a:ln>
        </p:spPr>
      </p:pic>
      <p:pic>
        <p:nvPicPr>
          <p:cNvPr id="297" name="hetzner-color.png" descr="hetzner-color.png"/>
          <p:cNvPicPr>
            <a:picLocks noChangeAspect="1"/>
          </p:cNvPicPr>
          <p:nvPr/>
        </p:nvPicPr>
        <p:blipFill>
          <a:blip r:embed="rId55">
            <a:extLst/>
          </a:blip>
          <a:stretch>
            <a:fillRect/>
          </a:stretch>
        </p:blipFill>
        <p:spPr>
          <a:xfrm>
            <a:off x="8585200" y="6654799"/>
            <a:ext cx="1557603" cy="368301"/>
          </a:xfrm>
          <a:prstGeom prst="rect">
            <a:avLst/>
          </a:prstGeom>
          <a:ln w="12700">
            <a:miter lim="400000"/>
          </a:ln>
        </p:spPr>
      </p:pic>
      <p:pic>
        <p:nvPicPr>
          <p:cNvPr id="298" name="pantheon-color.png" descr="pantheon-color.png"/>
          <p:cNvPicPr>
            <a:picLocks noChangeAspect="1"/>
          </p:cNvPicPr>
          <p:nvPr/>
        </p:nvPicPr>
        <p:blipFill>
          <a:blip r:embed="rId56">
            <a:extLst/>
          </a:blip>
          <a:stretch>
            <a:fillRect/>
          </a:stretch>
        </p:blipFill>
        <p:spPr>
          <a:xfrm>
            <a:off x="11188700" y="6654800"/>
            <a:ext cx="1654793" cy="368300"/>
          </a:xfrm>
          <a:prstGeom prst="rect">
            <a:avLst/>
          </a:prstGeom>
          <a:ln w="12700">
            <a:miter lim="400000"/>
          </a:ln>
        </p:spPr>
      </p:pic>
      <p:pic>
        <p:nvPicPr>
          <p:cNvPr id="299" name="azure-color.png" descr="azure-color.png"/>
          <p:cNvPicPr>
            <a:picLocks noChangeAspect="1"/>
          </p:cNvPicPr>
          <p:nvPr/>
        </p:nvPicPr>
        <p:blipFill>
          <a:blip r:embed="rId57">
            <a:extLst/>
          </a:blip>
          <a:stretch>
            <a:fillRect/>
          </a:stretch>
        </p:blipFill>
        <p:spPr>
          <a:xfrm>
            <a:off x="13881099" y="6629400"/>
            <a:ext cx="1345225" cy="431800"/>
          </a:xfrm>
          <a:prstGeom prst="rect">
            <a:avLst/>
          </a:prstGeom>
          <a:ln w="12700">
            <a:miter lim="400000"/>
          </a:ln>
        </p:spPr>
      </p:pic>
      <p:pic>
        <p:nvPicPr>
          <p:cNvPr id="300" name="github-color.png" descr="github-color.png"/>
          <p:cNvPicPr>
            <a:picLocks noChangeAspect="1"/>
          </p:cNvPicPr>
          <p:nvPr/>
        </p:nvPicPr>
        <p:blipFill>
          <a:blip r:embed="rId58">
            <a:extLst/>
          </a:blip>
          <a:stretch>
            <a:fillRect/>
          </a:stretch>
        </p:blipFill>
        <p:spPr>
          <a:xfrm>
            <a:off x="16281400" y="6667499"/>
            <a:ext cx="1397190" cy="342901"/>
          </a:xfrm>
          <a:prstGeom prst="rect">
            <a:avLst/>
          </a:prstGeom>
          <a:ln w="12700">
            <a:miter lim="400000"/>
          </a:ln>
        </p:spPr>
      </p:pic>
      <p:pic>
        <p:nvPicPr>
          <p:cNvPr id="301" name="betterstack-color.png" descr="betterstack-color.png"/>
          <p:cNvPicPr>
            <a:picLocks noChangeAspect="1"/>
          </p:cNvPicPr>
          <p:nvPr/>
        </p:nvPicPr>
        <p:blipFill>
          <a:blip r:embed="rId59">
            <a:extLst/>
          </a:blip>
          <a:stretch>
            <a:fillRect/>
          </a:stretch>
        </p:blipFill>
        <p:spPr>
          <a:xfrm>
            <a:off x="18719800" y="6692900"/>
            <a:ext cx="2147192" cy="292100"/>
          </a:xfrm>
          <a:prstGeom prst="rect">
            <a:avLst/>
          </a:prstGeom>
          <a:ln w="12700">
            <a:miter lim="400000"/>
          </a:ln>
        </p:spPr>
      </p:pic>
      <p:pic>
        <p:nvPicPr>
          <p:cNvPr id="302" name="gnubash-color.png" descr="gnubash-color.png"/>
          <p:cNvPicPr>
            <a:picLocks noChangeAspect="1"/>
          </p:cNvPicPr>
          <p:nvPr/>
        </p:nvPicPr>
        <p:blipFill>
          <a:blip r:embed="rId60">
            <a:extLst/>
          </a:blip>
          <a:stretch>
            <a:fillRect/>
          </a:stretch>
        </p:blipFill>
        <p:spPr>
          <a:xfrm>
            <a:off x="21907500" y="6654800"/>
            <a:ext cx="1107458" cy="368300"/>
          </a:xfrm>
          <a:prstGeom prst="rect">
            <a:avLst/>
          </a:prstGeom>
          <a:ln w="12700">
            <a:miter lim="400000"/>
          </a:ln>
        </p:spPr>
      </p:pic>
      <p:pic>
        <p:nvPicPr>
          <p:cNvPr id="303" name="splunk-color.png" descr="splunk-color.png"/>
          <p:cNvPicPr>
            <a:picLocks noChangeAspect="1"/>
          </p:cNvPicPr>
          <p:nvPr/>
        </p:nvPicPr>
        <p:blipFill>
          <a:blip r:embed="rId61">
            <a:extLst/>
          </a:blip>
          <a:stretch>
            <a:fillRect/>
          </a:stretch>
        </p:blipFill>
        <p:spPr>
          <a:xfrm>
            <a:off x="1320800" y="7518400"/>
            <a:ext cx="1408177" cy="419100"/>
          </a:xfrm>
          <a:prstGeom prst="rect">
            <a:avLst/>
          </a:prstGeom>
          <a:ln w="12700">
            <a:miter lim="400000"/>
          </a:ln>
        </p:spPr>
      </p:pic>
      <p:pic>
        <p:nvPicPr>
          <p:cNvPr id="304" name="skynet-color.png" descr="skynet-color.png"/>
          <p:cNvPicPr>
            <a:picLocks noChangeAspect="1"/>
          </p:cNvPicPr>
          <p:nvPr/>
        </p:nvPicPr>
        <p:blipFill>
          <a:blip r:embed="rId62">
            <a:extLst/>
          </a:blip>
          <a:stretch>
            <a:fillRect/>
          </a:stretch>
        </p:blipFill>
        <p:spPr>
          <a:xfrm>
            <a:off x="3695700" y="7543800"/>
            <a:ext cx="1750060" cy="355601"/>
          </a:xfrm>
          <a:prstGeom prst="rect">
            <a:avLst/>
          </a:prstGeom>
          <a:ln w="12700">
            <a:miter lim="400000"/>
          </a:ln>
        </p:spPr>
      </p:pic>
      <p:pic>
        <p:nvPicPr>
          <p:cNvPr id="305" name="newrelic-color.png" descr="newrelic-color.png"/>
          <p:cNvPicPr>
            <a:picLocks noChangeAspect="1"/>
          </p:cNvPicPr>
          <p:nvPr/>
        </p:nvPicPr>
        <p:blipFill>
          <a:blip r:embed="rId63">
            <a:extLst/>
          </a:blip>
          <a:stretch>
            <a:fillRect/>
          </a:stretch>
        </p:blipFill>
        <p:spPr>
          <a:xfrm>
            <a:off x="6438899" y="7543799"/>
            <a:ext cx="1790349" cy="368301"/>
          </a:xfrm>
          <a:prstGeom prst="rect">
            <a:avLst/>
          </a:prstGeom>
          <a:ln w="12700">
            <a:miter lim="400000"/>
          </a:ln>
        </p:spPr>
      </p:pic>
      <p:pic>
        <p:nvPicPr>
          <p:cNvPr id="306" name="planetscale-color.png" descr="planetscale-color.png"/>
          <p:cNvPicPr>
            <a:picLocks noChangeAspect="1"/>
          </p:cNvPicPr>
          <p:nvPr/>
        </p:nvPicPr>
        <p:blipFill>
          <a:blip r:embed="rId64">
            <a:extLst/>
          </a:blip>
          <a:stretch>
            <a:fillRect/>
          </a:stretch>
        </p:blipFill>
        <p:spPr>
          <a:xfrm>
            <a:off x="9194800" y="7543800"/>
            <a:ext cx="2071688" cy="368300"/>
          </a:xfrm>
          <a:prstGeom prst="rect">
            <a:avLst/>
          </a:prstGeom>
          <a:ln w="12700">
            <a:miter lim="400000"/>
          </a:ln>
        </p:spPr>
      </p:pic>
      <p:pic>
        <p:nvPicPr>
          <p:cNvPr id="307" name="circleci-color.png" descr="circleci-color.png"/>
          <p:cNvPicPr>
            <a:picLocks noChangeAspect="1"/>
          </p:cNvPicPr>
          <p:nvPr/>
        </p:nvPicPr>
        <p:blipFill>
          <a:blip r:embed="rId65">
            <a:extLst/>
          </a:blip>
          <a:stretch>
            <a:fillRect/>
          </a:stretch>
        </p:blipFill>
        <p:spPr>
          <a:xfrm>
            <a:off x="12242800" y="7543800"/>
            <a:ext cx="1529469" cy="368300"/>
          </a:xfrm>
          <a:prstGeom prst="rect">
            <a:avLst/>
          </a:prstGeom>
          <a:ln w="12700">
            <a:miter lim="400000"/>
          </a:ln>
        </p:spPr>
      </p:pic>
      <p:pic>
        <p:nvPicPr>
          <p:cNvPr id="308" name="deno-color.png" descr="deno-color.png"/>
          <p:cNvPicPr>
            <a:picLocks noChangeAspect="1"/>
          </p:cNvPicPr>
          <p:nvPr/>
        </p:nvPicPr>
        <p:blipFill>
          <a:blip r:embed="rId66">
            <a:extLst/>
          </a:blip>
          <a:stretch>
            <a:fillRect/>
          </a:stretch>
        </p:blipFill>
        <p:spPr>
          <a:xfrm>
            <a:off x="14744699" y="7556500"/>
            <a:ext cx="1153200" cy="330201"/>
          </a:xfrm>
          <a:prstGeom prst="rect">
            <a:avLst/>
          </a:prstGeom>
          <a:ln w="12700">
            <a:miter lim="400000"/>
          </a:ln>
        </p:spPr>
      </p:pic>
      <p:pic>
        <p:nvPicPr>
          <p:cNvPr id="309" name="nginx-color.png" descr="nginx-color.png"/>
          <p:cNvPicPr>
            <a:picLocks noChangeAspect="1"/>
          </p:cNvPicPr>
          <p:nvPr/>
        </p:nvPicPr>
        <p:blipFill>
          <a:blip r:embed="rId67">
            <a:extLst/>
          </a:blip>
          <a:stretch>
            <a:fillRect/>
          </a:stretch>
        </p:blipFill>
        <p:spPr>
          <a:xfrm>
            <a:off x="16891000" y="7543799"/>
            <a:ext cx="1676400" cy="355601"/>
          </a:xfrm>
          <a:prstGeom prst="rect">
            <a:avLst/>
          </a:prstGeom>
          <a:ln w="12700">
            <a:miter lim="400000"/>
          </a:ln>
        </p:spPr>
      </p:pic>
      <p:pic>
        <p:nvPicPr>
          <p:cNvPr id="310" name="litespeed-color.png" descr="litespeed-color.png"/>
          <p:cNvPicPr>
            <a:picLocks noChangeAspect="1"/>
          </p:cNvPicPr>
          <p:nvPr/>
        </p:nvPicPr>
        <p:blipFill>
          <a:blip r:embed="rId68">
            <a:extLst/>
          </a:blip>
          <a:stretch>
            <a:fillRect/>
          </a:stretch>
        </p:blipFill>
        <p:spPr>
          <a:xfrm>
            <a:off x="19532600" y="7581899"/>
            <a:ext cx="1335481" cy="279401"/>
          </a:xfrm>
          <a:prstGeom prst="rect">
            <a:avLst/>
          </a:prstGeom>
          <a:ln w="12700">
            <a:miter lim="400000"/>
          </a:ln>
        </p:spPr>
      </p:pic>
      <p:pic>
        <p:nvPicPr>
          <p:cNvPr id="311" name="apache-color.png" descr="apache-color.png"/>
          <p:cNvPicPr>
            <a:picLocks noChangeAspect="1"/>
          </p:cNvPicPr>
          <p:nvPr/>
        </p:nvPicPr>
        <p:blipFill>
          <a:blip r:embed="rId69">
            <a:extLst/>
          </a:blip>
          <a:stretch>
            <a:fillRect/>
          </a:stretch>
        </p:blipFill>
        <p:spPr>
          <a:xfrm>
            <a:off x="21831300" y="7493000"/>
            <a:ext cx="1181687" cy="457200"/>
          </a:xfrm>
          <a:prstGeom prst="rect">
            <a:avLst/>
          </a:prstGeom>
          <a:ln w="12700">
            <a:miter lim="400000"/>
          </a:ln>
        </p:spPr>
      </p:pic>
      <p:pic>
        <p:nvPicPr>
          <p:cNvPr id="312" name="rockylinux-color.png" descr="rockylinux-color.png"/>
          <p:cNvPicPr>
            <a:picLocks noChangeAspect="1"/>
          </p:cNvPicPr>
          <p:nvPr/>
        </p:nvPicPr>
        <p:blipFill>
          <a:blip r:embed="rId70">
            <a:extLst/>
          </a:blip>
          <a:stretch>
            <a:fillRect/>
          </a:stretch>
        </p:blipFill>
        <p:spPr>
          <a:xfrm>
            <a:off x="1320799" y="8420100"/>
            <a:ext cx="2125399" cy="368300"/>
          </a:xfrm>
          <a:prstGeom prst="rect">
            <a:avLst/>
          </a:prstGeom>
          <a:ln w="12700">
            <a:miter lim="400000"/>
          </a:ln>
        </p:spPr>
      </p:pic>
      <p:pic>
        <p:nvPicPr>
          <p:cNvPr id="313" name="redis-color.png" descr="redis-color.png"/>
          <p:cNvPicPr>
            <a:picLocks noChangeAspect="1"/>
          </p:cNvPicPr>
          <p:nvPr/>
        </p:nvPicPr>
        <p:blipFill>
          <a:blip r:embed="rId71">
            <a:extLst/>
          </a:blip>
          <a:stretch>
            <a:fillRect/>
          </a:stretch>
        </p:blipFill>
        <p:spPr>
          <a:xfrm>
            <a:off x="4622800" y="8432800"/>
            <a:ext cx="1212945" cy="342901"/>
          </a:xfrm>
          <a:prstGeom prst="rect">
            <a:avLst/>
          </a:prstGeom>
          <a:ln w="12700">
            <a:miter lim="400000"/>
          </a:ln>
        </p:spPr>
      </p:pic>
      <p:pic>
        <p:nvPicPr>
          <p:cNvPr id="314" name="aws-color.png" descr="aws-color.png"/>
          <p:cNvPicPr>
            <a:picLocks noChangeAspect="1"/>
          </p:cNvPicPr>
          <p:nvPr/>
        </p:nvPicPr>
        <p:blipFill>
          <a:blip r:embed="rId72">
            <a:extLst/>
          </a:blip>
          <a:stretch>
            <a:fillRect/>
          </a:stretch>
        </p:blipFill>
        <p:spPr>
          <a:xfrm>
            <a:off x="7035799" y="8381999"/>
            <a:ext cx="763525" cy="457201"/>
          </a:xfrm>
          <a:prstGeom prst="rect">
            <a:avLst/>
          </a:prstGeom>
          <a:ln w="12700">
            <a:miter lim="400000"/>
          </a:ln>
        </p:spPr>
      </p:pic>
      <p:pic>
        <p:nvPicPr>
          <p:cNvPr id="315" name="opentelemetry-color.png" descr="opentelemetry-color.png"/>
          <p:cNvPicPr>
            <a:picLocks noChangeAspect="1"/>
          </p:cNvPicPr>
          <p:nvPr/>
        </p:nvPicPr>
        <p:blipFill>
          <a:blip r:embed="rId73">
            <a:extLst/>
          </a:blip>
          <a:stretch>
            <a:fillRect/>
          </a:stretch>
        </p:blipFill>
        <p:spPr>
          <a:xfrm>
            <a:off x="8991599" y="8420099"/>
            <a:ext cx="2557640" cy="368301"/>
          </a:xfrm>
          <a:prstGeom prst="rect">
            <a:avLst/>
          </a:prstGeom>
          <a:ln w="12700">
            <a:miter lim="400000"/>
          </a:ln>
        </p:spPr>
      </p:pic>
      <p:pic>
        <p:nvPicPr>
          <p:cNvPr id="316" name="alpinelinux-color.png" descr="alpinelinux-color.png"/>
          <p:cNvPicPr>
            <a:picLocks noChangeAspect="1"/>
          </p:cNvPicPr>
          <p:nvPr/>
        </p:nvPicPr>
        <p:blipFill>
          <a:blip r:embed="rId74">
            <a:extLst/>
          </a:blip>
          <a:stretch>
            <a:fillRect/>
          </a:stretch>
        </p:blipFill>
        <p:spPr>
          <a:xfrm>
            <a:off x="12725400" y="8445500"/>
            <a:ext cx="2097501" cy="317500"/>
          </a:xfrm>
          <a:prstGeom prst="rect">
            <a:avLst/>
          </a:prstGeom>
          <a:ln w="12700">
            <a:miter lim="400000"/>
          </a:ln>
        </p:spPr>
      </p:pic>
      <p:pic>
        <p:nvPicPr>
          <p:cNvPr id="317" name="mailgun-color.png" descr="mailgun-color.png"/>
          <p:cNvPicPr>
            <a:picLocks noChangeAspect="1"/>
          </p:cNvPicPr>
          <p:nvPr/>
        </p:nvPicPr>
        <p:blipFill>
          <a:blip r:embed="rId75">
            <a:extLst/>
          </a:blip>
          <a:stretch>
            <a:fillRect/>
          </a:stretch>
        </p:blipFill>
        <p:spPr>
          <a:xfrm>
            <a:off x="16052800" y="8420100"/>
            <a:ext cx="1539699" cy="368301"/>
          </a:xfrm>
          <a:prstGeom prst="rect">
            <a:avLst/>
          </a:prstGeom>
          <a:ln w="12700">
            <a:miter lim="400000"/>
          </a:ln>
        </p:spPr>
      </p:pic>
      <p:pic>
        <p:nvPicPr>
          <p:cNvPr id="318" name="cpanel-color.png" descr="cpanel-color.png"/>
          <p:cNvPicPr>
            <a:picLocks noChangeAspect="1"/>
          </p:cNvPicPr>
          <p:nvPr/>
        </p:nvPicPr>
        <p:blipFill>
          <a:blip r:embed="rId76">
            <a:extLst/>
          </a:blip>
          <a:stretch>
            <a:fillRect/>
          </a:stretch>
        </p:blipFill>
        <p:spPr>
          <a:xfrm>
            <a:off x="18783300" y="8432800"/>
            <a:ext cx="1572127" cy="355601"/>
          </a:xfrm>
          <a:prstGeom prst="rect">
            <a:avLst/>
          </a:prstGeom>
          <a:ln w="12700">
            <a:miter lim="400000"/>
          </a:ln>
        </p:spPr>
      </p:pic>
      <p:pic>
        <p:nvPicPr>
          <p:cNvPr id="319" name="render-color.png" descr="render-color.png"/>
          <p:cNvPicPr>
            <a:picLocks noChangeAspect="1"/>
          </p:cNvPicPr>
          <p:nvPr/>
        </p:nvPicPr>
        <p:blipFill>
          <a:blip r:embed="rId77">
            <a:extLst/>
          </a:blip>
          <a:stretch>
            <a:fillRect/>
          </a:stretch>
        </p:blipFill>
        <p:spPr>
          <a:xfrm>
            <a:off x="21577300" y="8420099"/>
            <a:ext cx="1445066" cy="368301"/>
          </a:xfrm>
          <a:prstGeom prst="rect">
            <a:avLst/>
          </a:prstGeom>
          <a:ln w="12700">
            <a:miter lim="400000"/>
          </a:ln>
        </p:spPr>
      </p:pic>
      <p:pic>
        <p:nvPicPr>
          <p:cNvPr id="320" name="caddy-color.png" descr="caddy-color.png"/>
          <p:cNvPicPr>
            <a:picLocks noChangeAspect="1"/>
          </p:cNvPicPr>
          <p:nvPr/>
        </p:nvPicPr>
        <p:blipFill>
          <a:blip r:embed="rId78">
            <a:extLst/>
          </a:blip>
          <a:stretch>
            <a:fillRect/>
          </a:stretch>
        </p:blipFill>
        <p:spPr>
          <a:xfrm>
            <a:off x="1320799" y="9309100"/>
            <a:ext cx="1351281" cy="355601"/>
          </a:xfrm>
          <a:prstGeom prst="rect">
            <a:avLst/>
          </a:prstGeom>
          <a:ln w="12700">
            <a:miter lim="400000"/>
          </a:ln>
        </p:spPr>
      </p:pic>
      <p:pic>
        <p:nvPicPr>
          <p:cNvPr id="321" name="mysql-color.png" descr="mysql-color.png"/>
          <p:cNvPicPr>
            <a:picLocks noChangeAspect="1"/>
          </p:cNvPicPr>
          <p:nvPr/>
        </p:nvPicPr>
        <p:blipFill>
          <a:blip r:embed="rId79">
            <a:extLst/>
          </a:blip>
          <a:stretch>
            <a:fillRect/>
          </a:stretch>
        </p:blipFill>
        <p:spPr>
          <a:xfrm>
            <a:off x="3924300" y="9309099"/>
            <a:ext cx="1424905" cy="355601"/>
          </a:xfrm>
          <a:prstGeom prst="rect">
            <a:avLst/>
          </a:prstGeom>
          <a:ln w="12700">
            <a:miter lim="400000"/>
          </a:ln>
        </p:spPr>
      </p:pic>
      <p:pic>
        <p:nvPicPr>
          <p:cNvPr id="322" name="digitalocean-color.png" descr="digitalocean-color.png"/>
          <p:cNvPicPr>
            <a:picLocks noChangeAspect="1"/>
          </p:cNvPicPr>
          <p:nvPr/>
        </p:nvPicPr>
        <p:blipFill>
          <a:blip r:embed="rId80">
            <a:extLst/>
          </a:blip>
          <a:stretch>
            <a:fillRect/>
          </a:stretch>
        </p:blipFill>
        <p:spPr>
          <a:xfrm>
            <a:off x="6642099" y="9309100"/>
            <a:ext cx="2204686" cy="368300"/>
          </a:xfrm>
          <a:prstGeom prst="rect">
            <a:avLst/>
          </a:prstGeom>
          <a:ln w="12700">
            <a:miter lim="400000"/>
          </a:ln>
        </p:spPr>
      </p:pic>
      <p:pic>
        <p:nvPicPr>
          <p:cNvPr id="323" name="valkey-color.png" descr="valkey-color.png"/>
          <p:cNvPicPr>
            <a:picLocks noChangeAspect="1"/>
          </p:cNvPicPr>
          <p:nvPr/>
        </p:nvPicPr>
        <p:blipFill>
          <a:blip r:embed="rId81">
            <a:extLst/>
          </a:blip>
          <a:stretch>
            <a:fillRect/>
          </a:stretch>
        </p:blipFill>
        <p:spPr>
          <a:xfrm>
            <a:off x="10083800" y="9283700"/>
            <a:ext cx="1408056" cy="419100"/>
          </a:xfrm>
          <a:prstGeom prst="rect">
            <a:avLst/>
          </a:prstGeom>
          <a:ln w="12700">
            <a:miter lim="400000"/>
          </a:ln>
        </p:spPr>
      </p:pic>
      <p:pic>
        <p:nvPicPr>
          <p:cNvPr id="324" name="mongodb-color.png" descr="mongodb-color.png"/>
          <p:cNvPicPr>
            <a:picLocks noChangeAspect="1"/>
          </p:cNvPicPr>
          <p:nvPr/>
        </p:nvPicPr>
        <p:blipFill>
          <a:blip r:embed="rId82">
            <a:extLst/>
          </a:blip>
          <a:stretch>
            <a:fillRect/>
          </a:stretch>
        </p:blipFill>
        <p:spPr>
          <a:xfrm>
            <a:off x="12738099" y="9309099"/>
            <a:ext cx="1718735" cy="355601"/>
          </a:xfrm>
          <a:prstGeom prst="rect">
            <a:avLst/>
          </a:prstGeom>
          <a:ln w="12700">
            <a:miter lim="400000"/>
          </a:ln>
        </p:spPr>
      </p:pic>
      <p:pic>
        <p:nvPicPr>
          <p:cNvPr id="325" name="kinsta-color.png" descr="kinsta-color.png"/>
          <p:cNvPicPr>
            <a:picLocks noChangeAspect="1"/>
          </p:cNvPicPr>
          <p:nvPr/>
        </p:nvPicPr>
        <p:blipFill>
          <a:blip r:embed="rId83">
            <a:extLst/>
          </a:blip>
          <a:stretch>
            <a:fillRect/>
          </a:stretch>
        </p:blipFill>
        <p:spPr>
          <a:xfrm>
            <a:off x="15684500" y="9321799"/>
            <a:ext cx="1694330" cy="342901"/>
          </a:xfrm>
          <a:prstGeom prst="rect">
            <a:avLst/>
          </a:prstGeom>
          <a:ln w="12700">
            <a:miter lim="400000"/>
          </a:ln>
        </p:spPr>
      </p:pic>
      <p:pic>
        <p:nvPicPr>
          <p:cNvPr id="326" name="vagrant-color.png" descr="vagrant-color.png"/>
          <p:cNvPicPr>
            <a:picLocks noChangeAspect="1"/>
          </p:cNvPicPr>
          <p:nvPr/>
        </p:nvPicPr>
        <p:blipFill>
          <a:blip r:embed="rId84">
            <a:extLst/>
          </a:blip>
          <a:stretch>
            <a:fillRect/>
          </a:stretch>
        </p:blipFill>
        <p:spPr>
          <a:xfrm>
            <a:off x="18643600" y="9283700"/>
            <a:ext cx="1466574" cy="406401"/>
          </a:xfrm>
          <a:prstGeom prst="rect">
            <a:avLst/>
          </a:prstGeom>
          <a:ln w="12700">
            <a:miter lim="400000"/>
          </a:ln>
        </p:spPr>
      </p:pic>
      <p:pic>
        <p:nvPicPr>
          <p:cNvPr id="327" name="subversion-color.png" descr="subversion-color.png"/>
          <p:cNvPicPr>
            <a:picLocks noChangeAspect="1"/>
          </p:cNvPicPr>
          <p:nvPr/>
        </p:nvPicPr>
        <p:blipFill>
          <a:blip r:embed="rId85">
            <a:extLst/>
          </a:blip>
          <a:stretch>
            <a:fillRect/>
          </a:stretch>
        </p:blipFill>
        <p:spPr>
          <a:xfrm>
            <a:off x="21348699" y="9321800"/>
            <a:ext cx="1645105" cy="342900"/>
          </a:xfrm>
          <a:prstGeom prst="rect">
            <a:avLst/>
          </a:prstGeom>
          <a:ln w="12700">
            <a:miter lim="400000"/>
          </a:ln>
        </p:spPr>
      </p:pic>
      <p:pic>
        <p:nvPicPr>
          <p:cNvPr id="328" name="letsencrypt-color.png" descr="letsencrypt-color.png"/>
          <p:cNvPicPr>
            <a:picLocks noChangeAspect="1"/>
          </p:cNvPicPr>
          <p:nvPr/>
        </p:nvPicPr>
        <p:blipFill>
          <a:blip r:embed="rId86">
            <a:extLst/>
          </a:blip>
          <a:stretch>
            <a:fillRect/>
          </a:stretch>
        </p:blipFill>
        <p:spPr>
          <a:xfrm>
            <a:off x="1320800" y="10185400"/>
            <a:ext cx="2268626" cy="368301"/>
          </a:xfrm>
          <a:prstGeom prst="rect">
            <a:avLst/>
          </a:prstGeom>
          <a:ln w="12700">
            <a:miter lim="400000"/>
          </a:ln>
        </p:spPr>
      </p:pic>
      <p:pic>
        <p:nvPicPr>
          <p:cNvPr id="329" name="redhat-color.png" descr="redhat-color.png"/>
          <p:cNvPicPr>
            <a:picLocks noChangeAspect="1"/>
          </p:cNvPicPr>
          <p:nvPr/>
        </p:nvPicPr>
        <p:blipFill>
          <a:blip r:embed="rId87">
            <a:extLst/>
          </a:blip>
          <a:stretch>
            <a:fillRect/>
          </a:stretch>
        </p:blipFill>
        <p:spPr>
          <a:xfrm>
            <a:off x="4584700" y="10236200"/>
            <a:ext cx="1534161" cy="279400"/>
          </a:xfrm>
          <a:prstGeom prst="rect">
            <a:avLst/>
          </a:prstGeom>
          <a:ln w="12700">
            <a:miter lim="400000"/>
          </a:ln>
        </p:spPr>
      </p:pic>
      <p:pic>
        <p:nvPicPr>
          <p:cNvPr id="330" name="centos-color.png" descr="centos-color.png"/>
          <p:cNvPicPr>
            <a:picLocks noChangeAspect="1"/>
          </p:cNvPicPr>
          <p:nvPr/>
        </p:nvPicPr>
        <p:blipFill>
          <a:blip r:embed="rId88">
            <a:extLst/>
          </a:blip>
          <a:stretch>
            <a:fillRect/>
          </a:stretch>
        </p:blipFill>
        <p:spPr>
          <a:xfrm>
            <a:off x="7137399" y="10172699"/>
            <a:ext cx="1440874" cy="406401"/>
          </a:xfrm>
          <a:prstGeom prst="rect">
            <a:avLst/>
          </a:prstGeom>
          <a:ln w="12700">
            <a:miter lim="400000"/>
          </a:ln>
        </p:spPr>
      </p:pic>
      <p:pic>
        <p:nvPicPr>
          <p:cNvPr id="331" name="plesk-color.png" descr="plesk-color.png"/>
          <p:cNvPicPr>
            <a:picLocks noChangeAspect="1"/>
          </p:cNvPicPr>
          <p:nvPr/>
        </p:nvPicPr>
        <p:blipFill>
          <a:blip r:embed="rId89">
            <a:extLst/>
          </a:blip>
          <a:stretch>
            <a:fillRect/>
          </a:stretch>
        </p:blipFill>
        <p:spPr>
          <a:xfrm>
            <a:off x="9575800" y="10147299"/>
            <a:ext cx="1097280" cy="457201"/>
          </a:xfrm>
          <a:prstGeom prst="rect">
            <a:avLst/>
          </a:prstGeom>
          <a:ln w="12700">
            <a:miter lim="400000"/>
          </a:ln>
        </p:spPr>
      </p:pic>
      <p:pic>
        <p:nvPicPr>
          <p:cNvPr id="332" name="debian-color.png" descr="debian-color.png"/>
          <p:cNvPicPr>
            <a:picLocks noChangeAspect="1"/>
          </p:cNvPicPr>
          <p:nvPr/>
        </p:nvPicPr>
        <p:blipFill>
          <a:blip r:embed="rId90">
            <a:extLst/>
          </a:blip>
          <a:stretch>
            <a:fillRect/>
          </a:stretch>
        </p:blipFill>
        <p:spPr>
          <a:xfrm>
            <a:off x="11684000" y="10198100"/>
            <a:ext cx="1363981" cy="355600"/>
          </a:xfrm>
          <a:prstGeom prst="rect">
            <a:avLst/>
          </a:prstGeom>
          <a:ln w="12700">
            <a:miter lim="400000"/>
          </a:ln>
        </p:spPr>
      </p:pic>
      <p:pic>
        <p:nvPicPr>
          <p:cNvPr id="333" name="perl-color.png" descr="perl-color.png"/>
          <p:cNvPicPr>
            <a:picLocks noChangeAspect="1"/>
          </p:cNvPicPr>
          <p:nvPr/>
        </p:nvPicPr>
        <p:blipFill>
          <a:blip r:embed="rId91">
            <a:extLst/>
          </a:blip>
          <a:stretch>
            <a:fillRect/>
          </a:stretch>
        </p:blipFill>
        <p:spPr>
          <a:xfrm>
            <a:off x="14058900" y="10185399"/>
            <a:ext cx="989807" cy="368301"/>
          </a:xfrm>
          <a:prstGeom prst="rect">
            <a:avLst/>
          </a:prstGeom>
          <a:ln w="12700">
            <a:miter lim="400000"/>
          </a:ln>
        </p:spPr>
      </p:pic>
      <p:pic>
        <p:nvPicPr>
          <p:cNvPr id="334" name="gitlab-color.png" descr="gitlab-color.png"/>
          <p:cNvPicPr>
            <a:picLocks noChangeAspect="1"/>
          </p:cNvPicPr>
          <p:nvPr/>
        </p:nvPicPr>
        <p:blipFill>
          <a:blip r:embed="rId92">
            <a:extLst/>
          </a:blip>
          <a:stretch>
            <a:fillRect/>
          </a:stretch>
        </p:blipFill>
        <p:spPr>
          <a:xfrm>
            <a:off x="16052800" y="10198100"/>
            <a:ext cx="1352827" cy="355600"/>
          </a:xfrm>
          <a:prstGeom prst="rect">
            <a:avLst/>
          </a:prstGeom>
          <a:ln w="12700">
            <a:miter lim="400000"/>
          </a:ln>
        </p:spPr>
      </p:pic>
      <p:pic>
        <p:nvPicPr>
          <p:cNvPr id="335" name="memcached-color.png" descr="memcached-color.png"/>
          <p:cNvPicPr>
            <a:picLocks noChangeAspect="1"/>
          </p:cNvPicPr>
          <p:nvPr/>
        </p:nvPicPr>
        <p:blipFill>
          <a:blip r:embed="rId93">
            <a:extLst/>
          </a:blip>
          <a:stretch>
            <a:fillRect/>
          </a:stretch>
        </p:blipFill>
        <p:spPr>
          <a:xfrm>
            <a:off x="18389600" y="10185400"/>
            <a:ext cx="2148417" cy="368300"/>
          </a:xfrm>
          <a:prstGeom prst="rect">
            <a:avLst/>
          </a:prstGeom>
          <a:ln w="12700">
            <a:miter lim="400000"/>
          </a:ln>
        </p:spPr>
      </p:pic>
      <p:pic>
        <p:nvPicPr>
          <p:cNvPr id="336" name="nodejs-color.png" descr="nodejs-color.png"/>
          <p:cNvPicPr>
            <a:picLocks noChangeAspect="1"/>
          </p:cNvPicPr>
          <p:nvPr/>
        </p:nvPicPr>
        <p:blipFill>
          <a:blip r:embed="rId94">
            <a:extLst/>
          </a:blip>
          <a:stretch>
            <a:fillRect/>
          </a:stretch>
        </p:blipFill>
        <p:spPr>
          <a:xfrm>
            <a:off x="21539200" y="10185400"/>
            <a:ext cx="1485989" cy="368301"/>
          </a:xfrm>
          <a:prstGeom prst="rect">
            <a:avLst/>
          </a:prstGeom>
          <a:ln w="12700">
            <a:miter lim="400000"/>
          </a:ln>
        </p:spPr>
      </p:pic>
      <p:pic>
        <p:nvPicPr>
          <p:cNvPr id="337" name="upcloud-color.png" descr="upcloud-color.png"/>
          <p:cNvPicPr>
            <a:picLocks noChangeAspect="1"/>
          </p:cNvPicPr>
          <p:nvPr/>
        </p:nvPicPr>
        <p:blipFill>
          <a:blip r:embed="rId95">
            <a:extLst/>
          </a:blip>
          <a:stretch>
            <a:fillRect/>
          </a:stretch>
        </p:blipFill>
        <p:spPr>
          <a:xfrm>
            <a:off x="1320800" y="11087099"/>
            <a:ext cx="1796446" cy="330201"/>
          </a:xfrm>
          <a:prstGeom prst="rect">
            <a:avLst/>
          </a:prstGeom>
          <a:ln w="12700">
            <a:miter lim="400000"/>
          </a:ln>
        </p:spPr>
      </p:pic>
      <p:pic>
        <p:nvPicPr>
          <p:cNvPr id="338" name="apachekafka-color.png" descr="apachekafka-color.png"/>
          <p:cNvPicPr>
            <a:picLocks noChangeAspect="1"/>
          </p:cNvPicPr>
          <p:nvPr/>
        </p:nvPicPr>
        <p:blipFill>
          <a:blip r:embed="rId96">
            <a:extLst/>
          </a:blip>
          <a:stretch>
            <a:fillRect/>
          </a:stretch>
        </p:blipFill>
        <p:spPr>
          <a:xfrm>
            <a:off x="4508500" y="11074400"/>
            <a:ext cx="1171399" cy="368301"/>
          </a:xfrm>
          <a:prstGeom prst="rect">
            <a:avLst/>
          </a:prstGeom>
          <a:ln w="12700">
            <a:miter lim="400000"/>
          </a:ln>
        </p:spPr>
      </p:pic>
      <p:pic>
        <p:nvPicPr>
          <p:cNvPr id="339" name="consul-color.png" descr="consul-color.png"/>
          <p:cNvPicPr>
            <a:picLocks noChangeAspect="1"/>
          </p:cNvPicPr>
          <p:nvPr/>
        </p:nvPicPr>
        <p:blipFill>
          <a:blip r:embed="rId97">
            <a:extLst/>
          </a:blip>
          <a:stretch>
            <a:fillRect/>
          </a:stretch>
        </p:blipFill>
        <p:spPr>
          <a:xfrm>
            <a:off x="7086600" y="11074399"/>
            <a:ext cx="1397000" cy="355601"/>
          </a:xfrm>
          <a:prstGeom prst="rect">
            <a:avLst/>
          </a:prstGeom>
          <a:ln w="12700">
            <a:miter lim="400000"/>
          </a:ln>
        </p:spPr>
      </p:pic>
      <p:pic>
        <p:nvPicPr>
          <p:cNvPr id="340" name="heroku-color.png" descr="heroku-color.png"/>
          <p:cNvPicPr>
            <a:picLocks noChangeAspect="1"/>
          </p:cNvPicPr>
          <p:nvPr/>
        </p:nvPicPr>
        <p:blipFill>
          <a:blip r:embed="rId98">
            <a:extLst/>
          </a:blip>
          <a:stretch>
            <a:fillRect/>
          </a:stretch>
        </p:blipFill>
        <p:spPr>
          <a:xfrm>
            <a:off x="9893300" y="11074399"/>
            <a:ext cx="1397000" cy="355601"/>
          </a:xfrm>
          <a:prstGeom prst="rect">
            <a:avLst/>
          </a:prstGeom>
          <a:ln w="12700">
            <a:miter lim="400000"/>
          </a:ln>
        </p:spPr>
      </p:pic>
      <p:pic>
        <p:nvPicPr>
          <p:cNvPr id="341" name="firebase-color.png" descr="firebase-color.png"/>
          <p:cNvPicPr>
            <a:picLocks noChangeAspect="1"/>
          </p:cNvPicPr>
          <p:nvPr/>
        </p:nvPicPr>
        <p:blipFill>
          <a:blip r:embed="rId99">
            <a:extLst/>
          </a:blip>
          <a:stretch>
            <a:fillRect/>
          </a:stretch>
        </p:blipFill>
        <p:spPr>
          <a:xfrm>
            <a:off x="12712700" y="11074400"/>
            <a:ext cx="1590852" cy="368300"/>
          </a:xfrm>
          <a:prstGeom prst="rect">
            <a:avLst/>
          </a:prstGeom>
          <a:ln w="12700">
            <a:miter lim="400000"/>
          </a:ln>
        </p:spPr>
      </p:pic>
      <p:pic>
        <p:nvPicPr>
          <p:cNvPr id="342" name="redhatopenshift-color.png" descr="redhatopenshift-color.png"/>
          <p:cNvPicPr>
            <a:picLocks noChangeAspect="1"/>
          </p:cNvPicPr>
          <p:nvPr/>
        </p:nvPicPr>
        <p:blipFill>
          <a:blip r:embed="rId100">
            <a:extLst/>
          </a:blip>
          <a:stretch>
            <a:fillRect/>
          </a:stretch>
        </p:blipFill>
        <p:spPr>
          <a:xfrm>
            <a:off x="15697200" y="11074400"/>
            <a:ext cx="1829653" cy="342900"/>
          </a:xfrm>
          <a:prstGeom prst="rect">
            <a:avLst/>
          </a:prstGeom>
          <a:ln w="12700">
            <a:miter lim="400000"/>
          </a:ln>
        </p:spPr>
      </p:pic>
      <p:pic>
        <p:nvPicPr>
          <p:cNvPr id="343" name="upstash-color.png" descr="upstash-color.png"/>
          <p:cNvPicPr>
            <a:picLocks noChangeAspect="1"/>
          </p:cNvPicPr>
          <p:nvPr/>
        </p:nvPicPr>
        <p:blipFill>
          <a:blip r:embed="rId101">
            <a:extLst/>
          </a:blip>
          <a:stretch>
            <a:fillRect/>
          </a:stretch>
        </p:blipFill>
        <p:spPr>
          <a:xfrm>
            <a:off x="18923000" y="11074399"/>
            <a:ext cx="1537141" cy="368301"/>
          </a:xfrm>
          <a:prstGeom prst="rect">
            <a:avLst/>
          </a:prstGeom>
          <a:ln w="12700">
            <a:miter lim="400000"/>
          </a:ln>
        </p:spPr>
      </p:pic>
      <p:pic>
        <p:nvPicPr>
          <p:cNvPr id="344" name="vault-color.png" descr="vault-color.png"/>
          <p:cNvPicPr>
            <a:picLocks noChangeAspect="1"/>
          </p:cNvPicPr>
          <p:nvPr/>
        </p:nvPicPr>
        <p:blipFill>
          <a:blip r:embed="rId102">
            <a:extLst/>
          </a:blip>
          <a:stretch>
            <a:fillRect/>
          </a:stretch>
        </p:blipFill>
        <p:spPr>
          <a:xfrm>
            <a:off x="21856700" y="11074400"/>
            <a:ext cx="1163726" cy="368301"/>
          </a:xfrm>
          <a:prstGeom prst="rect">
            <a:avLst/>
          </a:prstGeom>
          <a:ln w="12700">
            <a:miter lim="400000"/>
          </a:ln>
        </p:spPr>
      </p:pic>
      <p:pic>
        <p:nvPicPr>
          <p:cNvPr id="345" name="prog-6.png" descr="prog-6.png"/>
          <p:cNvPicPr>
            <a:picLocks noChangeAspect="1"/>
          </p:cNvPicPr>
          <p:nvPr/>
        </p:nvPicPr>
        <p:blipFill>
          <a:blip r:embed="rId103">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49"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350"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351" name="pulumi-dim.png" descr="pulumi-dim.png"/>
          <p:cNvPicPr>
            <a:picLocks noChangeAspect="1"/>
          </p:cNvPicPr>
          <p:nvPr/>
        </p:nvPicPr>
        <p:blipFill>
          <a:blip r:embed="rId4">
            <a:extLst/>
          </a:blip>
          <a:stretch>
            <a:fillRect/>
          </a:stretch>
        </p:blipFill>
        <p:spPr>
          <a:xfrm>
            <a:off x="1320800" y="1358900"/>
            <a:ext cx="1524000" cy="381000"/>
          </a:xfrm>
          <a:prstGeom prst="rect">
            <a:avLst/>
          </a:prstGeom>
          <a:ln w="12700">
            <a:miter lim="400000"/>
          </a:ln>
        </p:spPr>
      </p:pic>
      <p:pic>
        <p:nvPicPr>
          <p:cNvPr id="352" name="cloudflareworkers-dim.png" descr="cloudflareworkers-dim.png"/>
          <p:cNvPicPr>
            <a:picLocks noChangeAspect="1"/>
          </p:cNvPicPr>
          <p:nvPr/>
        </p:nvPicPr>
        <p:blipFill>
          <a:blip r:embed="rId5">
            <a:extLst/>
          </a:blip>
          <a:stretch>
            <a:fillRect/>
          </a:stretch>
        </p:blipFill>
        <p:spPr>
          <a:xfrm>
            <a:off x="4241800" y="1371600"/>
            <a:ext cx="3104974" cy="368300"/>
          </a:xfrm>
          <a:prstGeom prst="rect">
            <a:avLst/>
          </a:prstGeom>
          <a:ln w="12700">
            <a:miter lim="400000"/>
          </a:ln>
        </p:spPr>
      </p:pic>
      <p:pic>
        <p:nvPicPr>
          <p:cNvPr id="353" name="ansible-color.png" descr="ansible-color.png"/>
          <p:cNvPicPr>
            <a:picLocks noChangeAspect="1"/>
          </p:cNvPicPr>
          <p:nvPr/>
        </p:nvPicPr>
        <p:blipFill>
          <a:blip r:embed="rId6">
            <a:extLst/>
          </a:blip>
          <a:stretch>
            <a:fillRect/>
          </a:stretch>
        </p:blipFill>
        <p:spPr>
          <a:xfrm>
            <a:off x="8737599" y="1371600"/>
            <a:ext cx="1463041" cy="355600"/>
          </a:xfrm>
          <a:prstGeom prst="rect">
            <a:avLst/>
          </a:prstGeom>
          <a:ln w="12700">
            <a:miter lim="400000"/>
          </a:ln>
        </p:spPr>
      </p:pic>
      <p:pic>
        <p:nvPicPr>
          <p:cNvPr id="354" name="openstack-dim.png" descr="openstack-dim.png"/>
          <p:cNvPicPr>
            <a:picLocks noChangeAspect="1"/>
          </p:cNvPicPr>
          <p:nvPr/>
        </p:nvPicPr>
        <p:blipFill>
          <a:blip r:embed="rId7">
            <a:extLst/>
          </a:blip>
          <a:stretch>
            <a:fillRect/>
          </a:stretch>
        </p:blipFill>
        <p:spPr>
          <a:xfrm>
            <a:off x="11595100" y="1397000"/>
            <a:ext cx="1950358" cy="317500"/>
          </a:xfrm>
          <a:prstGeom prst="rect">
            <a:avLst/>
          </a:prstGeom>
          <a:ln w="12700">
            <a:miter lim="400000"/>
          </a:ln>
        </p:spPr>
      </p:pic>
      <p:pic>
        <p:nvPicPr>
          <p:cNvPr id="355" name="sentry-dim.png" descr="sentry-dim.png"/>
          <p:cNvPicPr>
            <a:picLocks noChangeAspect="1"/>
          </p:cNvPicPr>
          <p:nvPr/>
        </p:nvPicPr>
        <p:blipFill>
          <a:blip r:embed="rId8">
            <a:extLst/>
          </a:blip>
          <a:stretch>
            <a:fillRect/>
          </a:stretch>
        </p:blipFill>
        <p:spPr>
          <a:xfrm>
            <a:off x="14960600" y="1371600"/>
            <a:ext cx="1572127" cy="355600"/>
          </a:xfrm>
          <a:prstGeom prst="rect">
            <a:avLst/>
          </a:prstGeom>
          <a:ln w="12700">
            <a:miter lim="400000"/>
          </a:ln>
        </p:spPr>
      </p:pic>
      <p:pic>
        <p:nvPicPr>
          <p:cNvPr id="356" name="serverless-dim.png" descr="serverless-dim.png"/>
          <p:cNvPicPr>
            <a:picLocks noChangeAspect="1"/>
          </p:cNvPicPr>
          <p:nvPr/>
        </p:nvPicPr>
        <p:blipFill>
          <a:blip r:embed="rId9">
            <a:extLst/>
          </a:blip>
          <a:stretch>
            <a:fillRect/>
          </a:stretch>
        </p:blipFill>
        <p:spPr>
          <a:xfrm>
            <a:off x="17970499" y="1397000"/>
            <a:ext cx="1891097" cy="292100"/>
          </a:xfrm>
          <a:prstGeom prst="rect">
            <a:avLst/>
          </a:prstGeom>
          <a:ln w="12700">
            <a:miter lim="400000"/>
          </a:ln>
        </p:spPr>
      </p:pic>
      <p:pic>
        <p:nvPicPr>
          <p:cNvPr id="357" name="scaleway-dim.png" descr="scaleway-dim.png"/>
          <p:cNvPicPr>
            <a:picLocks noChangeAspect="1"/>
          </p:cNvPicPr>
          <p:nvPr/>
        </p:nvPicPr>
        <p:blipFill>
          <a:blip r:embed="rId10">
            <a:extLst/>
          </a:blip>
          <a:stretch>
            <a:fillRect/>
          </a:stretch>
        </p:blipFill>
        <p:spPr>
          <a:xfrm>
            <a:off x="21272500" y="1371599"/>
            <a:ext cx="1749425" cy="368301"/>
          </a:xfrm>
          <a:prstGeom prst="rect">
            <a:avLst/>
          </a:prstGeom>
          <a:ln w="12700">
            <a:miter lim="400000"/>
          </a:ln>
        </p:spPr>
      </p:pic>
      <p:pic>
        <p:nvPicPr>
          <p:cNvPr id="358" name="bitbucket-dim.png" descr="bitbucket-dim.png"/>
          <p:cNvPicPr>
            <a:picLocks noChangeAspect="1"/>
          </p:cNvPicPr>
          <p:nvPr/>
        </p:nvPicPr>
        <p:blipFill>
          <a:blip r:embed="rId11">
            <a:extLst/>
          </a:blip>
          <a:stretch>
            <a:fillRect/>
          </a:stretch>
        </p:blipFill>
        <p:spPr>
          <a:xfrm>
            <a:off x="1320799" y="2260599"/>
            <a:ext cx="1747521" cy="330201"/>
          </a:xfrm>
          <a:prstGeom prst="rect">
            <a:avLst/>
          </a:prstGeom>
          <a:ln w="12700">
            <a:miter lim="400000"/>
          </a:ln>
        </p:spPr>
      </p:pic>
      <p:pic>
        <p:nvPicPr>
          <p:cNvPr id="359" name="jenkins-dim.png" descr="jenkins-dim.png"/>
          <p:cNvPicPr>
            <a:picLocks noChangeAspect="1"/>
          </p:cNvPicPr>
          <p:nvPr/>
        </p:nvPicPr>
        <p:blipFill>
          <a:blip r:embed="rId12">
            <a:extLst/>
          </a:blip>
          <a:stretch>
            <a:fillRect/>
          </a:stretch>
        </p:blipFill>
        <p:spPr>
          <a:xfrm>
            <a:off x="4114800" y="2247900"/>
            <a:ext cx="1509007" cy="368300"/>
          </a:xfrm>
          <a:prstGeom prst="rect">
            <a:avLst/>
          </a:prstGeom>
          <a:ln w="12700">
            <a:miter lim="400000"/>
          </a:ln>
        </p:spPr>
      </p:pic>
      <p:pic>
        <p:nvPicPr>
          <p:cNvPr id="360" name="archlinux-color.png" descr="archlinux-color.png"/>
          <p:cNvPicPr>
            <a:picLocks noChangeAspect="1"/>
          </p:cNvPicPr>
          <p:nvPr/>
        </p:nvPicPr>
        <p:blipFill>
          <a:blip r:embed="rId13">
            <a:extLst/>
          </a:blip>
          <a:stretch>
            <a:fillRect/>
          </a:stretch>
        </p:blipFill>
        <p:spPr>
          <a:xfrm>
            <a:off x="6667499" y="2222500"/>
            <a:ext cx="1417808" cy="419100"/>
          </a:xfrm>
          <a:prstGeom prst="rect">
            <a:avLst/>
          </a:prstGeom>
          <a:ln w="12700">
            <a:miter lim="400000"/>
          </a:ln>
        </p:spPr>
      </p:pic>
      <p:pic>
        <p:nvPicPr>
          <p:cNvPr id="361" name="varnish-dim.png" descr="varnish-dim.png"/>
          <p:cNvPicPr>
            <a:picLocks noChangeAspect="1"/>
          </p:cNvPicPr>
          <p:nvPr/>
        </p:nvPicPr>
        <p:blipFill>
          <a:blip r:embed="rId14">
            <a:extLst/>
          </a:blip>
          <a:stretch>
            <a:fillRect/>
          </a:stretch>
        </p:blipFill>
        <p:spPr>
          <a:xfrm>
            <a:off x="9118600" y="2311400"/>
            <a:ext cx="1028700" cy="228600"/>
          </a:xfrm>
          <a:prstGeom prst="rect">
            <a:avLst/>
          </a:prstGeom>
          <a:ln w="12700">
            <a:miter lim="400000"/>
          </a:ln>
        </p:spPr>
      </p:pic>
      <p:pic>
        <p:nvPicPr>
          <p:cNvPr id="362" name="ubuntu-color.png" descr="ubuntu-color.png"/>
          <p:cNvPicPr>
            <a:picLocks noChangeAspect="1"/>
          </p:cNvPicPr>
          <p:nvPr/>
        </p:nvPicPr>
        <p:blipFill>
          <a:blip r:embed="rId15">
            <a:extLst/>
          </a:blip>
          <a:stretch>
            <a:fillRect/>
          </a:stretch>
        </p:blipFill>
        <p:spPr>
          <a:xfrm>
            <a:off x="11163299" y="2197100"/>
            <a:ext cx="1238866" cy="457200"/>
          </a:xfrm>
          <a:prstGeom prst="rect">
            <a:avLst/>
          </a:prstGeom>
          <a:ln w="12700">
            <a:miter lim="400000"/>
          </a:ln>
        </p:spPr>
      </p:pic>
      <p:pic>
        <p:nvPicPr>
          <p:cNvPr id="363" name="prometheus-dim.png" descr="prometheus-dim.png"/>
          <p:cNvPicPr>
            <a:picLocks noChangeAspect="1"/>
          </p:cNvPicPr>
          <p:nvPr/>
        </p:nvPicPr>
        <p:blipFill>
          <a:blip r:embed="rId16">
            <a:extLst/>
          </a:blip>
          <a:stretch>
            <a:fillRect/>
          </a:stretch>
        </p:blipFill>
        <p:spPr>
          <a:xfrm>
            <a:off x="13462000" y="2247900"/>
            <a:ext cx="2110053" cy="368300"/>
          </a:xfrm>
          <a:prstGeom prst="rect">
            <a:avLst/>
          </a:prstGeom>
          <a:ln w="12700">
            <a:miter lim="400000"/>
          </a:ln>
        </p:spPr>
      </p:pic>
      <p:pic>
        <p:nvPicPr>
          <p:cNvPr id="364" name="netlify-dim.png" descr="netlify-dim.png"/>
          <p:cNvPicPr>
            <a:picLocks noChangeAspect="1"/>
          </p:cNvPicPr>
          <p:nvPr/>
        </p:nvPicPr>
        <p:blipFill>
          <a:blip r:embed="rId17">
            <a:extLst/>
          </a:blip>
          <a:stretch>
            <a:fillRect/>
          </a:stretch>
        </p:blipFill>
        <p:spPr>
          <a:xfrm>
            <a:off x="16598900" y="2197099"/>
            <a:ext cx="1097281" cy="457201"/>
          </a:xfrm>
          <a:prstGeom prst="rect">
            <a:avLst/>
          </a:prstGeom>
          <a:ln w="12700">
            <a:miter lim="400000"/>
          </a:ln>
        </p:spPr>
      </p:pic>
      <p:pic>
        <p:nvPicPr>
          <p:cNvPr id="365" name="supabase-color.png" descr="supabase-color.png"/>
          <p:cNvPicPr>
            <a:picLocks noChangeAspect="1"/>
          </p:cNvPicPr>
          <p:nvPr/>
        </p:nvPicPr>
        <p:blipFill>
          <a:blip r:embed="rId18">
            <a:extLst/>
          </a:blip>
          <a:stretch>
            <a:fillRect/>
          </a:stretch>
        </p:blipFill>
        <p:spPr>
          <a:xfrm>
            <a:off x="18745200" y="2247900"/>
            <a:ext cx="1821039" cy="368301"/>
          </a:xfrm>
          <a:prstGeom prst="rect">
            <a:avLst/>
          </a:prstGeom>
          <a:ln w="12700">
            <a:miter lim="400000"/>
          </a:ln>
        </p:spPr>
      </p:pic>
      <p:pic>
        <p:nvPicPr>
          <p:cNvPr id="366" name="nixos-dim.png" descr="nixos-dim.png"/>
          <p:cNvPicPr>
            <a:picLocks noChangeAspect="1"/>
          </p:cNvPicPr>
          <p:nvPr/>
        </p:nvPicPr>
        <p:blipFill>
          <a:blip r:embed="rId19">
            <a:extLst/>
          </a:blip>
          <a:stretch>
            <a:fillRect/>
          </a:stretch>
        </p:blipFill>
        <p:spPr>
          <a:xfrm>
            <a:off x="21590000" y="2222499"/>
            <a:ext cx="1409430" cy="406401"/>
          </a:xfrm>
          <a:prstGeom prst="rect">
            <a:avLst/>
          </a:prstGeom>
          <a:ln w="12700">
            <a:miter lim="400000"/>
          </a:ln>
        </p:spPr>
      </p:pic>
      <p:pic>
        <p:nvPicPr>
          <p:cNvPr id="367" name="argo-dim.png" descr="argo-dim.png"/>
          <p:cNvPicPr>
            <a:picLocks noChangeAspect="1"/>
          </p:cNvPicPr>
          <p:nvPr/>
        </p:nvPicPr>
        <p:blipFill>
          <a:blip r:embed="rId20">
            <a:extLst/>
          </a:blip>
          <a:stretch>
            <a:fillRect/>
          </a:stretch>
        </p:blipFill>
        <p:spPr>
          <a:xfrm>
            <a:off x="1320800" y="3124200"/>
            <a:ext cx="1570391" cy="368300"/>
          </a:xfrm>
          <a:prstGeom prst="rect">
            <a:avLst/>
          </a:prstGeom>
          <a:ln w="12700">
            <a:miter lim="400000"/>
          </a:ln>
        </p:spPr>
      </p:pic>
      <p:pic>
        <p:nvPicPr>
          <p:cNvPr id="368" name="docker-half.png" descr="docker-half.png"/>
          <p:cNvPicPr>
            <a:picLocks noChangeAspect="1"/>
          </p:cNvPicPr>
          <p:nvPr/>
        </p:nvPicPr>
        <p:blipFill>
          <a:blip r:embed="rId21">
            <a:extLst/>
          </a:blip>
          <a:stretch>
            <a:fillRect/>
          </a:stretch>
        </p:blipFill>
        <p:spPr>
          <a:xfrm>
            <a:off x="4190999" y="3200400"/>
            <a:ext cx="1432561" cy="215900"/>
          </a:xfrm>
          <a:prstGeom prst="rect">
            <a:avLst/>
          </a:prstGeom>
          <a:ln w="12700">
            <a:miter lim="400000"/>
          </a:ln>
        </p:spPr>
      </p:pic>
      <p:pic>
        <p:nvPicPr>
          <p:cNvPr id="369" name="netdata-color.png" descr="netdata-color.png"/>
          <p:cNvPicPr>
            <a:picLocks noChangeAspect="1"/>
          </p:cNvPicPr>
          <p:nvPr/>
        </p:nvPicPr>
        <p:blipFill>
          <a:blip r:embed="rId22">
            <a:extLst/>
          </a:blip>
          <a:stretch>
            <a:fillRect/>
          </a:stretch>
        </p:blipFill>
        <p:spPr>
          <a:xfrm>
            <a:off x="6934200" y="3162300"/>
            <a:ext cx="1547248" cy="304800"/>
          </a:xfrm>
          <a:prstGeom prst="rect">
            <a:avLst/>
          </a:prstGeom>
          <a:ln w="12700">
            <a:miter lim="400000"/>
          </a:ln>
        </p:spPr>
      </p:pic>
      <p:pic>
        <p:nvPicPr>
          <p:cNvPr id="370" name="terraform-dim.png" descr="terraform-dim.png"/>
          <p:cNvPicPr>
            <a:picLocks noChangeAspect="1"/>
          </p:cNvPicPr>
          <p:nvPr/>
        </p:nvPicPr>
        <p:blipFill>
          <a:blip r:embed="rId23">
            <a:extLst/>
          </a:blip>
          <a:stretch>
            <a:fillRect/>
          </a:stretch>
        </p:blipFill>
        <p:spPr>
          <a:xfrm>
            <a:off x="9766299" y="3149600"/>
            <a:ext cx="1743558" cy="330201"/>
          </a:xfrm>
          <a:prstGeom prst="rect">
            <a:avLst/>
          </a:prstGeom>
          <a:ln w="12700">
            <a:miter lim="400000"/>
          </a:ln>
        </p:spPr>
      </p:pic>
      <p:pic>
        <p:nvPicPr>
          <p:cNvPr id="371" name="podman-dim.png" descr="podman-dim.png"/>
          <p:cNvPicPr>
            <a:picLocks noChangeAspect="1"/>
          </p:cNvPicPr>
          <p:nvPr/>
        </p:nvPicPr>
        <p:blipFill>
          <a:blip r:embed="rId24">
            <a:extLst/>
          </a:blip>
          <a:stretch>
            <a:fillRect/>
          </a:stretch>
        </p:blipFill>
        <p:spPr>
          <a:xfrm>
            <a:off x="12839700" y="3136900"/>
            <a:ext cx="1572127" cy="355600"/>
          </a:xfrm>
          <a:prstGeom prst="rect">
            <a:avLst/>
          </a:prstGeom>
          <a:ln w="12700">
            <a:miter lim="400000"/>
          </a:ln>
        </p:spPr>
      </p:pic>
      <p:pic>
        <p:nvPicPr>
          <p:cNvPr id="372" name="nomad-dim.png" descr="nomad-dim.png"/>
          <p:cNvPicPr>
            <a:picLocks noChangeAspect="1"/>
          </p:cNvPicPr>
          <p:nvPr/>
        </p:nvPicPr>
        <p:blipFill>
          <a:blip r:embed="rId25">
            <a:extLst/>
          </a:blip>
          <a:stretch>
            <a:fillRect/>
          </a:stretch>
        </p:blipFill>
        <p:spPr>
          <a:xfrm>
            <a:off x="15748000" y="3124200"/>
            <a:ext cx="1411817" cy="368301"/>
          </a:xfrm>
          <a:prstGeom prst="rect">
            <a:avLst/>
          </a:prstGeom>
          <a:ln w="12700">
            <a:miter lim="400000"/>
          </a:ln>
        </p:spPr>
      </p:pic>
      <p:pic>
        <p:nvPicPr>
          <p:cNvPr id="373" name="appwrite-dim.png" descr="appwrite-dim.png"/>
          <p:cNvPicPr>
            <a:picLocks noChangeAspect="1"/>
          </p:cNvPicPr>
          <p:nvPr/>
        </p:nvPicPr>
        <p:blipFill>
          <a:blip r:embed="rId26">
            <a:extLst/>
          </a:blip>
          <a:stretch>
            <a:fillRect/>
          </a:stretch>
        </p:blipFill>
        <p:spPr>
          <a:xfrm>
            <a:off x="18453100" y="3149600"/>
            <a:ext cx="1733551" cy="330201"/>
          </a:xfrm>
          <a:prstGeom prst="rect">
            <a:avLst/>
          </a:prstGeom>
          <a:ln w="12700">
            <a:miter lim="400000"/>
          </a:ln>
        </p:spPr>
      </p:pic>
      <p:pic>
        <p:nvPicPr>
          <p:cNvPr id="374" name="grafana-dim.png" descr="grafana-dim.png"/>
          <p:cNvPicPr>
            <a:picLocks noChangeAspect="1"/>
          </p:cNvPicPr>
          <p:nvPr/>
        </p:nvPicPr>
        <p:blipFill>
          <a:blip r:embed="rId27">
            <a:extLst/>
          </a:blip>
          <a:stretch>
            <a:fillRect/>
          </a:stretch>
        </p:blipFill>
        <p:spPr>
          <a:xfrm>
            <a:off x="21501100" y="3124200"/>
            <a:ext cx="1526911" cy="368300"/>
          </a:xfrm>
          <a:prstGeom prst="rect">
            <a:avLst/>
          </a:prstGeom>
          <a:ln w="12700">
            <a:miter lim="400000"/>
          </a:ln>
        </p:spPr>
      </p:pic>
      <p:pic>
        <p:nvPicPr>
          <p:cNvPr id="375" name="wordpressvip-dim.png" descr="wordpressvip-dim.png"/>
          <p:cNvPicPr>
            <a:picLocks noChangeAspect="1"/>
          </p:cNvPicPr>
          <p:nvPr/>
        </p:nvPicPr>
        <p:blipFill>
          <a:blip r:embed="rId28">
            <a:extLst/>
          </a:blip>
          <a:stretch>
            <a:fillRect/>
          </a:stretch>
        </p:blipFill>
        <p:spPr>
          <a:xfrm>
            <a:off x="1320800" y="4013200"/>
            <a:ext cx="2493698" cy="368301"/>
          </a:xfrm>
          <a:prstGeom prst="rect">
            <a:avLst/>
          </a:prstGeom>
          <a:ln w="12700">
            <a:miter lim="400000"/>
          </a:ln>
        </p:spPr>
      </p:pic>
      <p:pic>
        <p:nvPicPr>
          <p:cNvPr id="376" name="vercel-dim.png" descr="vercel-dim.png"/>
          <p:cNvPicPr>
            <a:picLocks noChangeAspect="1"/>
          </p:cNvPicPr>
          <p:nvPr/>
        </p:nvPicPr>
        <p:blipFill>
          <a:blip r:embed="rId29">
            <a:extLst/>
          </a:blip>
          <a:stretch>
            <a:fillRect/>
          </a:stretch>
        </p:blipFill>
        <p:spPr>
          <a:xfrm>
            <a:off x="5041900" y="4013200"/>
            <a:ext cx="1572127" cy="355600"/>
          </a:xfrm>
          <a:prstGeom prst="rect">
            <a:avLst/>
          </a:prstGeom>
          <a:ln w="12700">
            <a:miter lim="400000"/>
          </a:ln>
        </p:spPr>
      </p:pic>
      <p:pic>
        <p:nvPicPr>
          <p:cNvPr id="377" name="cloudflare-color.png" descr="cloudflare-color.png"/>
          <p:cNvPicPr>
            <a:picLocks noChangeAspect="1"/>
          </p:cNvPicPr>
          <p:nvPr/>
        </p:nvPicPr>
        <p:blipFill>
          <a:blip r:embed="rId30">
            <a:extLst/>
          </a:blip>
          <a:stretch>
            <a:fillRect/>
          </a:stretch>
        </p:blipFill>
        <p:spPr>
          <a:xfrm>
            <a:off x="7874000" y="3975100"/>
            <a:ext cx="1301751" cy="444500"/>
          </a:xfrm>
          <a:prstGeom prst="rect">
            <a:avLst/>
          </a:prstGeom>
          <a:ln w="12700">
            <a:miter lim="400000"/>
          </a:ln>
        </p:spPr>
      </p:pic>
      <p:pic>
        <p:nvPicPr>
          <p:cNvPr id="378" name="wpengine-dim.png" descr="wpengine-dim.png"/>
          <p:cNvPicPr>
            <a:picLocks noChangeAspect="1"/>
          </p:cNvPicPr>
          <p:nvPr/>
        </p:nvPicPr>
        <p:blipFill>
          <a:blip r:embed="rId31">
            <a:extLst/>
          </a:blip>
          <a:stretch>
            <a:fillRect/>
          </a:stretch>
        </p:blipFill>
        <p:spPr>
          <a:xfrm>
            <a:off x="10426700" y="4013200"/>
            <a:ext cx="1941248" cy="368301"/>
          </a:xfrm>
          <a:prstGeom prst="rect">
            <a:avLst/>
          </a:prstGeom>
          <a:ln w="12700">
            <a:miter lim="400000"/>
          </a:ln>
        </p:spPr>
      </p:pic>
      <p:pic>
        <p:nvPicPr>
          <p:cNvPr id="379" name="php-color.png" descr="php-color.png"/>
          <p:cNvPicPr>
            <a:picLocks noChangeAspect="1"/>
          </p:cNvPicPr>
          <p:nvPr/>
        </p:nvPicPr>
        <p:blipFill>
          <a:blip r:embed="rId32">
            <a:extLst/>
          </a:blip>
          <a:stretch>
            <a:fillRect/>
          </a:stretch>
        </p:blipFill>
        <p:spPr>
          <a:xfrm>
            <a:off x="13601699" y="3962399"/>
            <a:ext cx="853441" cy="457201"/>
          </a:xfrm>
          <a:prstGeom prst="rect">
            <a:avLst/>
          </a:prstGeom>
          <a:ln w="12700">
            <a:miter lim="400000"/>
          </a:ln>
        </p:spPr>
      </p:pic>
      <p:pic>
        <p:nvPicPr>
          <p:cNvPr id="380" name="postgresql-color.png" descr="postgresql-color.png"/>
          <p:cNvPicPr>
            <a:picLocks noChangeAspect="1"/>
          </p:cNvPicPr>
          <p:nvPr/>
        </p:nvPicPr>
        <p:blipFill>
          <a:blip r:embed="rId33">
            <a:extLst/>
          </a:blip>
          <a:stretch>
            <a:fillRect/>
          </a:stretch>
        </p:blipFill>
        <p:spPr>
          <a:xfrm>
            <a:off x="15697199" y="4013200"/>
            <a:ext cx="2084642" cy="355600"/>
          </a:xfrm>
          <a:prstGeom prst="rect">
            <a:avLst/>
          </a:prstGeom>
          <a:ln w="12700">
            <a:miter lim="400000"/>
          </a:ln>
        </p:spPr>
      </p:pic>
      <p:pic>
        <p:nvPicPr>
          <p:cNvPr id="381" name="elastic-dim.png" descr="elastic-dim.png"/>
          <p:cNvPicPr>
            <a:picLocks noChangeAspect="1"/>
          </p:cNvPicPr>
          <p:nvPr/>
        </p:nvPicPr>
        <p:blipFill>
          <a:blip r:embed="rId34">
            <a:extLst/>
          </a:blip>
          <a:stretch>
            <a:fillRect/>
          </a:stretch>
        </p:blipFill>
        <p:spPr>
          <a:xfrm>
            <a:off x="18986499" y="4013200"/>
            <a:ext cx="1673413" cy="355600"/>
          </a:xfrm>
          <a:prstGeom prst="rect">
            <a:avLst/>
          </a:prstGeom>
          <a:ln w="12700">
            <a:miter lim="400000"/>
          </a:ln>
        </p:spPr>
      </p:pic>
      <p:pic>
        <p:nvPicPr>
          <p:cNvPr id="382" name="helm-dim.png" descr="helm-dim.png"/>
          <p:cNvPicPr>
            <a:picLocks noChangeAspect="1"/>
          </p:cNvPicPr>
          <p:nvPr/>
        </p:nvPicPr>
        <p:blipFill>
          <a:blip r:embed="rId35">
            <a:extLst/>
          </a:blip>
          <a:stretch>
            <a:fillRect/>
          </a:stretch>
        </p:blipFill>
        <p:spPr>
          <a:xfrm>
            <a:off x="21882100" y="4013200"/>
            <a:ext cx="1138150" cy="368301"/>
          </a:xfrm>
          <a:prstGeom prst="rect">
            <a:avLst/>
          </a:prstGeom>
          <a:ln w="12700">
            <a:miter lim="400000"/>
          </a:ln>
        </p:spPr>
      </p:pic>
      <p:pic>
        <p:nvPicPr>
          <p:cNvPr id="383" name="proxmox-dim.png" descr="proxmox-dim.png"/>
          <p:cNvPicPr>
            <a:picLocks noChangeAspect="1"/>
          </p:cNvPicPr>
          <p:nvPr/>
        </p:nvPicPr>
        <p:blipFill>
          <a:blip r:embed="rId36">
            <a:extLst/>
          </a:blip>
          <a:stretch>
            <a:fillRect/>
          </a:stretch>
        </p:blipFill>
        <p:spPr>
          <a:xfrm>
            <a:off x="1320799" y="4914900"/>
            <a:ext cx="1637898" cy="317500"/>
          </a:xfrm>
          <a:prstGeom prst="rect">
            <a:avLst/>
          </a:prstGeom>
          <a:ln w="12700">
            <a:miter lim="400000"/>
          </a:ln>
        </p:spPr>
      </p:pic>
      <p:pic>
        <p:nvPicPr>
          <p:cNvPr id="384" name="pressidium-dim.png" descr="pressidium-dim.png"/>
          <p:cNvPicPr>
            <a:picLocks noChangeAspect="1"/>
          </p:cNvPicPr>
          <p:nvPr/>
        </p:nvPicPr>
        <p:blipFill>
          <a:blip r:embed="rId37">
            <a:extLst/>
          </a:blip>
          <a:stretch>
            <a:fillRect/>
          </a:stretch>
        </p:blipFill>
        <p:spPr>
          <a:xfrm>
            <a:off x="4000500" y="4965699"/>
            <a:ext cx="1498889" cy="228601"/>
          </a:xfrm>
          <a:prstGeom prst="rect">
            <a:avLst/>
          </a:prstGeom>
          <a:ln w="12700">
            <a:miter lim="400000"/>
          </a:ln>
        </p:spPr>
      </p:pic>
      <p:pic>
        <p:nvPicPr>
          <p:cNvPr id="385" name="kubernetes-dim.png" descr="kubernetes-dim.png"/>
          <p:cNvPicPr>
            <a:picLocks noChangeAspect="1"/>
          </p:cNvPicPr>
          <p:nvPr/>
        </p:nvPicPr>
        <p:blipFill>
          <a:blip r:embed="rId38">
            <a:extLst/>
          </a:blip>
          <a:stretch>
            <a:fillRect/>
          </a:stretch>
        </p:blipFill>
        <p:spPr>
          <a:xfrm>
            <a:off x="6502400" y="4902199"/>
            <a:ext cx="2021840" cy="355601"/>
          </a:xfrm>
          <a:prstGeom prst="rect">
            <a:avLst/>
          </a:prstGeom>
          <a:ln w="12700">
            <a:miter lim="400000"/>
          </a:ln>
        </p:spPr>
      </p:pic>
      <p:pic>
        <p:nvPicPr>
          <p:cNvPr id="386" name="bun-color.png" descr="bun-color.png"/>
          <p:cNvPicPr>
            <a:picLocks noChangeAspect="1"/>
          </p:cNvPicPr>
          <p:nvPr/>
        </p:nvPicPr>
        <p:blipFill>
          <a:blip r:embed="rId39">
            <a:extLst/>
          </a:blip>
          <a:stretch>
            <a:fillRect/>
          </a:stretch>
        </p:blipFill>
        <p:spPr>
          <a:xfrm>
            <a:off x="9550400" y="4914900"/>
            <a:ext cx="993180" cy="330200"/>
          </a:xfrm>
          <a:prstGeom prst="rect">
            <a:avLst/>
          </a:prstGeom>
          <a:ln w="12700">
            <a:miter lim="400000"/>
          </a:ln>
        </p:spPr>
      </p:pic>
      <p:pic>
        <p:nvPicPr>
          <p:cNvPr id="387" name="vmware-dim.png" descr="vmware-dim.png"/>
          <p:cNvPicPr>
            <a:picLocks noChangeAspect="1"/>
          </p:cNvPicPr>
          <p:nvPr/>
        </p:nvPicPr>
        <p:blipFill>
          <a:blip r:embed="rId40">
            <a:extLst/>
          </a:blip>
          <a:stretch>
            <a:fillRect/>
          </a:stretch>
        </p:blipFill>
        <p:spPr>
          <a:xfrm>
            <a:off x="11556999" y="4927600"/>
            <a:ext cx="1828801" cy="304801"/>
          </a:xfrm>
          <a:prstGeom prst="rect">
            <a:avLst/>
          </a:prstGeom>
          <a:ln w="12700">
            <a:miter lim="400000"/>
          </a:ln>
        </p:spPr>
      </p:pic>
      <p:pic>
        <p:nvPicPr>
          <p:cNvPr id="388" name="istio-dim.png" descr="istio-dim.png"/>
          <p:cNvPicPr>
            <a:picLocks noChangeAspect="1"/>
          </p:cNvPicPr>
          <p:nvPr/>
        </p:nvPicPr>
        <p:blipFill>
          <a:blip r:embed="rId41">
            <a:extLst/>
          </a:blip>
          <a:stretch>
            <a:fillRect/>
          </a:stretch>
        </p:blipFill>
        <p:spPr>
          <a:xfrm>
            <a:off x="14452600" y="4889499"/>
            <a:ext cx="971903" cy="368301"/>
          </a:xfrm>
          <a:prstGeom prst="rect">
            <a:avLst/>
          </a:prstGeom>
          <a:ln w="12700">
            <a:miter lim="400000"/>
          </a:ln>
        </p:spPr>
      </p:pic>
      <p:pic>
        <p:nvPicPr>
          <p:cNvPr id="389" name="fedora-dim.png" descr="fedora-dim.png"/>
          <p:cNvPicPr>
            <a:picLocks noChangeAspect="1"/>
          </p:cNvPicPr>
          <p:nvPr/>
        </p:nvPicPr>
        <p:blipFill>
          <a:blip r:embed="rId42">
            <a:extLst/>
          </a:blip>
          <a:stretch>
            <a:fillRect/>
          </a:stretch>
        </p:blipFill>
        <p:spPr>
          <a:xfrm>
            <a:off x="16459200" y="4889499"/>
            <a:ext cx="1401587" cy="368301"/>
          </a:xfrm>
          <a:prstGeom prst="rect">
            <a:avLst/>
          </a:prstGeom>
          <a:ln w="12700">
            <a:miter lim="400000"/>
          </a:ln>
        </p:spPr>
      </p:pic>
      <p:pic>
        <p:nvPicPr>
          <p:cNvPr id="390" name="rancher-dim.png" descr="rancher-dim.png"/>
          <p:cNvPicPr>
            <a:picLocks noChangeAspect="1"/>
          </p:cNvPicPr>
          <p:nvPr/>
        </p:nvPicPr>
        <p:blipFill>
          <a:blip r:embed="rId43">
            <a:extLst/>
          </a:blip>
          <a:stretch>
            <a:fillRect/>
          </a:stretch>
        </p:blipFill>
        <p:spPr>
          <a:xfrm>
            <a:off x="18884899" y="4965700"/>
            <a:ext cx="1592581" cy="215901"/>
          </a:xfrm>
          <a:prstGeom prst="rect">
            <a:avLst/>
          </a:prstGeom>
          <a:ln w="12700">
            <a:miter lim="400000"/>
          </a:ln>
        </p:spPr>
      </p:pic>
      <p:pic>
        <p:nvPicPr>
          <p:cNvPr id="391" name="railway-dim.png" descr="railway-dim.png"/>
          <p:cNvPicPr>
            <a:picLocks noChangeAspect="1"/>
          </p:cNvPicPr>
          <p:nvPr/>
        </p:nvPicPr>
        <p:blipFill>
          <a:blip r:embed="rId44">
            <a:extLst/>
          </a:blip>
          <a:stretch>
            <a:fillRect/>
          </a:stretch>
        </p:blipFill>
        <p:spPr>
          <a:xfrm>
            <a:off x="21501099" y="4889500"/>
            <a:ext cx="1516681" cy="368300"/>
          </a:xfrm>
          <a:prstGeom prst="rect">
            <a:avLst/>
          </a:prstGeom>
          <a:ln w="12700">
            <a:miter lim="400000"/>
          </a:ln>
        </p:spPr>
      </p:pic>
      <p:pic>
        <p:nvPicPr>
          <p:cNvPr id="392" name="githubactions-dim.png" descr="githubactions-dim.png"/>
          <p:cNvPicPr>
            <a:picLocks noChangeAspect="1"/>
          </p:cNvPicPr>
          <p:nvPr/>
        </p:nvPicPr>
        <p:blipFill>
          <a:blip r:embed="rId45">
            <a:extLst/>
          </a:blip>
          <a:stretch>
            <a:fillRect/>
          </a:stretch>
        </p:blipFill>
        <p:spPr>
          <a:xfrm>
            <a:off x="1320800" y="5778500"/>
            <a:ext cx="2519275" cy="368301"/>
          </a:xfrm>
          <a:prstGeom prst="rect">
            <a:avLst/>
          </a:prstGeom>
          <a:ln w="12700">
            <a:miter lim="400000"/>
          </a:ln>
        </p:spPr>
      </p:pic>
      <p:pic>
        <p:nvPicPr>
          <p:cNvPr id="393" name="datadog-dim.png" descr="datadog-dim.png"/>
          <p:cNvPicPr>
            <a:picLocks noChangeAspect="1"/>
          </p:cNvPicPr>
          <p:nvPr/>
        </p:nvPicPr>
        <p:blipFill>
          <a:blip r:embed="rId46">
            <a:extLst/>
          </a:blip>
          <a:stretch>
            <a:fillRect/>
          </a:stretch>
        </p:blipFill>
        <p:spPr>
          <a:xfrm>
            <a:off x="5359400" y="5778500"/>
            <a:ext cx="1601082" cy="368300"/>
          </a:xfrm>
          <a:prstGeom prst="rect">
            <a:avLst/>
          </a:prstGeom>
          <a:ln w="12700">
            <a:miter lim="400000"/>
          </a:ln>
        </p:spPr>
      </p:pic>
      <p:pic>
        <p:nvPicPr>
          <p:cNvPr id="394" name="mariadb-color.png" descr="mariadb-color.png"/>
          <p:cNvPicPr>
            <a:picLocks noChangeAspect="1"/>
          </p:cNvPicPr>
          <p:nvPr/>
        </p:nvPicPr>
        <p:blipFill>
          <a:blip r:embed="rId47">
            <a:extLst/>
          </a:blip>
          <a:stretch>
            <a:fillRect/>
          </a:stretch>
        </p:blipFill>
        <p:spPr>
          <a:xfrm>
            <a:off x="8470900" y="5842000"/>
            <a:ext cx="1630059" cy="241300"/>
          </a:xfrm>
          <a:prstGeom prst="rect">
            <a:avLst/>
          </a:prstGeom>
          <a:ln w="12700">
            <a:miter lim="400000"/>
          </a:ln>
        </p:spPr>
      </p:pic>
      <p:pic>
        <p:nvPicPr>
          <p:cNvPr id="395" name="ovh-dim.png" descr="ovh-dim.png"/>
          <p:cNvPicPr>
            <a:picLocks noChangeAspect="1"/>
          </p:cNvPicPr>
          <p:nvPr/>
        </p:nvPicPr>
        <p:blipFill>
          <a:blip r:embed="rId48">
            <a:extLst/>
          </a:blip>
          <a:stretch>
            <a:fillRect/>
          </a:stretch>
        </p:blipFill>
        <p:spPr>
          <a:xfrm>
            <a:off x="11607800" y="5854700"/>
            <a:ext cx="1802514" cy="215900"/>
          </a:xfrm>
          <a:prstGeom prst="rect">
            <a:avLst/>
          </a:prstGeom>
          <a:ln w="12700">
            <a:miter lim="400000"/>
          </a:ln>
        </p:spPr>
      </p:pic>
      <p:pic>
        <p:nvPicPr>
          <p:cNvPr id="396" name="knative-dim.png" descr="knative-dim.png"/>
          <p:cNvPicPr>
            <a:picLocks noChangeAspect="1"/>
          </p:cNvPicPr>
          <p:nvPr/>
        </p:nvPicPr>
        <p:blipFill>
          <a:blip r:embed="rId49">
            <a:extLst/>
          </a:blip>
          <a:stretch>
            <a:fillRect/>
          </a:stretch>
        </p:blipFill>
        <p:spPr>
          <a:xfrm>
            <a:off x="14973300" y="5803900"/>
            <a:ext cx="1503336" cy="304800"/>
          </a:xfrm>
          <a:prstGeom prst="rect">
            <a:avLst/>
          </a:prstGeom>
          <a:ln w="12700">
            <a:miter lim="400000"/>
          </a:ln>
        </p:spPr>
      </p:pic>
      <p:pic>
        <p:nvPicPr>
          <p:cNvPr id="397" name="googlecloud-dim.png" descr="googlecloud-dim.png"/>
          <p:cNvPicPr>
            <a:picLocks noChangeAspect="1"/>
          </p:cNvPicPr>
          <p:nvPr/>
        </p:nvPicPr>
        <p:blipFill>
          <a:blip r:embed="rId50">
            <a:extLst/>
          </a:blip>
          <a:stretch>
            <a:fillRect/>
          </a:stretch>
        </p:blipFill>
        <p:spPr>
          <a:xfrm>
            <a:off x="17983200" y="5803900"/>
            <a:ext cx="2243528" cy="304801"/>
          </a:xfrm>
          <a:prstGeom prst="rect">
            <a:avLst/>
          </a:prstGeom>
          <a:ln w="12700">
            <a:miter lim="400000"/>
          </a:ln>
        </p:spPr>
      </p:pic>
      <p:pic>
        <p:nvPicPr>
          <p:cNvPr id="398" name="turso-dim.png" descr="turso-dim.png"/>
          <p:cNvPicPr>
            <a:picLocks noChangeAspect="1"/>
          </p:cNvPicPr>
          <p:nvPr/>
        </p:nvPicPr>
        <p:blipFill>
          <a:blip r:embed="rId51">
            <a:extLst/>
          </a:blip>
          <a:stretch>
            <a:fillRect/>
          </a:stretch>
        </p:blipFill>
        <p:spPr>
          <a:xfrm>
            <a:off x="21793200" y="5778500"/>
            <a:ext cx="1225110" cy="368301"/>
          </a:xfrm>
          <a:prstGeom prst="rect">
            <a:avLst/>
          </a:prstGeom>
          <a:ln w="12700">
            <a:miter lim="400000"/>
          </a:ln>
        </p:spPr>
      </p:pic>
      <p:pic>
        <p:nvPicPr>
          <p:cNvPr id="399" name="flydotio-dim.png" descr="flydotio-dim.png"/>
          <p:cNvPicPr>
            <a:picLocks noChangeAspect="1"/>
          </p:cNvPicPr>
          <p:nvPr/>
        </p:nvPicPr>
        <p:blipFill>
          <a:blip r:embed="rId52">
            <a:extLst/>
          </a:blip>
          <a:stretch>
            <a:fillRect/>
          </a:stretch>
        </p:blipFill>
        <p:spPr>
          <a:xfrm>
            <a:off x="1320800" y="6654799"/>
            <a:ext cx="1127919" cy="368301"/>
          </a:xfrm>
          <a:prstGeom prst="rect">
            <a:avLst/>
          </a:prstGeom>
          <a:ln w="12700">
            <a:miter lim="400000"/>
          </a:ln>
        </p:spPr>
      </p:pic>
      <p:pic>
        <p:nvPicPr>
          <p:cNvPr id="400" name="rabbitmq-dim.png" descr="rabbitmq-dim.png"/>
          <p:cNvPicPr>
            <a:picLocks noChangeAspect="1"/>
          </p:cNvPicPr>
          <p:nvPr/>
        </p:nvPicPr>
        <p:blipFill>
          <a:blip r:embed="rId53">
            <a:extLst/>
          </a:blip>
          <a:stretch>
            <a:fillRect/>
          </a:stretch>
        </p:blipFill>
        <p:spPr>
          <a:xfrm>
            <a:off x="3492499" y="6654800"/>
            <a:ext cx="1808252" cy="368301"/>
          </a:xfrm>
          <a:prstGeom prst="rect">
            <a:avLst/>
          </a:prstGeom>
          <a:ln w="12700">
            <a:miter lim="400000"/>
          </a:ln>
        </p:spPr>
      </p:pic>
      <p:pic>
        <p:nvPicPr>
          <p:cNvPr id="401" name="traefikproxy-dim.png" descr="traefikproxy-dim.png"/>
          <p:cNvPicPr>
            <a:picLocks noChangeAspect="1"/>
          </p:cNvPicPr>
          <p:nvPr/>
        </p:nvPicPr>
        <p:blipFill>
          <a:blip r:embed="rId54">
            <a:extLst/>
          </a:blip>
          <a:stretch>
            <a:fillRect/>
          </a:stretch>
        </p:blipFill>
        <p:spPr>
          <a:xfrm>
            <a:off x="6337300" y="6616700"/>
            <a:ext cx="1200150" cy="457201"/>
          </a:xfrm>
          <a:prstGeom prst="rect">
            <a:avLst/>
          </a:prstGeom>
          <a:ln w="12700">
            <a:miter lim="400000"/>
          </a:ln>
        </p:spPr>
      </p:pic>
      <p:pic>
        <p:nvPicPr>
          <p:cNvPr id="402" name="hetzner-color.png" descr="hetzner-color.png"/>
          <p:cNvPicPr>
            <a:picLocks noChangeAspect="1"/>
          </p:cNvPicPr>
          <p:nvPr/>
        </p:nvPicPr>
        <p:blipFill>
          <a:blip r:embed="rId55">
            <a:extLst/>
          </a:blip>
          <a:stretch>
            <a:fillRect/>
          </a:stretch>
        </p:blipFill>
        <p:spPr>
          <a:xfrm>
            <a:off x="8585200" y="6654799"/>
            <a:ext cx="1557603" cy="368301"/>
          </a:xfrm>
          <a:prstGeom prst="rect">
            <a:avLst/>
          </a:prstGeom>
          <a:ln w="12700">
            <a:miter lim="400000"/>
          </a:ln>
        </p:spPr>
      </p:pic>
      <p:pic>
        <p:nvPicPr>
          <p:cNvPr id="403" name="pantheon-dim.png" descr="pantheon-dim.png"/>
          <p:cNvPicPr>
            <a:picLocks noChangeAspect="1"/>
          </p:cNvPicPr>
          <p:nvPr/>
        </p:nvPicPr>
        <p:blipFill>
          <a:blip r:embed="rId56">
            <a:extLst/>
          </a:blip>
          <a:stretch>
            <a:fillRect/>
          </a:stretch>
        </p:blipFill>
        <p:spPr>
          <a:xfrm>
            <a:off x="11188700" y="6654800"/>
            <a:ext cx="1654793" cy="368300"/>
          </a:xfrm>
          <a:prstGeom prst="rect">
            <a:avLst/>
          </a:prstGeom>
          <a:ln w="12700">
            <a:miter lim="400000"/>
          </a:ln>
        </p:spPr>
      </p:pic>
      <p:pic>
        <p:nvPicPr>
          <p:cNvPr id="404" name="azure-dim.png" descr="azure-dim.png"/>
          <p:cNvPicPr>
            <a:picLocks noChangeAspect="1"/>
          </p:cNvPicPr>
          <p:nvPr/>
        </p:nvPicPr>
        <p:blipFill>
          <a:blip r:embed="rId57">
            <a:extLst/>
          </a:blip>
          <a:stretch>
            <a:fillRect/>
          </a:stretch>
        </p:blipFill>
        <p:spPr>
          <a:xfrm>
            <a:off x="13881099" y="6629400"/>
            <a:ext cx="1345225" cy="431800"/>
          </a:xfrm>
          <a:prstGeom prst="rect">
            <a:avLst/>
          </a:prstGeom>
          <a:ln w="12700">
            <a:miter lim="400000"/>
          </a:ln>
        </p:spPr>
      </p:pic>
      <p:pic>
        <p:nvPicPr>
          <p:cNvPr id="405" name="github-color.png" descr="github-color.png"/>
          <p:cNvPicPr>
            <a:picLocks noChangeAspect="1"/>
          </p:cNvPicPr>
          <p:nvPr/>
        </p:nvPicPr>
        <p:blipFill>
          <a:blip r:embed="rId58">
            <a:extLst/>
          </a:blip>
          <a:stretch>
            <a:fillRect/>
          </a:stretch>
        </p:blipFill>
        <p:spPr>
          <a:xfrm>
            <a:off x="16281400" y="6667499"/>
            <a:ext cx="1397190" cy="342901"/>
          </a:xfrm>
          <a:prstGeom prst="rect">
            <a:avLst/>
          </a:prstGeom>
          <a:ln w="12700">
            <a:miter lim="400000"/>
          </a:ln>
        </p:spPr>
      </p:pic>
      <p:pic>
        <p:nvPicPr>
          <p:cNvPr id="406" name="betterstack-color.png" descr="betterstack-color.png"/>
          <p:cNvPicPr>
            <a:picLocks noChangeAspect="1"/>
          </p:cNvPicPr>
          <p:nvPr/>
        </p:nvPicPr>
        <p:blipFill>
          <a:blip r:embed="rId59">
            <a:extLst/>
          </a:blip>
          <a:stretch>
            <a:fillRect/>
          </a:stretch>
        </p:blipFill>
        <p:spPr>
          <a:xfrm>
            <a:off x="18719800" y="6692900"/>
            <a:ext cx="2147192" cy="292100"/>
          </a:xfrm>
          <a:prstGeom prst="rect">
            <a:avLst/>
          </a:prstGeom>
          <a:ln w="12700">
            <a:miter lim="400000"/>
          </a:ln>
        </p:spPr>
      </p:pic>
      <p:pic>
        <p:nvPicPr>
          <p:cNvPr id="407" name="gnubash-color.png" descr="gnubash-color.png"/>
          <p:cNvPicPr>
            <a:picLocks noChangeAspect="1"/>
          </p:cNvPicPr>
          <p:nvPr/>
        </p:nvPicPr>
        <p:blipFill>
          <a:blip r:embed="rId60">
            <a:extLst/>
          </a:blip>
          <a:stretch>
            <a:fillRect/>
          </a:stretch>
        </p:blipFill>
        <p:spPr>
          <a:xfrm>
            <a:off x="21907500" y="6654800"/>
            <a:ext cx="1107458" cy="368300"/>
          </a:xfrm>
          <a:prstGeom prst="rect">
            <a:avLst/>
          </a:prstGeom>
          <a:ln w="12700">
            <a:miter lim="400000"/>
          </a:ln>
        </p:spPr>
      </p:pic>
      <p:pic>
        <p:nvPicPr>
          <p:cNvPr id="408" name="splunk-dim.png" descr="splunk-dim.png"/>
          <p:cNvPicPr>
            <a:picLocks noChangeAspect="1"/>
          </p:cNvPicPr>
          <p:nvPr/>
        </p:nvPicPr>
        <p:blipFill>
          <a:blip r:embed="rId61">
            <a:extLst/>
          </a:blip>
          <a:stretch>
            <a:fillRect/>
          </a:stretch>
        </p:blipFill>
        <p:spPr>
          <a:xfrm>
            <a:off x="1320800" y="7518400"/>
            <a:ext cx="1408177" cy="419100"/>
          </a:xfrm>
          <a:prstGeom prst="rect">
            <a:avLst/>
          </a:prstGeom>
          <a:ln w="12700">
            <a:miter lim="400000"/>
          </a:ln>
        </p:spPr>
      </p:pic>
      <p:pic>
        <p:nvPicPr>
          <p:cNvPr id="409" name="skynet-dim.png" descr="skynet-dim.png"/>
          <p:cNvPicPr>
            <a:picLocks noChangeAspect="1"/>
          </p:cNvPicPr>
          <p:nvPr/>
        </p:nvPicPr>
        <p:blipFill>
          <a:blip r:embed="rId62">
            <a:extLst/>
          </a:blip>
          <a:stretch>
            <a:fillRect/>
          </a:stretch>
        </p:blipFill>
        <p:spPr>
          <a:xfrm>
            <a:off x="3695700" y="7543800"/>
            <a:ext cx="1750060" cy="355601"/>
          </a:xfrm>
          <a:prstGeom prst="rect">
            <a:avLst/>
          </a:prstGeom>
          <a:ln w="12700">
            <a:miter lim="400000"/>
          </a:ln>
        </p:spPr>
      </p:pic>
      <p:pic>
        <p:nvPicPr>
          <p:cNvPr id="410" name="newrelic-dim.png" descr="newrelic-dim.png"/>
          <p:cNvPicPr>
            <a:picLocks noChangeAspect="1"/>
          </p:cNvPicPr>
          <p:nvPr/>
        </p:nvPicPr>
        <p:blipFill>
          <a:blip r:embed="rId63">
            <a:extLst/>
          </a:blip>
          <a:stretch>
            <a:fillRect/>
          </a:stretch>
        </p:blipFill>
        <p:spPr>
          <a:xfrm>
            <a:off x="6438899" y="7543799"/>
            <a:ext cx="1790349" cy="368301"/>
          </a:xfrm>
          <a:prstGeom prst="rect">
            <a:avLst/>
          </a:prstGeom>
          <a:ln w="12700">
            <a:miter lim="400000"/>
          </a:ln>
        </p:spPr>
      </p:pic>
      <p:pic>
        <p:nvPicPr>
          <p:cNvPr id="411" name="planetscale-dim.png" descr="planetscale-dim.png"/>
          <p:cNvPicPr>
            <a:picLocks noChangeAspect="1"/>
          </p:cNvPicPr>
          <p:nvPr/>
        </p:nvPicPr>
        <p:blipFill>
          <a:blip r:embed="rId64">
            <a:extLst/>
          </a:blip>
          <a:stretch>
            <a:fillRect/>
          </a:stretch>
        </p:blipFill>
        <p:spPr>
          <a:xfrm>
            <a:off x="9194800" y="7543800"/>
            <a:ext cx="2071688" cy="368300"/>
          </a:xfrm>
          <a:prstGeom prst="rect">
            <a:avLst/>
          </a:prstGeom>
          <a:ln w="12700">
            <a:miter lim="400000"/>
          </a:ln>
        </p:spPr>
      </p:pic>
      <p:pic>
        <p:nvPicPr>
          <p:cNvPr id="412" name="circleci-dim.png" descr="circleci-dim.png"/>
          <p:cNvPicPr>
            <a:picLocks noChangeAspect="1"/>
          </p:cNvPicPr>
          <p:nvPr/>
        </p:nvPicPr>
        <p:blipFill>
          <a:blip r:embed="rId65">
            <a:extLst/>
          </a:blip>
          <a:stretch>
            <a:fillRect/>
          </a:stretch>
        </p:blipFill>
        <p:spPr>
          <a:xfrm>
            <a:off x="12242800" y="7543800"/>
            <a:ext cx="1529469" cy="368300"/>
          </a:xfrm>
          <a:prstGeom prst="rect">
            <a:avLst/>
          </a:prstGeom>
          <a:ln w="12700">
            <a:miter lim="400000"/>
          </a:ln>
        </p:spPr>
      </p:pic>
      <p:pic>
        <p:nvPicPr>
          <p:cNvPr id="413" name="deno-dim.png" descr="deno-dim.png"/>
          <p:cNvPicPr>
            <a:picLocks noChangeAspect="1"/>
          </p:cNvPicPr>
          <p:nvPr/>
        </p:nvPicPr>
        <p:blipFill>
          <a:blip r:embed="rId66">
            <a:extLst/>
          </a:blip>
          <a:stretch>
            <a:fillRect/>
          </a:stretch>
        </p:blipFill>
        <p:spPr>
          <a:xfrm>
            <a:off x="14744699" y="7556500"/>
            <a:ext cx="1153200" cy="330201"/>
          </a:xfrm>
          <a:prstGeom prst="rect">
            <a:avLst/>
          </a:prstGeom>
          <a:ln w="12700">
            <a:miter lim="400000"/>
          </a:ln>
        </p:spPr>
      </p:pic>
      <p:pic>
        <p:nvPicPr>
          <p:cNvPr id="414" name="nginx-color.png" descr="nginx-color.png"/>
          <p:cNvPicPr>
            <a:picLocks noChangeAspect="1"/>
          </p:cNvPicPr>
          <p:nvPr/>
        </p:nvPicPr>
        <p:blipFill>
          <a:blip r:embed="rId67">
            <a:extLst/>
          </a:blip>
          <a:stretch>
            <a:fillRect/>
          </a:stretch>
        </p:blipFill>
        <p:spPr>
          <a:xfrm>
            <a:off x="16891000" y="7543799"/>
            <a:ext cx="1676400" cy="355601"/>
          </a:xfrm>
          <a:prstGeom prst="rect">
            <a:avLst/>
          </a:prstGeom>
          <a:ln w="12700">
            <a:miter lim="400000"/>
          </a:ln>
        </p:spPr>
      </p:pic>
      <p:pic>
        <p:nvPicPr>
          <p:cNvPr id="415" name="litespeed-dim.png" descr="litespeed-dim.png"/>
          <p:cNvPicPr>
            <a:picLocks noChangeAspect="1"/>
          </p:cNvPicPr>
          <p:nvPr/>
        </p:nvPicPr>
        <p:blipFill>
          <a:blip r:embed="rId68">
            <a:extLst/>
          </a:blip>
          <a:stretch>
            <a:fillRect/>
          </a:stretch>
        </p:blipFill>
        <p:spPr>
          <a:xfrm>
            <a:off x="19532600" y="7581899"/>
            <a:ext cx="1335481" cy="279401"/>
          </a:xfrm>
          <a:prstGeom prst="rect">
            <a:avLst/>
          </a:prstGeom>
          <a:ln w="12700">
            <a:miter lim="400000"/>
          </a:ln>
        </p:spPr>
      </p:pic>
      <p:pic>
        <p:nvPicPr>
          <p:cNvPr id="416" name="apache-dim.png" descr="apache-dim.png"/>
          <p:cNvPicPr>
            <a:picLocks noChangeAspect="1"/>
          </p:cNvPicPr>
          <p:nvPr/>
        </p:nvPicPr>
        <p:blipFill>
          <a:blip r:embed="rId69">
            <a:extLst/>
          </a:blip>
          <a:stretch>
            <a:fillRect/>
          </a:stretch>
        </p:blipFill>
        <p:spPr>
          <a:xfrm>
            <a:off x="21831300" y="7493000"/>
            <a:ext cx="1181687" cy="457200"/>
          </a:xfrm>
          <a:prstGeom prst="rect">
            <a:avLst/>
          </a:prstGeom>
          <a:ln w="12700">
            <a:miter lim="400000"/>
          </a:ln>
        </p:spPr>
      </p:pic>
      <p:pic>
        <p:nvPicPr>
          <p:cNvPr id="417" name="rockylinux-dim.png" descr="rockylinux-dim.png"/>
          <p:cNvPicPr>
            <a:picLocks noChangeAspect="1"/>
          </p:cNvPicPr>
          <p:nvPr/>
        </p:nvPicPr>
        <p:blipFill>
          <a:blip r:embed="rId70">
            <a:extLst/>
          </a:blip>
          <a:stretch>
            <a:fillRect/>
          </a:stretch>
        </p:blipFill>
        <p:spPr>
          <a:xfrm>
            <a:off x="1320799" y="8420100"/>
            <a:ext cx="2125399" cy="368300"/>
          </a:xfrm>
          <a:prstGeom prst="rect">
            <a:avLst/>
          </a:prstGeom>
          <a:ln w="12700">
            <a:miter lim="400000"/>
          </a:ln>
        </p:spPr>
      </p:pic>
      <p:pic>
        <p:nvPicPr>
          <p:cNvPr id="418" name="redis-dim.png" descr="redis-dim.png"/>
          <p:cNvPicPr>
            <a:picLocks noChangeAspect="1"/>
          </p:cNvPicPr>
          <p:nvPr/>
        </p:nvPicPr>
        <p:blipFill>
          <a:blip r:embed="rId71">
            <a:extLst/>
          </a:blip>
          <a:stretch>
            <a:fillRect/>
          </a:stretch>
        </p:blipFill>
        <p:spPr>
          <a:xfrm>
            <a:off x="4622800" y="8432800"/>
            <a:ext cx="1212945" cy="342901"/>
          </a:xfrm>
          <a:prstGeom prst="rect">
            <a:avLst/>
          </a:prstGeom>
          <a:ln w="12700">
            <a:miter lim="400000"/>
          </a:ln>
        </p:spPr>
      </p:pic>
      <p:pic>
        <p:nvPicPr>
          <p:cNvPr id="419" name="aws-dim.png" descr="aws-dim.png"/>
          <p:cNvPicPr>
            <a:picLocks noChangeAspect="1"/>
          </p:cNvPicPr>
          <p:nvPr/>
        </p:nvPicPr>
        <p:blipFill>
          <a:blip r:embed="rId72">
            <a:extLst/>
          </a:blip>
          <a:stretch>
            <a:fillRect/>
          </a:stretch>
        </p:blipFill>
        <p:spPr>
          <a:xfrm>
            <a:off x="7035799" y="8381999"/>
            <a:ext cx="763525" cy="457201"/>
          </a:xfrm>
          <a:prstGeom prst="rect">
            <a:avLst/>
          </a:prstGeom>
          <a:ln w="12700">
            <a:miter lim="400000"/>
          </a:ln>
        </p:spPr>
      </p:pic>
      <p:pic>
        <p:nvPicPr>
          <p:cNvPr id="420" name="opentelemetry-dim.png" descr="opentelemetry-dim.png"/>
          <p:cNvPicPr>
            <a:picLocks noChangeAspect="1"/>
          </p:cNvPicPr>
          <p:nvPr/>
        </p:nvPicPr>
        <p:blipFill>
          <a:blip r:embed="rId73">
            <a:extLst/>
          </a:blip>
          <a:stretch>
            <a:fillRect/>
          </a:stretch>
        </p:blipFill>
        <p:spPr>
          <a:xfrm>
            <a:off x="8991599" y="8420099"/>
            <a:ext cx="2557640" cy="368301"/>
          </a:xfrm>
          <a:prstGeom prst="rect">
            <a:avLst/>
          </a:prstGeom>
          <a:ln w="12700">
            <a:miter lim="400000"/>
          </a:ln>
        </p:spPr>
      </p:pic>
      <p:pic>
        <p:nvPicPr>
          <p:cNvPr id="421" name="alpinelinux-dim.png" descr="alpinelinux-dim.png"/>
          <p:cNvPicPr>
            <a:picLocks noChangeAspect="1"/>
          </p:cNvPicPr>
          <p:nvPr/>
        </p:nvPicPr>
        <p:blipFill>
          <a:blip r:embed="rId74">
            <a:extLst/>
          </a:blip>
          <a:stretch>
            <a:fillRect/>
          </a:stretch>
        </p:blipFill>
        <p:spPr>
          <a:xfrm>
            <a:off x="12725400" y="8445500"/>
            <a:ext cx="2097501" cy="317500"/>
          </a:xfrm>
          <a:prstGeom prst="rect">
            <a:avLst/>
          </a:prstGeom>
          <a:ln w="12700">
            <a:miter lim="400000"/>
          </a:ln>
        </p:spPr>
      </p:pic>
      <p:pic>
        <p:nvPicPr>
          <p:cNvPr id="422" name="mailgun-color.png" descr="mailgun-color.png"/>
          <p:cNvPicPr>
            <a:picLocks noChangeAspect="1"/>
          </p:cNvPicPr>
          <p:nvPr/>
        </p:nvPicPr>
        <p:blipFill>
          <a:blip r:embed="rId75">
            <a:extLst/>
          </a:blip>
          <a:stretch>
            <a:fillRect/>
          </a:stretch>
        </p:blipFill>
        <p:spPr>
          <a:xfrm>
            <a:off x="16052800" y="8420100"/>
            <a:ext cx="1539699" cy="368301"/>
          </a:xfrm>
          <a:prstGeom prst="rect">
            <a:avLst/>
          </a:prstGeom>
          <a:ln w="12700">
            <a:miter lim="400000"/>
          </a:ln>
        </p:spPr>
      </p:pic>
      <p:pic>
        <p:nvPicPr>
          <p:cNvPr id="423" name="cpanel-dim.png" descr="cpanel-dim.png"/>
          <p:cNvPicPr>
            <a:picLocks noChangeAspect="1"/>
          </p:cNvPicPr>
          <p:nvPr/>
        </p:nvPicPr>
        <p:blipFill>
          <a:blip r:embed="rId76">
            <a:extLst/>
          </a:blip>
          <a:stretch>
            <a:fillRect/>
          </a:stretch>
        </p:blipFill>
        <p:spPr>
          <a:xfrm>
            <a:off x="18783300" y="8432800"/>
            <a:ext cx="1572127" cy="355601"/>
          </a:xfrm>
          <a:prstGeom prst="rect">
            <a:avLst/>
          </a:prstGeom>
          <a:ln w="12700">
            <a:miter lim="400000"/>
          </a:ln>
        </p:spPr>
      </p:pic>
      <p:pic>
        <p:nvPicPr>
          <p:cNvPr id="424" name="render-dim.png" descr="render-dim.png"/>
          <p:cNvPicPr>
            <a:picLocks noChangeAspect="1"/>
          </p:cNvPicPr>
          <p:nvPr/>
        </p:nvPicPr>
        <p:blipFill>
          <a:blip r:embed="rId77">
            <a:extLst/>
          </a:blip>
          <a:stretch>
            <a:fillRect/>
          </a:stretch>
        </p:blipFill>
        <p:spPr>
          <a:xfrm>
            <a:off x="21577300" y="8420099"/>
            <a:ext cx="1445066" cy="368301"/>
          </a:xfrm>
          <a:prstGeom prst="rect">
            <a:avLst/>
          </a:prstGeom>
          <a:ln w="12700">
            <a:miter lim="400000"/>
          </a:ln>
        </p:spPr>
      </p:pic>
      <p:pic>
        <p:nvPicPr>
          <p:cNvPr id="425" name="caddy-dim.png" descr="caddy-dim.png"/>
          <p:cNvPicPr>
            <a:picLocks noChangeAspect="1"/>
          </p:cNvPicPr>
          <p:nvPr/>
        </p:nvPicPr>
        <p:blipFill>
          <a:blip r:embed="rId78">
            <a:extLst/>
          </a:blip>
          <a:stretch>
            <a:fillRect/>
          </a:stretch>
        </p:blipFill>
        <p:spPr>
          <a:xfrm>
            <a:off x="1320799" y="9309100"/>
            <a:ext cx="1351281" cy="355601"/>
          </a:xfrm>
          <a:prstGeom prst="rect">
            <a:avLst/>
          </a:prstGeom>
          <a:ln w="12700">
            <a:miter lim="400000"/>
          </a:ln>
        </p:spPr>
      </p:pic>
      <p:pic>
        <p:nvPicPr>
          <p:cNvPr id="426" name="mysql-dim.png" descr="mysql-dim.png"/>
          <p:cNvPicPr>
            <a:picLocks noChangeAspect="1"/>
          </p:cNvPicPr>
          <p:nvPr/>
        </p:nvPicPr>
        <p:blipFill>
          <a:blip r:embed="rId79">
            <a:extLst/>
          </a:blip>
          <a:stretch>
            <a:fillRect/>
          </a:stretch>
        </p:blipFill>
        <p:spPr>
          <a:xfrm>
            <a:off x="3924300" y="9309099"/>
            <a:ext cx="1424905" cy="355601"/>
          </a:xfrm>
          <a:prstGeom prst="rect">
            <a:avLst/>
          </a:prstGeom>
          <a:ln w="12700">
            <a:miter lim="400000"/>
          </a:ln>
        </p:spPr>
      </p:pic>
      <p:pic>
        <p:nvPicPr>
          <p:cNvPr id="427" name="digitalocean-half.png" descr="digitalocean-half.png"/>
          <p:cNvPicPr>
            <a:picLocks noChangeAspect="1"/>
          </p:cNvPicPr>
          <p:nvPr/>
        </p:nvPicPr>
        <p:blipFill>
          <a:blip r:embed="rId80">
            <a:extLst/>
          </a:blip>
          <a:stretch>
            <a:fillRect/>
          </a:stretch>
        </p:blipFill>
        <p:spPr>
          <a:xfrm>
            <a:off x="6642099" y="9309100"/>
            <a:ext cx="2204686" cy="368300"/>
          </a:xfrm>
          <a:prstGeom prst="rect">
            <a:avLst/>
          </a:prstGeom>
          <a:ln w="12700">
            <a:miter lim="400000"/>
          </a:ln>
        </p:spPr>
      </p:pic>
      <p:pic>
        <p:nvPicPr>
          <p:cNvPr id="428" name="valkey-color.png" descr="valkey-color.png"/>
          <p:cNvPicPr>
            <a:picLocks noChangeAspect="1"/>
          </p:cNvPicPr>
          <p:nvPr/>
        </p:nvPicPr>
        <p:blipFill>
          <a:blip r:embed="rId81">
            <a:extLst/>
          </a:blip>
          <a:stretch>
            <a:fillRect/>
          </a:stretch>
        </p:blipFill>
        <p:spPr>
          <a:xfrm>
            <a:off x="10083800" y="9283700"/>
            <a:ext cx="1408056" cy="419100"/>
          </a:xfrm>
          <a:prstGeom prst="rect">
            <a:avLst/>
          </a:prstGeom>
          <a:ln w="12700">
            <a:miter lim="400000"/>
          </a:ln>
        </p:spPr>
      </p:pic>
      <p:pic>
        <p:nvPicPr>
          <p:cNvPr id="429" name="mongodb-color.png" descr="mongodb-color.png"/>
          <p:cNvPicPr>
            <a:picLocks noChangeAspect="1"/>
          </p:cNvPicPr>
          <p:nvPr/>
        </p:nvPicPr>
        <p:blipFill>
          <a:blip r:embed="rId82">
            <a:extLst/>
          </a:blip>
          <a:stretch>
            <a:fillRect/>
          </a:stretch>
        </p:blipFill>
        <p:spPr>
          <a:xfrm>
            <a:off x="12738099" y="9309099"/>
            <a:ext cx="1718735" cy="355601"/>
          </a:xfrm>
          <a:prstGeom prst="rect">
            <a:avLst/>
          </a:prstGeom>
          <a:ln w="12700">
            <a:miter lim="400000"/>
          </a:ln>
        </p:spPr>
      </p:pic>
      <p:pic>
        <p:nvPicPr>
          <p:cNvPr id="430" name="kinsta-dim.png" descr="kinsta-dim.png"/>
          <p:cNvPicPr>
            <a:picLocks noChangeAspect="1"/>
          </p:cNvPicPr>
          <p:nvPr/>
        </p:nvPicPr>
        <p:blipFill>
          <a:blip r:embed="rId83">
            <a:extLst/>
          </a:blip>
          <a:stretch>
            <a:fillRect/>
          </a:stretch>
        </p:blipFill>
        <p:spPr>
          <a:xfrm>
            <a:off x="15684500" y="9321799"/>
            <a:ext cx="1694330" cy="342901"/>
          </a:xfrm>
          <a:prstGeom prst="rect">
            <a:avLst/>
          </a:prstGeom>
          <a:ln w="12700">
            <a:miter lim="400000"/>
          </a:ln>
        </p:spPr>
      </p:pic>
      <p:pic>
        <p:nvPicPr>
          <p:cNvPr id="431" name="vagrant-dim.png" descr="vagrant-dim.png"/>
          <p:cNvPicPr>
            <a:picLocks noChangeAspect="1"/>
          </p:cNvPicPr>
          <p:nvPr/>
        </p:nvPicPr>
        <p:blipFill>
          <a:blip r:embed="rId84">
            <a:extLst/>
          </a:blip>
          <a:stretch>
            <a:fillRect/>
          </a:stretch>
        </p:blipFill>
        <p:spPr>
          <a:xfrm>
            <a:off x="18643600" y="9283700"/>
            <a:ext cx="1466574" cy="406401"/>
          </a:xfrm>
          <a:prstGeom prst="rect">
            <a:avLst/>
          </a:prstGeom>
          <a:ln w="12700">
            <a:miter lim="400000"/>
          </a:ln>
        </p:spPr>
      </p:pic>
      <p:pic>
        <p:nvPicPr>
          <p:cNvPr id="432" name="subversion-dim.png" descr="subversion-dim.png"/>
          <p:cNvPicPr>
            <a:picLocks noChangeAspect="1"/>
          </p:cNvPicPr>
          <p:nvPr/>
        </p:nvPicPr>
        <p:blipFill>
          <a:blip r:embed="rId85">
            <a:extLst/>
          </a:blip>
          <a:stretch>
            <a:fillRect/>
          </a:stretch>
        </p:blipFill>
        <p:spPr>
          <a:xfrm>
            <a:off x="21348699" y="9321800"/>
            <a:ext cx="1645105" cy="342900"/>
          </a:xfrm>
          <a:prstGeom prst="rect">
            <a:avLst/>
          </a:prstGeom>
          <a:ln w="12700">
            <a:miter lim="400000"/>
          </a:ln>
        </p:spPr>
      </p:pic>
      <p:pic>
        <p:nvPicPr>
          <p:cNvPr id="433" name="letsencrypt-color.png" descr="letsencrypt-color.png"/>
          <p:cNvPicPr>
            <a:picLocks noChangeAspect="1"/>
          </p:cNvPicPr>
          <p:nvPr/>
        </p:nvPicPr>
        <p:blipFill>
          <a:blip r:embed="rId86">
            <a:extLst/>
          </a:blip>
          <a:stretch>
            <a:fillRect/>
          </a:stretch>
        </p:blipFill>
        <p:spPr>
          <a:xfrm>
            <a:off x="1320800" y="10185400"/>
            <a:ext cx="2268626" cy="368301"/>
          </a:xfrm>
          <a:prstGeom prst="rect">
            <a:avLst/>
          </a:prstGeom>
          <a:ln w="12700">
            <a:miter lim="400000"/>
          </a:ln>
        </p:spPr>
      </p:pic>
      <p:pic>
        <p:nvPicPr>
          <p:cNvPr id="434" name="redhat-dim.png" descr="redhat-dim.png"/>
          <p:cNvPicPr>
            <a:picLocks noChangeAspect="1"/>
          </p:cNvPicPr>
          <p:nvPr/>
        </p:nvPicPr>
        <p:blipFill>
          <a:blip r:embed="rId87">
            <a:extLst/>
          </a:blip>
          <a:stretch>
            <a:fillRect/>
          </a:stretch>
        </p:blipFill>
        <p:spPr>
          <a:xfrm>
            <a:off x="4584700" y="10236200"/>
            <a:ext cx="1534161" cy="279400"/>
          </a:xfrm>
          <a:prstGeom prst="rect">
            <a:avLst/>
          </a:prstGeom>
          <a:ln w="12700">
            <a:miter lim="400000"/>
          </a:ln>
        </p:spPr>
      </p:pic>
      <p:pic>
        <p:nvPicPr>
          <p:cNvPr id="435" name="centos-dim.png" descr="centos-dim.png"/>
          <p:cNvPicPr>
            <a:picLocks noChangeAspect="1"/>
          </p:cNvPicPr>
          <p:nvPr/>
        </p:nvPicPr>
        <p:blipFill>
          <a:blip r:embed="rId88">
            <a:extLst/>
          </a:blip>
          <a:stretch>
            <a:fillRect/>
          </a:stretch>
        </p:blipFill>
        <p:spPr>
          <a:xfrm>
            <a:off x="7137399" y="10172699"/>
            <a:ext cx="1440874" cy="406401"/>
          </a:xfrm>
          <a:prstGeom prst="rect">
            <a:avLst/>
          </a:prstGeom>
          <a:ln w="12700">
            <a:miter lim="400000"/>
          </a:ln>
        </p:spPr>
      </p:pic>
      <p:pic>
        <p:nvPicPr>
          <p:cNvPr id="436" name="plesk-dim.png" descr="plesk-dim.png"/>
          <p:cNvPicPr>
            <a:picLocks noChangeAspect="1"/>
          </p:cNvPicPr>
          <p:nvPr/>
        </p:nvPicPr>
        <p:blipFill>
          <a:blip r:embed="rId89">
            <a:extLst/>
          </a:blip>
          <a:stretch>
            <a:fillRect/>
          </a:stretch>
        </p:blipFill>
        <p:spPr>
          <a:xfrm>
            <a:off x="9575800" y="10147299"/>
            <a:ext cx="1097280" cy="457201"/>
          </a:xfrm>
          <a:prstGeom prst="rect">
            <a:avLst/>
          </a:prstGeom>
          <a:ln w="12700">
            <a:miter lim="400000"/>
          </a:ln>
        </p:spPr>
      </p:pic>
      <p:pic>
        <p:nvPicPr>
          <p:cNvPr id="437" name="debian-color.png" descr="debian-color.png"/>
          <p:cNvPicPr>
            <a:picLocks noChangeAspect="1"/>
          </p:cNvPicPr>
          <p:nvPr/>
        </p:nvPicPr>
        <p:blipFill>
          <a:blip r:embed="rId90">
            <a:extLst/>
          </a:blip>
          <a:stretch>
            <a:fillRect/>
          </a:stretch>
        </p:blipFill>
        <p:spPr>
          <a:xfrm>
            <a:off x="11684000" y="10198100"/>
            <a:ext cx="1363981" cy="355600"/>
          </a:xfrm>
          <a:prstGeom prst="rect">
            <a:avLst/>
          </a:prstGeom>
          <a:ln w="12700">
            <a:miter lim="400000"/>
          </a:ln>
        </p:spPr>
      </p:pic>
      <p:pic>
        <p:nvPicPr>
          <p:cNvPr id="438" name="perl-dim.png" descr="perl-dim.png"/>
          <p:cNvPicPr>
            <a:picLocks noChangeAspect="1"/>
          </p:cNvPicPr>
          <p:nvPr/>
        </p:nvPicPr>
        <p:blipFill>
          <a:blip r:embed="rId91">
            <a:extLst/>
          </a:blip>
          <a:stretch>
            <a:fillRect/>
          </a:stretch>
        </p:blipFill>
        <p:spPr>
          <a:xfrm>
            <a:off x="14058900" y="10185399"/>
            <a:ext cx="989807" cy="368301"/>
          </a:xfrm>
          <a:prstGeom prst="rect">
            <a:avLst/>
          </a:prstGeom>
          <a:ln w="12700">
            <a:miter lim="400000"/>
          </a:ln>
        </p:spPr>
      </p:pic>
      <p:pic>
        <p:nvPicPr>
          <p:cNvPr id="439" name="gitlab-dim.png" descr="gitlab-dim.png"/>
          <p:cNvPicPr>
            <a:picLocks noChangeAspect="1"/>
          </p:cNvPicPr>
          <p:nvPr/>
        </p:nvPicPr>
        <p:blipFill>
          <a:blip r:embed="rId92">
            <a:extLst/>
          </a:blip>
          <a:stretch>
            <a:fillRect/>
          </a:stretch>
        </p:blipFill>
        <p:spPr>
          <a:xfrm>
            <a:off x="16052800" y="10198100"/>
            <a:ext cx="1352827" cy="355600"/>
          </a:xfrm>
          <a:prstGeom prst="rect">
            <a:avLst/>
          </a:prstGeom>
          <a:ln w="12700">
            <a:miter lim="400000"/>
          </a:ln>
        </p:spPr>
      </p:pic>
      <p:pic>
        <p:nvPicPr>
          <p:cNvPr id="440" name="memcached-dim.png" descr="memcached-dim.png"/>
          <p:cNvPicPr>
            <a:picLocks noChangeAspect="1"/>
          </p:cNvPicPr>
          <p:nvPr/>
        </p:nvPicPr>
        <p:blipFill>
          <a:blip r:embed="rId93">
            <a:extLst/>
          </a:blip>
          <a:stretch>
            <a:fillRect/>
          </a:stretch>
        </p:blipFill>
        <p:spPr>
          <a:xfrm>
            <a:off x="18389600" y="10185400"/>
            <a:ext cx="2148417" cy="368300"/>
          </a:xfrm>
          <a:prstGeom prst="rect">
            <a:avLst/>
          </a:prstGeom>
          <a:ln w="12700">
            <a:miter lim="400000"/>
          </a:ln>
        </p:spPr>
      </p:pic>
      <p:pic>
        <p:nvPicPr>
          <p:cNvPr id="441" name="nodejs-color.png" descr="nodejs-color.png"/>
          <p:cNvPicPr>
            <a:picLocks noChangeAspect="1"/>
          </p:cNvPicPr>
          <p:nvPr/>
        </p:nvPicPr>
        <p:blipFill>
          <a:blip r:embed="rId94">
            <a:extLst/>
          </a:blip>
          <a:stretch>
            <a:fillRect/>
          </a:stretch>
        </p:blipFill>
        <p:spPr>
          <a:xfrm>
            <a:off x="21539200" y="10185400"/>
            <a:ext cx="1485989" cy="368301"/>
          </a:xfrm>
          <a:prstGeom prst="rect">
            <a:avLst/>
          </a:prstGeom>
          <a:ln w="12700">
            <a:miter lim="400000"/>
          </a:ln>
        </p:spPr>
      </p:pic>
      <p:pic>
        <p:nvPicPr>
          <p:cNvPr id="442" name="upcloud-color.png" descr="upcloud-color.png"/>
          <p:cNvPicPr>
            <a:picLocks noChangeAspect="1"/>
          </p:cNvPicPr>
          <p:nvPr/>
        </p:nvPicPr>
        <p:blipFill>
          <a:blip r:embed="rId95">
            <a:extLst/>
          </a:blip>
          <a:stretch>
            <a:fillRect/>
          </a:stretch>
        </p:blipFill>
        <p:spPr>
          <a:xfrm>
            <a:off x="1320800" y="11087099"/>
            <a:ext cx="1796446" cy="330201"/>
          </a:xfrm>
          <a:prstGeom prst="rect">
            <a:avLst/>
          </a:prstGeom>
          <a:ln w="12700">
            <a:miter lim="400000"/>
          </a:ln>
        </p:spPr>
      </p:pic>
      <p:pic>
        <p:nvPicPr>
          <p:cNvPr id="443" name="apachekafka-dim.png" descr="apachekafka-dim.png"/>
          <p:cNvPicPr>
            <a:picLocks noChangeAspect="1"/>
          </p:cNvPicPr>
          <p:nvPr/>
        </p:nvPicPr>
        <p:blipFill>
          <a:blip r:embed="rId96">
            <a:extLst/>
          </a:blip>
          <a:stretch>
            <a:fillRect/>
          </a:stretch>
        </p:blipFill>
        <p:spPr>
          <a:xfrm>
            <a:off x="4508500" y="11074400"/>
            <a:ext cx="1171399" cy="368301"/>
          </a:xfrm>
          <a:prstGeom prst="rect">
            <a:avLst/>
          </a:prstGeom>
          <a:ln w="12700">
            <a:miter lim="400000"/>
          </a:ln>
        </p:spPr>
      </p:pic>
      <p:pic>
        <p:nvPicPr>
          <p:cNvPr id="444" name="consul-dim.png" descr="consul-dim.png"/>
          <p:cNvPicPr>
            <a:picLocks noChangeAspect="1"/>
          </p:cNvPicPr>
          <p:nvPr/>
        </p:nvPicPr>
        <p:blipFill>
          <a:blip r:embed="rId97">
            <a:extLst/>
          </a:blip>
          <a:stretch>
            <a:fillRect/>
          </a:stretch>
        </p:blipFill>
        <p:spPr>
          <a:xfrm>
            <a:off x="7086600" y="11074399"/>
            <a:ext cx="1397000" cy="355601"/>
          </a:xfrm>
          <a:prstGeom prst="rect">
            <a:avLst/>
          </a:prstGeom>
          <a:ln w="12700">
            <a:miter lim="400000"/>
          </a:ln>
        </p:spPr>
      </p:pic>
      <p:pic>
        <p:nvPicPr>
          <p:cNvPr id="445" name="heroku-dim.png" descr="heroku-dim.png"/>
          <p:cNvPicPr>
            <a:picLocks noChangeAspect="1"/>
          </p:cNvPicPr>
          <p:nvPr/>
        </p:nvPicPr>
        <p:blipFill>
          <a:blip r:embed="rId98">
            <a:extLst/>
          </a:blip>
          <a:stretch>
            <a:fillRect/>
          </a:stretch>
        </p:blipFill>
        <p:spPr>
          <a:xfrm>
            <a:off x="9893300" y="11074399"/>
            <a:ext cx="1397000" cy="355601"/>
          </a:xfrm>
          <a:prstGeom prst="rect">
            <a:avLst/>
          </a:prstGeom>
          <a:ln w="12700">
            <a:miter lim="400000"/>
          </a:ln>
        </p:spPr>
      </p:pic>
      <p:pic>
        <p:nvPicPr>
          <p:cNvPr id="446" name="firebase-dim.png" descr="firebase-dim.png"/>
          <p:cNvPicPr>
            <a:picLocks noChangeAspect="1"/>
          </p:cNvPicPr>
          <p:nvPr/>
        </p:nvPicPr>
        <p:blipFill>
          <a:blip r:embed="rId99">
            <a:extLst/>
          </a:blip>
          <a:stretch>
            <a:fillRect/>
          </a:stretch>
        </p:blipFill>
        <p:spPr>
          <a:xfrm>
            <a:off x="12712700" y="11074400"/>
            <a:ext cx="1590852" cy="368300"/>
          </a:xfrm>
          <a:prstGeom prst="rect">
            <a:avLst/>
          </a:prstGeom>
          <a:ln w="12700">
            <a:miter lim="400000"/>
          </a:ln>
        </p:spPr>
      </p:pic>
      <p:pic>
        <p:nvPicPr>
          <p:cNvPr id="447" name="redhatopenshift-dim.png" descr="redhatopenshift-dim.png"/>
          <p:cNvPicPr>
            <a:picLocks noChangeAspect="1"/>
          </p:cNvPicPr>
          <p:nvPr/>
        </p:nvPicPr>
        <p:blipFill>
          <a:blip r:embed="rId100">
            <a:extLst/>
          </a:blip>
          <a:stretch>
            <a:fillRect/>
          </a:stretch>
        </p:blipFill>
        <p:spPr>
          <a:xfrm>
            <a:off x="15697200" y="11074400"/>
            <a:ext cx="1829653" cy="342900"/>
          </a:xfrm>
          <a:prstGeom prst="rect">
            <a:avLst/>
          </a:prstGeom>
          <a:ln w="12700">
            <a:miter lim="400000"/>
          </a:ln>
        </p:spPr>
      </p:pic>
      <p:pic>
        <p:nvPicPr>
          <p:cNvPr id="448" name="upstash-dim.png" descr="upstash-dim.png"/>
          <p:cNvPicPr>
            <a:picLocks noChangeAspect="1"/>
          </p:cNvPicPr>
          <p:nvPr/>
        </p:nvPicPr>
        <p:blipFill>
          <a:blip r:embed="rId101">
            <a:extLst/>
          </a:blip>
          <a:stretch>
            <a:fillRect/>
          </a:stretch>
        </p:blipFill>
        <p:spPr>
          <a:xfrm>
            <a:off x="18923000" y="11074399"/>
            <a:ext cx="1537141" cy="368301"/>
          </a:xfrm>
          <a:prstGeom prst="rect">
            <a:avLst/>
          </a:prstGeom>
          <a:ln w="12700">
            <a:miter lim="400000"/>
          </a:ln>
        </p:spPr>
      </p:pic>
      <p:pic>
        <p:nvPicPr>
          <p:cNvPr id="449" name="vault-dim.png" descr="vault-dim.png"/>
          <p:cNvPicPr>
            <a:picLocks noChangeAspect="1"/>
          </p:cNvPicPr>
          <p:nvPr/>
        </p:nvPicPr>
        <p:blipFill>
          <a:blip r:embed="rId102">
            <a:extLst/>
          </a:blip>
          <a:stretch>
            <a:fillRect/>
          </a:stretch>
        </p:blipFill>
        <p:spPr>
          <a:xfrm>
            <a:off x="21856700" y="11074400"/>
            <a:ext cx="1163726" cy="368301"/>
          </a:xfrm>
          <a:prstGeom prst="rect">
            <a:avLst/>
          </a:prstGeom>
          <a:ln w="12700">
            <a:miter lim="400000"/>
          </a:ln>
        </p:spPr>
      </p:pic>
      <p:pic>
        <p:nvPicPr>
          <p:cNvPr id="450" name="prog-7.png" descr="prog-7.png"/>
          <p:cNvPicPr>
            <a:picLocks noChangeAspect="1"/>
          </p:cNvPicPr>
          <p:nvPr/>
        </p:nvPicPr>
        <p:blipFill>
          <a:blip r:embed="rId103">
            <a:extLst/>
          </a:blip>
          <a:stretch>
            <a:fillRect/>
          </a:stretch>
        </p:blipFill>
        <p:spPr>
          <a:xfrm>
            <a:off x="17170400" y="12395200"/>
            <a:ext cx="5842000" cy="4064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54"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455" name="I want to see"/>
          <p:cNvSpPr txBox="1"/>
          <p:nvPr/>
        </p:nvSpPr>
        <p:spPr>
          <a:xfrm>
            <a:off x="1295400" y="4203699"/>
            <a:ext cx="22707600" cy="1562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9200">
                <a:solidFill>
                  <a:srgbClr val="220D44"/>
                </a:solidFill>
                <a:latin typeface="Unbounded Regular ExtraBold"/>
                <a:ea typeface="Unbounded Regular ExtraBold"/>
                <a:cs typeface="Unbounded Regular ExtraBold"/>
                <a:sym typeface="Unbounded Regular ExtraBold"/>
              </a:defRPr>
            </a:lvl1pPr>
          </a:lstStyle>
          <a:p>
            <a:pPr/>
            <a:r>
              <a:t>I want to see</a:t>
            </a:r>
          </a:p>
        </p:txBody>
      </p:sp>
      <p:sp>
        <p:nvSpPr>
          <p:cNvPr id="456" name="the filesystem"/>
          <p:cNvSpPr txBox="1"/>
          <p:nvPr/>
        </p:nvSpPr>
        <p:spPr>
          <a:xfrm>
            <a:off x="1308100" y="5372099"/>
            <a:ext cx="22707600" cy="2057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i="1" sz="11800">
                <a:solidFill>
                  <a:srgbClr val="6033A6"/>
                </a:solidFill>
                <a:latin typeface="Instrument Serif Regular"/>
                <a:ea typeface="Instrument Serif Regular"/>
                <a:cs typeface="Instrument Serif Regular"/>
                <a:sym typeface="Instrument Serif Regular"/>
              </a:defRPr>
            </a:lvl1pPr>
          </a:lstStyle>
          <a:p>
            <a:pPr/>
            <a:r>
              <a:t>the filesystem</a:t>
            </a:r>
          </a:p>
        </p:txBody>
      </p:sp>
      <p:sp>
        <p:nvSpPr>
          <p:cNvPr id="457" name="Every system runs inside some box. I want to be able to open mine and read it."/>
          <p:cNvSpPr txBox="1"/>
          <p:nvPr/>
        </p:nvSpPr>
        <p:spPr>
          <a:xfrm>
            <a:off x="1320800" y="7708899"/>
            <a:ext cx="22707600" cy="698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600">
                <a:solidFill>
                  <a:srgbClr val="4B3051"/>
                </a:solidFill>
                <a:latin typeface="Geist Regular Regular"/>
                <a:ea typeface="Geist Regular Regular"/>
                <a:cs typeface="Geist Regular Regular"/>
                <a:sym typeface="Geist Regular Regular"/>
              </a:defRPr>
            </a:lvl1pPr>
          </a:lstStyle>
          <a:p>
            <a:pPr/>
            <a:r>
              <a:t>Every system runs inside some box. I want to be able to open mine and read it.</a:t>
            </a:r>
          </a:p>
        </p:txBody>
      </p:sp>
      <p:sp>
        <p:nvSpPr>
          <p:cNvPr id="458"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459" name="prog-8.png" descr="prog-8.png"/>
          <p:cNvPicPr>
            <a:picLocks noChangeAspect="1"/>
          </p:cNvPicPr>
          <p:nvPr/>
        </p:nvPicPr>
        <p:blipFill>
          <a:blip r:embed="rId4">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63"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464" name="From partners to our own server"/>
          <p:cNvSpPr txBox="1"/>
          <p:nvPr/>
        </p:nvSpPr>
        <p:spPr>
          <a:xfrm>
            <a:off x="1308100" y="2578100"/>
            <a:ext cx="22707600" cy="28003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7600">
                <a:solidFill>
                  <a:srgbClr val="220D44"/>
                </a:solidFill>
                <a:latin typeface="Unbounded Regular ExtraBold"/>
                <a:ea typeface="Unbounded Regular ExtraBold"/>
                <a:cs typeface="Unbounded Regular ExtraBold"/>
                <a:sym typeface="Unbounded Regular ExtraBold"/>
              </a:defRPr>
            </a:pPr>
            <a:r>
              <a:t>From partners</a:t>
            </a:r>
            <a:br/>
            <a:r>
              <a:rPr i="1" sz="9800">
                <a:solidFill>
                  <a:srgbClr val="6033A6"/>
                </a:solidFill>
                <a:latin typeface="Instrument Serif Regular"/>
                <a:ea typeface="Instrument Serif Regular"/>
                <a:cs typeface="Instrument Serif Regular"/>
                <a:sym typeface="Instrument Serif Regular"/>
              </a:rPr>
              <a:t>to our own server</a:t>
            </a:r>
          </a:p>
        </p:txBody>
      </p:sp>
      <p:sp>
        <p:nvSpPr>
          <p:cNvPr id="465"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466" name="viz-9-00.svg" descr="viz-9-00.svg"/>
          <p:cNvPicPr>
            <a:picLocks noChangeAspect="1"/>
          </p:cNvPicPr>
          <p:nvPr/>
        </p:nvPicPr>
        <p:blipFill>
          <a:blip r:embed="rId4">
            <a:extLst/>
          </a:blip>
          <a:stretch>
            <a:fillRect/>
          </a:stretch>
        </p:blipFill>
        <p:spPr>
          <a:xfrm>
            <a:off x="1168400" y="6477000"/>
            <a:ext cx="4330700" cy="1638300"/>
          </a:xfrm>
          <a:prstGeom prst="rect">
            <a:avLst/>
          </a:prstGeom>
          <a:ln w="12700">
            <a:miter lim="400000"/>
          </a:ln>
        </p:spPr>
      </p:pic>
      <p:pic>
        <p:nvPicPr>
          <p:cNvPr id="467" name="viz-9-01.svg" descr="viz-9-01.svg"/>
          <p:cNvPicPr>
            <a:picLocks noChangeAspect="1"/>
          </p:cNvPicPr>
          <p:nvPr/>
        </p:nvPicPr>
        <p:blipFill>
          <a:blip r:embed="rId5">
            <a:extLst/>
          </a:blip>
          <a:stretch>
            <a:fillRect/>
          </a:stretch>
        </p:blipFill>
        <p:spPr>
          <a:xfrm>
            <a:off x="1524000" y="6959600"/>
            <a:ext cx="863600" cy="660400"/>
          </a:xfrm>
          <a:prstGeom prst="rect">
            <a:avLst/>
          </a:prstGeom>
          <a:ln w="12700">
            <a:miter lim="400000"/>
          </a:ln>
        </p:spPr>
      </p:pic>
      <p:pic>
        <p:nvPicPr>
          <p:cNvPr id="468" name="viz-9-02.svg" descr="viz-9-02.svg"/>
          <p:cNvPicPr>
            <a:picLocks noChangeAspect="1"/>
          </p:cNvPicPr>
          <p:nvPr/>
        </p:nvPicPr>
        <p:blipFill>
          <a:blip r:embed="rId6">
            <a:extLst/>
          </a:blip>
          <a:stretch>
            <a:fillRect/>
          </a:stretch>
        </p:blipFill>
        <p:spPr>
          <a:xfrm>
            <a:off x="7061200" y="6477000"/>
            <a:ext cx="4330700" cy="1638300"/>
          </a:xfrm>
          <a:prstGeom prst="rect">
            <a:avLst/>
          </a:prstGeom>
          <a:ln w="12700">
            <a:miter lim="400000"/>
          </a:ln>
        </p:spPr>
      </p:pic>
      <p:pic>
        <p:nvPicPr>
          <p:cNvPr id="469" name="viz-9-03.svg" descr="viz-9-03.svg"/>
          <p:cNvPicPr>
            <a:picLocks noChangeAspect="1"/>
          </p:cNvPicPr>
          <p:nvPr/>
        </p:nvPicPr>
        <p:blipFill>
          <a:blip r:embed="rId7">
            <a:extLst/>
          </a:blip>
          <a:stretch>
            <a:fillRect/>
          </a:stretch>
        </p:blipFill>
        <p:spPr>
          <a:xfrm>
            <a:off x="7480300" y="6959600"/>
            <a:ext cx="736600" cy="660400"/>
          </a:xfrm>
          <a:prstGeom prst="rect">
            <a:avLst/>
          </a:prstGeom>
          <a:ln w="12700">
            <a:miter lim="400000"/>
          </a:ln>
        </p:spPr>
      </p:pic>
      <p:pic>
        <p:nvPicPr>
          <p:cNvPr id="470" name="viz-9-04.svg" descr="viz-9-04.svg"/>
          <p:cNvPicPr>
            <a:picLocks noChangeAspect="1"/>
          </p:cNvPicPr>
          <p:nvPr/>
        </p:nvPicPr>
        <p:blipFill>
          <a:blip r:embed="rId8">
            <a:extLst/>
          </a:blip>
          <a:stretch>
            <a:fillRect/>
          </a:stretch>
        </p:blipFill>
        <p:spPr>
          <a:xfrm>
            <a:off x="5384800" y="7137400"/>
            <a:ext cx="1790700" cy="317500"/>
          </a:xfrm>
          <a:prstGeom prst="rect">
            <a:avLst/>
          </a:prstGeom>
          <a:ln w="12700">
            <a:miter lim="400000"/>
          </a:ln>
        </p:spPr>
      </p:pic>
      <p:pic>
        <p:nvPicPr>
          <p:cNvPr id="471" name="viz-9-05.svg" descr="viz-9-05.svg"/>
          <p:cNvPicPr>
            <a:picLocks noChangeAspect="1"/>
          </p:cNvPicPr>
          <p:nvPr/>
        </p:nvPicPr>
        <p:blipFill>
          <a:blip r:embed="rId9">
            <a:extLst/>
          </a:blip>
          <a:stretch>
            <a:fillRect/>
          </a:stretch>
        </p:blipFill>
        <p:spPr>
          <a:xfrm>
            <a:off x="12954000" y="6477000"/>
            <a:ext cx="4330700" cy="1638300"/>
          </a:xfrm>
          <a:prstGeom prst="rect">
            <a:avLst/>
          </a:prstGeom>
          <a:ln w="12700">
            <a:miter lim="400000"/>
          </a:ln>
        </p:spPr>
      </p:pic>
      <p:pic>
        <p:nvPicPr>
          <p:cNvPr id="472" name="viz-9-06.svg" descr="viz-9-06.svg"/>
          <p:cNvPicPr>
            <a:picLocks noChangeAspect="1"/>
          </p:cNvPicPr>
          <p:nvPr/>
        </p:nvPicPr>
        <p:blipFill>
          <a:blip r:embed="rId10">
            <a:extLst/>
          </a:blip>
          <a:stretch>
            <a:fillRect/>
          </a:stretch>
        </p:blipFill>
        <p:spPr>
          <a:xfrm>
            <a:off x="13373100" y="6870700"/>
            <a:ext cx="736600" cy="787400"/>
          </a:xfrm>
          <a:prstGeom prst="rect">
            <a:avLst/>
          </a:prstGeom>
          <a:ln w="12700">
            <a:miter lim="400000"/>
          </a:ln>
        </p:spPr>
      </p:pic>
      <p:pic>
        <p:nvPicPr>
          <p:cNvPr id="473" name="viz-9-07.svg" descr="viz-9-07.svg"/>
          <p:cNvPicPr>
            <a:picLocks noChangeAspect="1"/>
          </p:cNvPicPr>
          <p:nvPr/>
        </p:nvPicPr>
        <p:blipFill>
          <a:blip r:embed="rId11">
            <a:extLst/>
          </a:blip>
          <a:stretch>
            <a:fillRect/>
          </a:stretch>
        </p:blipFill>
        <p:spPr>
          <a:xfrm>
            <a:off x="11277600" y="7137400"/>
            <a:ext cx="1790700" cy="317500"/>
          </a:xfrm>
          <a:prstGeom prst="rect">
            <a:avLst/>
          </a:prstGeom>
          <a:ln w="12700">
            <a:miter lim="400000"/>
          </a:ln>
        </p:spPr>
      </p:pic>
      <p:pic>
        <p:nvPicPr>
          <p:cNvPr id="474" name="viz-9-08.svg" descr="viz-9-08.svg"/>
          <p:cNvPicPr>
            <a:picLocks noChangeAspect="1"/>
          </p:cNvPicPr>
          <p:nvPr/>
        </p:nvPicPr>
        <p:blipFill>
          <a:blip r:embed="rId12">
            <a:extLst/>
          </a:blip>
          <a:stretch>
            <a:fillRect/>
          </a:stretch>
        </p:blipFill>
        <p:spPr>
          <a:xfrm>
            <a:off x="18846800" y="6477000"/>
            <a:ext cx="4330700" cy="1638300"/>
          </a:xfrm>
          <a:prstGeom prst="rect">
            <a:avLst/>
          </a:prstGeom>
          <a:ln w="12700">
            <a:miter lim="400000"/>
          </a:ln>
        </p:spPr>
      </p:pic>
      <p:pic>
        <p:nvPicPr>
          <p:cNvPr id="475" name="viz-9-09.svg" descr="viz-9-09.svg"/>
          <p:cNvPicPr>
            <a:picLocks noChangeAspect="1"/>
          </p:cNvPicPr>
          <p:nvPr/>
        </p:nvPicPr>
        <p:blipFill>
          <a:blip r:embed="rId13">
            <a:extLst/>
          </a:blip>
          <a:stretch>
            <a:fillRect/>
          </a:stretch>
        </p:blipFill>
        <p:spPr>
          <a:xfrm>
            <a:off x="19265900" y="6934200"/>
            <a:ext cx="736600" cy="711200"/>
          </a:xfrm>
          <a:prstGeom prst="rect">
            <a:avLst/>
          </a:prstGeom>
          <a:ln w="12700">
            <a:miter lim="400000"/>
          </a:ln>
        </p:spPr>
      </p:pic>
      <p:pic>
        <p:nvPicPr>
          <p:cNvPr id="476" name="viz-9-10.svg" descr="viz-9-10.svg"/>
          <p:cNvPicPr>
            <a:picLocks noChangeAspect="1"/>
          </p:cNvPicPr>
          <p:nvPr/>
        </p:nvPicPr>
        <p:blipFill>
          <a:blip r:embed="rId14">
            <a:extLst/>
          </a:blip>
          <a:stretch>
            <a:fillRect/>
          </a:stretch>
        </p:blipFill>
        <p:spPr>
          <a:xfrm>
            <a:off x="17170400" y="7137400"/>
            <a:ext cx="1790700" cy="317500"/>
          </a:xfrm>
          <a:prstGeom prst="rect">
            <a:avLst/>
          </a:prstGeom>
          <a:ln w="12700">
            <a:miter lim="400000"/>
          </a:ln>
        </p:spPr>
      </p:pic>
      <p:pic>
        <p:nvPicPr>
          <p:cNvPr id="477" name="viz-9-11.svg" descr="viz-9-11.svg"/>
          <p:cNvPicPr>
            <a:picLocks noChangeAspect="1"/>
          </p:cNvPicPr>
          <p:nvPr/>
        </p:nvPicPr>
        <p:blipFill>
          <a:blip r:embed="rId15">
            <a:extLst/>
          </a:blip>
          <a:stretch>
            <a:fillRect/>
          </a:stretch>
        </p:blipFill>
        <p:spPr>
          <a:xfrm>
            <a:off x="7061200" y="8001000"/>
            <a:ext cx="10223500" cy="495300"/>
          </a:xfrm>
          <a:prstGeom prst="rect">
            <a:avLst/>
          </a:prstGeom>
          <a:ln w="12700">
            <a:miter lim="400000"/>
          </a:ln>
        </p:spPr>
      </p:pic>
      <p:pic>
        <p:nvPicPr>
          <p:cNvPr id="478" name="viz-9-12.svg" descr="viz-9-12.svg"/>
          <p:cNvPicPr>
            <a:picLocks noChangeAspect="1"/>
          </p:cNvPicPr>
          <p:nvPr/>
        </p:nvPicPr>
        <p:blipFill>
          <a:blip r:embed="rId16">
            <a:extLst/>
          </a:blip>
          <a:stretch>
            <a:fillRect/>
          </a:stretch>
        </p:blipFill>
        <p:spPr>
          <a:xfrm>
            <a:off x="1168400" y="10058400"/>
            <a:ext cx="4330700" cy="1638300"/>
          </a:xfrm>
          <a:prstGeom prst="rect">
            <a:avLst/>
          </a:prstGeom>
          <a:ln w="12700">
            <a:miter lim="400000"/>
          </a:ln>
        </p:spPr>
      </p:pic>
      <p:pic>
        <p:nvPicPr>
          <p:cNvPr id="479" name="viz-9-13.svg" descr="viz-9-13.svg"/>
          <p:cNvPicPr>
            <a:picLocks noChangeAspect="1"/>
          </p:cNvPicPr>
          <p:nvPr/>
        </p:nvPicPr>
        <p:blipFill>
          <a:blip r:embed="rId5">
            <a:extLst/>
          </a:blip>
          <a:stretch>
            <a:fillRect/>
          </a:stretch>
        </p:blipFill>
        <p:spPr>
          <a:xfrm>
            <a:off x="1524000" y="10541000"/>
            <a:ext cx="863600" cy="660400"/>
          </a:xfrm>
          <a:prstGeom prst="rect">
            <a:avLst/>
          </a:prstGeom>
          <a:ln w="12700">
            <a:miter lim="400000"/>
          </a:ln>
        </p:spPr>
      </p:pic>
      <p:pic>
        <p:nvPicPr>
          <p:cNvPr id="480" name="viz-9-14.svg" descr="viz-9-14.svg"/>
          <p:cNvPicPr>
            <a:picLocks noChangeAspect="1"/>
          </p:cNvPicPr>
          <p:nvPr/>
        </p:nvPicPr>
        <p:blipFill>
          <a:blip r:embed="rId17">
            <a:extLst/>
          </a:blip>
          <a:stretch>
            <a:fillRect/>
          </a:stretch>
        </p:blipFill>
        <p:spPr>
          <a:xfrm>
            <a:off x="7061200" y="10058400"/>
            <a:ext cx="4330700" cy="1638300"/>
          </a:xfrm>
          <a:prstGeom prst="rect">
            <a:avLst/>
          </a:prstGeom>
          <a:ln w="12700">
            <a:miter lim="400000"/>
          </a:ln>
        </p:spPr>
      </p:pic>
      <p:pic>
        <p:nvPicPr>
          <p:cNvPr id="481" name="viz-9-15.svg" descr="viz-9-15.svg"/>
          <p:cNvPicPr>
            <a:picLocks noChangeAspect="1"/>
          </p:cNvPicPr>
          <p:nvPr/>
        </p:nvPicPr>
        <p:blipFill>
          <a:blip r:embed="rId18">
            <a:extLst/>
          </a:blip>
          <a:stretch>
            <a:fillRect/>
          </a:stretch>
        </p:blipFill>
        <p:spPr>
          <a:xfrm>
            <a:off x="7467600" y="10515600"/>
            <a:ext cx="762000" cy="711200"/>
          </a:xfrm>
          <a:prstGeom prst="rect">
            <a:avLst/>
          </a:prstGeom>
          <a:ln w="12700">
            <a:miter lim="400000"/>
          </a:ln>
        </p:spPr>
      </p:pic>
      <p:pic>
        <p:nvPicPr>
          <p:cNvPr id="482" name="viz-9-16.svg" descr="viz-9-16.svg"/>
          <p:cNvPicPr>
            <a:picLocks noChangeAspect="1"/>
          </p:cNvPicPr>
          <p:nvPr/>
        </p:nvPicPr>
        <p:blipFill>
          <a:blip r:embed="rId19">
            <a:extLst/>
          </a:blip>
          <a:stretch>
            <a:fillRect/>
          </a:stretch>
        </p:blipFill>
        <p:spPr>
          <a:xfrm>
            <a:off x="5384800" y="10718800"/>
            <a:ext cx="1790700" cy="317500"/>
          </a:xfrm>
          <a:prstGeom prst="rect">
            <a:avLst/>
          </a:prstGeom>
          <a:ln w="12700">
            <a:miter lim="400000"/>
          </a:ln>
        </p:spPr>
      </p:pic>
      <p:pic>
        <p:nvPicPr>
          <p:cNvPr id="483" name="viz-9-17.svg" descr="viz-9-17.svg"/>
          <p:cNvPicPr>
            <a:picLocks noChangeAspect="1"/>
          </p:cNvPicPr>
          <p:nvPr/>
        </p:nvPicPr>
        <p:blipFill>
          <a:blip r:embed="rId20">
            <a:extLst/>
          </a:blip>
          <a:stretch>
            <a:fillRect/>
          </a:stretch>
        </p:blipFill>
        <p:spPr>
          <a:xfrm>
            <a:off x="12954000" y="10058400"/>
            <a:ext cx="4330700" cy="1638300"/>
          </a:xfrm>
          <a:prstGeom prst="rect">
            <a:avLst/>
          </a:prstGeom>
          <a:ln w="12700">
            <a:miter lim="400000"/>
          </a:ln>
        </p:spPr>
      </p:pic>
      <p:pic>
        <p:nvPicPr>
          <p:cNvPr id="484" name="viz-9-18.svg" descr="viz-9-18.svg"/>
          <p:cNvPicPr>
            <a:picLocks noChangeAspect="1"/>
          </p:cNvPicPr>
          <p:nvPr/>
        </p:nvPicPr>
        <p:blipFill>
          <a:blip r:embed="rId13">
            <a:extLst/>
          </a:blip>
          <a:stretch>
            <a:fillRect/>
          </a:stretch>
        </p:blipFill>
        <p:spPr>
          <a:xfrm>
            <a:off x="13373100" y="10515600"/>
            <a:ext cx="736600" cy="711200"/>
          </a:xfrm>
          <a:prstGeom prst="rect">
            <a:avLst/>
          </a:prstGeom>
          <a:ln w="12700">
            <a:miter lim="400000"/>
          </a:ln>
        </p:spPr>
      </p:pic>
      <p:pic>
        <p:nvPicPr>
          <p:cNvPr id="485" name="viz-9-19.svg" descr="viz-9-19.svg"/>
          <p:cNvPicPr>
            <a:picLocks noChangeAspect="1"/>
          </p:cNvPicPr>
          <p:nvPr/>
        </p:nvPicPr>
        <p:blipFill>
          <a:blip r:embed="rId21">
            <a:extLst/>
          </a:blip>
          <a:stretch>
            <a:fillRect/>
          </a:stretch>
        </p:blipFill>
        <p:spPr>
          <a:xfrm>
            <a:off x="11277600" y="10718800"/>
            <a:ext cx="1790700" cy="317500"/>
          </a:xfrm>
          <a:prstGeom prst="rect">
            <a:avLst/>
          </a:prstGeom>
          <a:ln w="12700">
            <a:miter lim="400000"/>
          </a:ln>
        </p:spPr>
      </p:pic>
      <p:sp>
        <p:nvSpPr>
          <p:cNvPr id="486" name="2013"/>
          <p:cNvSpPr txBox="1"/>
          <p:nvPr/>
        </p:nvSpPr>
        <p:spPr>
          <a:xfrm>
            <a:off x="1320800" y="5918199"/>
            <a:ext cx="1397000" cy="546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6033A6"/>
                </a:solidFill>
                <a:latin typeface="Unbounded Regular SemiBold"/>
                <a:ea typeface="Unbounded Regular SemiBold"/>
                <a:cs typeface="Unbounded Regular SemiBold"/>
                <a:sym typeface="Unbounded Regular SemiBold"/>
              </a:defRPr>
            </a:lvl1pPr>
          </a:lstStyle>
          <a:p>
            <a:pPr/>
            <a:r>
              <a:t>2013</a:t>
            </a:r>
          </a:p>
        </p:txBody>
      </p:sp>
      <p:sp>
        <p:nvSpPr>
          <p:cNvPr id="487" name="Client sites on hosting partners' servers."/>
          <p:cNvSpPr txBox="1"/>
          <p:nvPr/>
        </p:nvSpPr>
        <p:spPr>
          <a:xfrm>
            <a:off x="2616200" y="5918200"/>
            <a:ext cx="15240000" cy="558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3D2644"/>
                </a:solidFill>
                <a:latin typeface="Geist Regular Regular"/>
                <a:ea typeface="Geist Regular Regular"/>
                <a:cs typeface="Geist Regular Regular"/>
                <a:sym typeface="Geist Regular Regular"/>
              </a:defRPr>
            </a:lvl1pPr>
          </a:lstStyle>
          <a:p>
            <a:pPr/>
            <a:r>
              <a:t>Client sites on hosting partners' servers.</a:t>
            </a:r>
          </a:p>
        </p:txBody>
      </p:sp>
      <p:sp>
        <p:nvSpPr>
          <p:cNvPr id="488" name="Agency"/>
          <p:cNvSpPr txBox="1"/>
          <p:nvPr/>
        </p:nvSpPr>
        <p:spPr>
          <a:xfrm>
            <a:off x="2514600" y="7048500"/>
            <a:ext cx="25146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Agency</a:t>
            </a:r>
          </a:p>
        </p:txBody>
      </p:sp>
      <p:sp>
        <p:nvSpPr>
          <p:cNvPr id="489" name="Control panel"/>
          <p:cNvSpPr txBox="1"/>
          <p:nvPr/>
        </p:nvSpPr>
        <p:spPr>
          <a:xfrm>
            <a:off x="8407400" y="7048500"/>
            <a:ext cx="25146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Control panel</a:t>
            </a:r>
          </a:p>
        </p:txBody>
      </p:sp>
      <p:sp>
        <p:nvSpPr>
          <p:cNvPr id="490" name="Jail"/>
          <p:cNvSpPr txBox="1"/>
          <p:nvPr/>
        </p:nvSpPr>
        <p:spPr>
          <a:xfrm>
            <a:off x="14300200" y="7048500"/>
            <a:ext cx="25146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Jail</a:t>
            </a:r>
          </a:p>
        </p:txBody>
      </p:sp>
      <p:sp>
        <p:nvSpPr>
          <p:cNvPr id="491" name="Their server"/>
          <p:cNvSpPr txBox="1"/>
          <p:nvPr/>
        </p:nvSpPr>
        <p:spPr>
          <a:xfrm>
            <a:off x="20193000" y="6845300"/>
            <a:ext cx="25146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Their server</a:t>
            </a:r>
          </a:p>
        </p:txBody>
      </p:sp>
      <p:sp>
        <p:nvSpPr>
          <p:cNvPr id="492" name="Apache"/>
          <p:cNvSpPr txBox="1"/>
          <p:nvPr/>
        </p:nvSpPr>
        <p:spPr>
          <a:xfrm>
            <a:off x="20193000" y="7327899"/>
            <a:ext cx="2514600" cy="45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9C90B7"/>
                </a:solidFill>
                <a:latin typeface="Geist Regular Regular"/>
                <a:ea typeface="Geist Regular Regular"/>
                <a:cs typeface="Geist Regular Regular"/>
                <a:sym typeface="Geist Regular Regular"/>
              </a:defRPr>
            </a:lvl1pPr>
          </a:lstStyle>
          <a:p>
            <a:pPr/>
            <a:r>
              <a:t>Apache</a:t>
            </a:r>
          </a:p>
        </p:txBody>
      </p:sp>
      <p:sp>
        <p:nvSpPr>
          <p:cNvPr id="493" name="Jails and control panels stood between us and the server."/>
          <p:cNvSpPr txBox="1"/>
          <p:nvPr/>
        </p:nvSpPr>
        <p:spPr>
          <a:xfrm>
            <a:off x="7213600" y="8458199"/>
            <a:ext cx="9906000" cy="45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9C90B7"/>
                </a:solidFill>
                <a:latin typeface="Geist Regular Regular"/>
                <a:ea typeface="Geist Regular Regular"/>
                <a:cs typeface="Geist Regular Regular"/>
                <a:sym typeface="Geist Regular Regular"/>
              </a:defRPr>
            </a:lvl1pPr>
          </a:lstStyle>
          <a:p>
            <a:pPr/>
            <a:r>
              <a:t>Jails and control panels stood between us and the server.</a:t>
            </a:r>
          </a:p>
        </p:txBody>
      </p:sp>
      <p:sp>
        <p:nvSpPr>
          <p:cNvPr id="494" name="2015"/>
          <p:cNvSpPr txBox="1"/>
          <p:nvPr/>
        </p:nvSpPr>
        <p:spPr>
          <a:xfrm>
            <a:off x="1320800" y="9499599"/>
            <a:ext cx="1397000" cy="546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6033A6"/>
                </a:solidFill>
                <a:latin typeface="Unbounded Regular SemiBold"/>
                <a:ea typeface="Unbounded Regular SemiBold"/>
                <a:cs typeface="Unbounded Regular SemiBold"/>
                <a:sym typeface="Unbounded Regular SemiBold"/>
              </a:defRPr>
            </a:lvl1pPr>
          </a:lstStyle>
          <a:p>
            <a:pPr/>
            <a:r>
              <a:t>2015</a:t>
            </a:r>
          </a:p>
        </p:txBody>
      </p:sp>
      <p:sp>
        <p:nvSpPr>
          <p:cNvPr id="495" name="Our first own VPS, to run the latest nginx and HHVM-FastCGI."/>
          <p:cNvSpPr txBox="1"/>
          <p:nvPr/>
        </p:nvSpPr>
        <p:spPr>
          <a:xfrm>
            <a:off x="2616200" y="9499600"/>
            <a:ext cx="17780000" cy="558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3D2644"/>
                </a:solidFill>
                <a:latin typeface="Geist Regular Regular"/>
                <a:ea typeface="Geist Regular Regular"/>
                <a:cs typeface="Geist Regular Regular"/>
                <a:sym typeface="Geist Regular Regular"/>
              </a:defRPr>
            </a:lvl1pPr>
          </a:lstStyle>
          <a:p>
            <a:pPr/>
            <a:r>
              <a:t>Our first own VPS, to run the latest nginx and HHVM-FastCGI.</a:t>
            </a:r>
          </a:p>
        </p:txBody>
      </p:sp>
      <p:sp>
        <p:nvSpPr>
          <p:cNvPr id="496" name="Agency"/>
          <p:cNvSpPr txBox="1"/>
          <p:nvPr/>
        </p:nvSpPr>
        <p:spPr>
          <a:xfrm>
            <a:off x="2514600" y="10629900"/>
            <a:ext cx="25146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Agency</a:t>
            </a:r>
          </a:p>
        </p:txBody>
      </p:sp>
      <p:sp>
        <p:nvSpPr>
          <p:cNvPr id="497" name="SSH"/>
          <p:cNvSpPr txBox="1"/>
          <p:nvPr/>
        </p:nvSpPr>
        <p:spPr>
          <a:xfrm>
            <a:off x="8407400" y="10629900"/>
            <a:ext cx="25146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SSH</a:t>
            </a:r>
          </a:p>
        </p:txBody>
      </p:sp>
      <p:sp>
        <p:nvSpPr>
          <p:cNvPr id="498" name="Our own VPS"/>
          <p:cNvSpPr txBox="1"/>
          <p:nvPr/>
        </p:nvSpPr>
        <p:spPr>
          <a:xfrm>
            <a:off x="14300200" y="10426700"/>
            <a:ext cx="25146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Our own VPS</a:t>
            </a:r>
          </a:p>
        </p:txBody>
      </p:sp>
      <p:sp>
        <p:nvSpPr>
          <p:cNvPr id="499" name="nginx"/>
          <p:cNvSpPr txBox="1"/>
          <p:nvPr/>
        </p:nvSpPr>
        <p:spPr>
          <a:xfrm>
            <a:off x="14300200" y="10909299"/>
            <a:ext cx="2514600" cy="45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9C90B7"/>
                </a:solidFill>
                <a:latin typeface="Geist Regular Regular"/>
                <a:ea typeface="Geist Regular Regular"/>
                <a:cs typeface="Geist Regular Regular"/>
                <a:sym typeface="Geist Regular Regular"/>
              </a:defRPr>
            </a:lvl1pPr>
          </a:lstStyle>
          <a:p>
            <a:pPr/>
            <a:r>
              <a:t>nginx</a:t>
            </a:r>
          </a:p>
        </p:txBody>
      </p:sp>
      <p:pic>
        <p:nvPicPr>
          <p:cNvPr id="500" name="prog-9.png" descr="prog-9.png"/>
          <p:cNvPicPr>
            <a:picLocks noChangeAspect="1"/>
          </p:cNvPicPr>
          <p:nvPr/>
        </p:nvPicPr>
        <p:blipFill>
          <a:blip r:embed="rId22">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04"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505" name="Choosing providers, and leaving them"/>
          <p:cNvSpPr txBox="1"/>
          <p:nvPr/>
        </p:nvSpPr>
        <p:spPr>
          <a:xfrm>
            <a:off x="1308100" y="2768599"/>
            <a:ext cx="22707600" cy="1714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7600">
                <a:solidFill>
                  <a:srgbClr val="220D44"/>
                </a:solidFill>
                <a:latin typeface="Unbounded Regular ExtraBold"/>
                <a:ea typeface="Unbounded Regular ExtraBold"/>
                <a:cs typeface="Unbounded Regular ExtraBold"/>
                <a:sym typeface="Unbounded Regular ExtraBold"/>
              </a:defRPr>
            </a:pPr>
            <a:r>
              <a:t>Choosing providers, </a:t>
            </a:r>
            <a:r>
              <a:rPr i="1" sz="9800">
                <a:solidFill>
                  <a:srgbClr val="6033A6"/>
                </a:solidFill>
                <a:latin typeface="Instrument Serif Regular"/>
                <a:ea typeface="Instrument Serif Regular"/>
                <a:cs typeface="Instrument Serif Regular"/>
                <a:sym typeface="Instrument Serif Regular"/>
              </a:rPr>
              <a:t>and leaving them</a:t>
            </a:r>
          </a:p>
        </p:txBody>
      </p:sp>
      <p:sp>
        <p:nvSpPr>
          <p:cNvPr id="506"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507" name="viz-10-00.svg" descr="viz-10-00.svg"/>
          <p:cNvPicPr>
            <a:picLocks noChangeAspect="1"/>
          </p:cNvPicPr>
          <p:nvPr/>
        </p:nvPicPr>
        <p:blipFill>
          <a:blip r:embed="rId4">
            <a:extLst/>
          </a:blip>
          <a:stretch>
            <a:fillRect/>
          </a:stretch>
        </p:blipFill>
        <p:spPr>
          <a:xfrm>
            <a:off x="1168400" y="7721600"/>
            <a:ext cx="22009100" cy="317500"/>
          </a:xfrm>
          <a:prstGeom prst="rect">
            <a:avLst/>
          </a:prstGeom>
          <a:ln w="12700">
            <a:miter lim="400000"/>
          </a:ln>
        </p:spPr>
      </p:pic>
      <p:pic>
        <p:nvPicPr>
          <p:cNvPr id="508" name="viz-10-01.svg" descr="viz-10-01.svg"/>
          <p:cNvPicPr>
            <a:picLocks noChangeAspect="1"/>
          </p:cNvPicPr>
          <p:nvPr/>
        </p:nvPicPr>
        <p:blipFill>
          <a:blip r:embed="rId5">
            <a:extLst/>
          </a:blip>
          <a:stretch>
            <a:fillRect/>
          </a:stretch>
        </p:blipFill>
        <p:spPr>
          <a:xfrm>
            <a:off x="8712200" y="6972300"/>
            <a:ext cx="3670300" cy="762000"/>
          </a:xfrm>
          <a:prstGeom prst="rect">
            <a:avLst/>
          </a:prstGeom>
          <a:ln w="12700">
            <a:miter lim="400000"/>
          </a:ln>
        </p:spPr>
      </p:pic>
      <p:pic>
        <p:nvPicPr>
          <p:cNvPr id="509" name="viz-10-02.svg" descr="viz-10-02.svg"/>
          <p:cNvPicPr>
            <a:picLocks noChangeAspect="1"/>
          </p:cNvPicPr>
          <p:nvPr/>
        </p:nvPicPr>
        <p:blipFill>
          <a:blip r:embed="rId6">
            <a:extLst/>
          </a:blip>
          <a:stretch>
            <a:fillRect/>
          </a:stretch>
        </p:blipFill>
        <p:spPr>
          <a:xfrm>
            <a:off x="1155700" y="5613400"/>
            <a:ext cx="838200" cy="711200"/>
          </a:xfrm>
          <a:prstGeom prst="rect">
            <a:avLst/>
          </a:prstGeom>
          <a:ln w="12700">
            <a:miter lim="400000"/>
          </a:ln>
        </p:spPr>
      </p:pic>
      <p:pic>
        <p:nvPicPr>
          <p:cNvPr id="510" name="viz-10-03.svg" descr="viz-10-03.svg"/>
          <p:cNvPicPr>
            <a:picLocks noChangeAspect="1"/>
          </p:cNvPicPr>
          <p:nvPr/>
        </p:nvPicPr>
        <p:blipFill>
          <a:blip r:embed="rId7">
            <a:extLst/>
          </a:blip>
          <a:stretch>
            <a:fillRect/>
          </a:stretch>
        </p:blipFill>
        <p:spPr>
          <a:xfrm>
            <a:off x="1155700" y="7569200"/>
            <a:ext cx="622300" cy="622300"/>
          </a:xfrm>
          <a:prstGeom prst="rect">
            <a:avLst/>
          </a:prstGeom>
          <a:ln w="12700">
            <a:miter lim="400000"/>
          </a:ln>
        </p:spPr>
      </p:pic>
      <p:pic>
        <p:nvPicPr>
          <p:cNvPr id="511" name="viz-10-04.svg" descr="viz-10-04.svg"/>
          <p:cNvPicPr>
            <a:picLocks noChangeAspect="1"/>
          </p:cNvPicPr>
          <p:nvPr/>
        </p:nvPicPr>
        <p:blipFill>
          <a:blip r:embed="rId8">
            <a:extLst/>
          </a:blip>
          <a:stretch>
            <a:fillRect/>
          </a:stretch>
        </p:blipFill>
        <p:spPr>
          <a:xfrm>
            <a:off x="4838700" y="5562600"/>
            <a:ext cx="838200" cy="774700"/>
          </a:xfrm>
          <a:prstGeom prst="rect">
            <a:avLst/>
          </a:prstGeom>
          <a:ln w="12700">
            <a:miter lim="400000"/>
          </a:ln>
        </p:spPr>
      </p:pic>
      <p:pic>
        <p:nvPicPr>
          <p:cNvPr id="512" name="viz-10-05.svg" descr="viz-10-05.svg"/>
          <p:cNvPicPr>
            <a:picLocks noChangeAspect="1"/>
          </p:cNvPicPr>
          <p:nvPr/>
        </p:nvPicPr>
        <p:blipFill>
          <a:blip r:embed="rId7">
            <a:extLst/>
          </a:blip>
          <a:stretch>
            <a:fillRect/>
          </a:stretch>
        </p:blipFill>
        <p:spPr>
          <a:xfrm>
            <a:off x="4838700" y="7569200"/>
            <a:ext cx="622300" cy="622300"/>
          </a:xfrm>
          <a:prstGeom prst="rect">
            <a:avLst/>
          </a:prstGeom>
          <a:ln w="12700">
            <a:miter lim="400000"/>
          </a:ln>
        </p:spPr>
      </p:pic>
      <p:pic>
        <p:nvPicPr>
          <p:cNvPr id="513" name="viz-10-06.svg" descr="viz-10-06.svg"/>
          <p:cNvPicPr>
            <a:picLocks noChangeAspect="1"/>
          </p:cNvPicPr>
          <p:nvPr/>
        </p:nvPicPr>
        <p:blipFill>
          <a:blip r:embed="rId9">
            <a:extLst/>
          </a:blip>
          <a:stretch>
            <a:fillRect/>
          </a:stretch>
        </p:blipFill>
        <p:spPr>
          <a:xfrm>
            <a:off x="8585200" y="5549900"/>
            <a:ext cx="711200" cy="838200"/>
          </a:xfrm>
          <a:prstGeom prst="rect">
            <a:avLst/>
          </a:prstGeom>
          <a:ln w="12700">
            <a:miter lim="400000"/>
          </a:ln>
        </p:spPr>
      </p:pic>
      <p:pic>
        <p:nvPicPr>
          <p:cNvPr id="514" name="viz-10-07.svg" descr="viz-10-07.svg"/>
          <p:cNvPicPr>
            <a:picLocks noChangeAspect="1"/>
          </p:cNvPicPr>
          <p:nvPr/>
        </p:nvPicPr>
        <p:blipFill>
          <a:blip r:embed="rId10">
            <a:extLst/>
          </a:blip>
          <a:stretch>
            <a:fillRect/>
          </a:stretch>
        </p:blipFill>
        <p:spPr>
          <a:xfrm>
            <a:off x="8521700" y="7569200"/>
            <a:ext cx="622300" cy="622300"/>
          </a:xfrm>
          <a:prstGeom prst="rect">
            <a:avLst/>
          </a:prstGeom>
          <a:ln w="12700">
            <a:miter lim="400000"/>
          </a:ln>
        </p:spPr>
      </p:pic>
      <p:pic>
        <p:nvPicPr>
          <p:cNvPr id="515" name="viz-10-08.svg" descr="viz-10-08.svg"/>
          <p:cNvPicPr>
            <a:picLocks noChangeAspect="1"/>
          </p:cNvPicPr>
          <p:nvPr/>
        </p:nvPicPr>
        <p:blipFill>
          <a:blip r:embed="rId11">
            <a:extLst/>
          </a:blip>
          <a:stretch>
            <a:fillRect/>
          </a:stretch>
        </p:blipFill>
        <p:spPr>
          <a:xfrm>
            <a:off x="12217400" y="5651500"/>
            <a:ext cx="850900" cy="685800"/>
          </a:xfrm>
          <a:prstGeom prst="rect">
            <a:avLst/>
          </a:prstGeom>
          <a:ln w="12700">
            <a:miter lim="400000"/>
          </a:ln>
        </p:spPr>
      </p:pic>
      <p:pic>
        <p:nvPicPr>
          <p:cNvPr id="516" name="viz-10-09.svg" descr="viz-10-09.svg"/>
          <p:cNvPicPr>
            <a:picLocks noChangeAspect="1"/>
          </p:cNvPicPr>
          <p:nvPr/>
        </p:nvPicPr>
        <p:blipFill>
          <a:blip r:embed="rId7">
            <a:extLst/>
          </a:blip>
          <a:stretch>
            <a:fillRect/>
          </a:stretch>
        </p:blipFill>
        <p:spPr>
          <a:xfrm>
            <a:off x="12204700" y="7569200"/>
            <a:ext cx="622300" cy="622300"/>
          </a:xfrm>
          <a:prstGeom prst="rect">
            <a:avLst/>
          </a:prstGeom>
          <a:ln w="12700">
            <a:miter lim="400000"/>
          </a:ln>
        </p:spPr>
      </p:pic>
      <p:pic>
        <p:nvPicPr>
          <p:cNvPr id="517" name="viz-10-10.svg" descr="viz-10-10.svg"/>
          <p:cNvPicPr>
            <a:picLocks noChangeAspect="1"/>
          </p:cNvPicPr>
          <p:nvPr/>
        </p:nvPicPr>
        <p:blipFill>
          <a:blip r:embed="rId12">
            <a:extLst/>
          </a:blip>
          <a:stretch>
            <a:fillRect/>
          </a:stretch>
        </p:blipFill>
        <p:spPr>
          <a:xfrm>
            <a:off x="15875000" y="5588000"/>
            <a:ext cx="863600" cy="711200"/>
          </a:xfrm>
          <a:prstGeom prst="rect">
            <a:avLst/>
          </a:prstGeom>
          <a:ln w="12700">
            <a:miter lim="400000"/>
          </a:ln>
        </p:spPr>
      </p:pic>
      <p:pic>
        <p:nvPicPr>
          <p:cNvPr id="518" name="viz-10-11.svg" descr="viz-10-11.svg"/>
          <p:cNvPicPr>
            <a:picLocks noChangeAspect="1"/>
          </p:cNvPicPr>
          <p:nvPr/>
        </p:nvPicPr>
        <p:blipFill>
          <a:blip r:embed="rId7">
            <a:extLst/>
          </a:blip>
          <a:stretch>
            <a:fillRect/>
          </a:stretch>
        </p:blipFill>
        <p:spPr>
          <a:xfrm>
            <a:off x="15887700" y="7569200"/>
            <a:ext cx="622300" cy="622300"/>
          </a:xfrm>
          <a:prstGeom prst="rect">
            <a:avLst/>
          </a:prstGeom>
          <a:ln w="12700">
            <a:miter lim="400000"/>
          </a:ln>
        </p:spPr>
      </p:pic>
      <p:pic>
        <p:nvPicPr>
          <p:cNvPr id="519" name="viz-10-12.svg" descr="viz-10-12.svg"/>
          <p:cNvPicPr>
            <a:picLocks noChangeAspect="1"/>
          </p:cNvPicPr>
          <p:nvPr/>
        </p:nvPicPr>
        <p:blipFill>
          <a:blip r:embed="rId13">
            <a:extLst/>
          </a:blip>
          <a:stretch>
            <a:fillRect/>
          </a:stretch>
        </p:blipFill>
        <p:spPr>
          <a:xfrm>
            <a:off x="19634200" y="5562600"/>
            <a:ext cx="711200" cy="812800"/>
          </a:xfrm>
          <a:prstGeom prst="rect">
            <a:avLst/>
          </a:prstGeom>
          <a:ln w="12700">
            <a:miter lim="400000"/>
          </a:ln>
        </p:spPr>
      </p:pic>
      <p:pic>
        <p:nvPicPr>
          <p:cNvPr id="520" name="viz-10-13.svg" descr="viz-10-13.svg"/>
          <p:cNvPicPr>
            <a:picLocks noChangeAspect="1"/>
          </p:cNvPicPr>
          <p:nvPr/>
        </p:nvPicPr>
        <p:blipFill>
          <a:blip r:embed="rId7">
            <a:extLst/>
          </a:blip>
          <a:stretch>
            <a:fillRect/>
          </a:stretch>
        </p:blipFill>
        <p:spPr>
          <a:xfrm>
            <a:off x="19570700" y="7569200"/>
            <a:ext cx="622300" cy="622300"/>
          </a:xfrm>
          <a:prstGeom prst="rect">
            <a:avLst/>
          </a:prstGeom>
          <a:ln w="12700">
            <a:miter lim="400000"/>
          </a:ln>
        </p:spPr>
      </p:pic>
      <p:sp>
        <p:nvSpPr>
          <p:cNvPr id="521" name="2015"/>
          <p:cNvSpPr txBox="1"/>
          <p:nvPr/>
        </p:nvSpPr>
        <p:spPr>
          <a:xfrm>
            <a:off x="1270000" y="6553200"/>
            <a:ext cx="3429000" cy="546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6033A6"/>
                </a:solidFill>
                <a:latin typeface="Unbounded Regular SemiBold"/>
                <a:ea typeface="Unbounded Regular SemiBold"/>
                <a:cs typeface="Unbounded Regular SemiBold"/>
                <a:sym typeface="Unbounded Regular SemiBold"/>
              </a:defRPr>
            </a:lvl1pPr>
          </a:lstStyle>
          <a:p>
            <a:pPr/>
            <a:r>
              <a:t>2015</a:t>
            </a:r>
          </a:p>
        </p:txBody>
      </p:sp>
      <p:sp>
        <p:nvSpPr>
          <p:cNvPr id="522" name="A US cloud"/>
          <p:cNvSpPr txBox="1"/>
          <p:nvPr/>
        </p:nvSpPr>
        <p:spPr>
          <a:xfrm>
            <a:off x="1270000" y="8382000"/>
            <a:ext cx="34290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A US cloud</a:t>
            </a:r>
          </a:p>
        </p:txBody>
      </p:sp>
      <p:sp>
        <p:nvSpPr>
          <p:cNvPr id="523" name="The first VPS."/>
          <p:cNvSpPr txBox="1"/>
          <p:nvPr/>
        </p:nvSpPr>
        <p:spPr>
          <a:xfrm>
            <a:off x="1269999" y="8915400"/>
            <a:ext cx="3175001" cy="45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3D2644"/>
                </a:solidFill>
                <a:latin typeface="Geist Regular Regular"/>
                <a:ea typeface="Geist Regular Regular"/>
                <a:cs typeface="Geist Regular Regular"/>
                <a:sym typeface="Geist Regular Regular"/>
              </a:defRPr>
            </a:lvl1pPr>
          </a:lstStyle>
          <a:p>
            <a:pPr/>
            <a:r>
              <a:t>The first VPS.</a:t>
            </a:r>
          </a:p>
        </p:txBody>
      </p:sp>
      <p:sp>
        <p:nvSpPr>
          <p:cNvPr id="524" name="2016"/>
          <p:cNvSpPr txBox="1"/>
          <p:nvPr/>
        </p:nvSpPr>
        <p:spPr>
          <a:xfrm>
            <a:off x="4953000" y="6553200"/>
            <a:ext cx="3429000" cy="546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6033A6"/>
                </a:solidFill>
                <a:latin typeface="Unbounded Regular SemiBold"/>
                <a:ea typeface="Unbounded Regular SemiBold"/>
                <a:cs typeface="Unbounded Regular SemiBold"/>
                <a:sym typeface="Unbounded Regular SemiBold"/>
              </a:defRPr>
            </a:lvl1pPr>
          </a:lstStyle>
          <a:p>
            <a:pPr/>
            <a:r>
              <a:t>2016</a:t>
            </a:r>
          </a:p>
        </p:txBody>
      </p:sp>
      <p:sp>
        <p:nvSpPr>
          <p:cNvPr id="525" name="In France"/>
          <p:cNvSpPr txBox="1"/>
          <p:nvPr/>
        </p:nvSpPr>
        <p:spPr>
          <a:xfrm>
            <a:off x="4953000" y="8382000"/>
            <a:ext cx="34290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In France</a:t>
            </a:r>
          </a:p>
        </p:txBody>
      </p:sp>
      <p:sp>
        <p:nvSpPr>
          <p:cNvPr id="526" name="2 web, 2 database and 1 file server."/>
          <p:cNvSpPr txBox="1"/>
          <p:nvPr/>
        </p:nvSpPr>
        <p:spPr>
          <a:xfrm>
            <a:off x="4953000" y="8915400"/>
            <a:ext cx="3175000" cy="7772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200">
                <a:solidFill>
                  <a:srgbClr val="3D2644"/>
                </a:solidFill>
                <a:latin typeface="Geist Regular Regular"/>
                <a:ea typeface="Geist Regular Regular"/>
                <a:cs typeface="Geist Regular Regular"/>
                <a:sym typeface="Geist Regular Regular"/>
              </a:defRPr>
            </a:pPr>
            <a:r>
              <a:t>2 web, 2 database</a:t>
            </a:r>
            <a:br/>
            <a:r>
              <a:t>and 1 file server.</a:t>
            </a:r>
          </a:p>
        </p:txBody>
      </p:sp>
      <p:sp>
        <p:nvSpPr>
          <p:cNvPr id="527" name="2016"/>
          <p:cNvSpPr txBox="1"/>
          <p:nvPr/>
        </p:nvSpPr>
        <p:spPr>
          <a:xfrm>
            <a:off x="8636000" y="6553200"/>
            <a:ext cx="3429000" cy="546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6033A6"/>
                </a:solidFill>
                <a:latin typeface="Unbounded Regular SemiBold"/>
                <a:ea typeface="Unbounded Regular SemiBold"/>
                <a:cs typeface="Unbounded Regular SemiBold"/>
                <a:sym typeface="Unbounded Regular SemiBold"/>
              </a:defRPr>
            </a:lvl1pPr>
          </a:lstStyle>
          <a:p>
            <a:pPr/>
            <a:r>
              <a:t>2016</a:t>
            </a:r>
          </a:p>
        </p:txBody>
      </p:sp>
      <p:sp>
        <p:nvSpPr>
          <p:cNvPr id="528" name="The outage"/>
          <p:cNvSpPr txBox="1"/>
          <p:nvPr/>
        </p:nvSpPr>
        <p:spPr>
          <a:xfrm>
            <a:off x="8636000" y="8382000"/>
            <a:ext cx="34290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The outage</a:t>
            </a:r>
          </a:p>
        </p:txBody>
      </p:sp>
      <p:sp>
        <p:nvSpPr>
          <p:cNvPr id="529" name="Every client site hangs."/>
          <p:cNvSpPr txBox="1"/>
          <p:nvPr/>
        </p:nvSpPr>
        <p:spPr>
          <a:xfrm>
            <a:off x="8636000" y="8915400"/>
            <a:ext cx="3175000" cy="7772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200">
                <a:solidFill>
                  <a:srgbClr val="3D2644"/>
                </a:solidFill>
                <a:latin typeface="Geist Regular Regular"/>
                <a:ea typeface="Geist Regular Regular"/>
                <a:cs typeface="Geist Regular Regular"/>
                <a:sym typeface="Geist Regular Regular"/>
              </a:defRPr>
            </a:pPr>
            <a:r>
              <a:t>Every client</a:t>
            </a:r>
            <a:br/>
            <a:r>
              <a:t>site hangs.</a:t>
            </a:r>
          </a:p>
        </p:txBody>
      </p:sp>
      <p:sp>
        <p:nvSpPr>
          <p:cNvPr id="530" name="2016"/>
          <p:cNvSpPr txBox="1"/>
          <p:nvPr/>
        </p:nvSpPr>
        <p:spPr>
          <a:xfrm>
            <a:off x="12319000" y="6553200"/>
            <a:ext cx="3429000" cy="546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6033A6"/>
                </a:solidFill>
                <a:latin typeface="Unbounded Regular SemiBold"/>
                <a:ea typeface="Unbounded Regular SemiBold"/>
                <a:cs typeface="Unbounded Regular SemiBold"/>
                <a:sym typeface="Unbounded Regular SemiBold"/>
              </a:defRPr>
            </a:lvl1pPr>
          </a:lstStyle>
          <a:p>
            <a:pPr/>
            <a:r>
              <a:t>2016</a:t>
            </a:r>
          </a:p>
        </p:txBody>
      </p:sp>
      <p:sp>
        <p:nvSpPr>
          <p:cNvPr id="531" name="The move"/>
          <p:cNvSpPr txBox="1"/>
          <p:nvPr/>
        </p:nvSpPr>
        <p:spPr>
          <a:xfrm>
            <a:off x="12319000" y="8382000"/>
            <a:ext cx="34290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The move</a:t>
            </a:r>
          </a:p>
        </p:txBody>
      </p:sp>
      <p:sp>
        <p:nvSpPr>
          <p:cNvPr id="532" name="Every site moved to a local data center in Finland."/>
          <p:cNvSpPr txBox="1"/>
          <p:nvPr/>
        </p:nvSpPr>
        <p:spPr>
          <a:xfrm>
            <a:off x="12319000" y="8915400"/>
            <a:ext cx="3175000" cy="109728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200">
                <a:solidFill>
                  <a:srgbClr val="3D2644"/>
                </a:solidFill>
                <a:latin typeface="Geist Regular Regular"/>
                <a:ea typeface="Geist Regular Regular"/>
                <a:cs typeface="Geist Regular Regular"/>
                <a:sym typeface="Geist Regular Regular"/>
              </a:defRPr>
            </a:pPr>
            <a:r>
              <a:t>Every site moved</a:t>
            </a:r>
            <a:br/>
            <a:r>
              <a:t>to a local data</a:t>
            </a:r>
            <a:br/>
            <a:r>
              <a:t>center in Finland.</a:t>
            </a:r>
          </a:p>
        </p:txBody>
      </p:sp>
      <p:sp>
        <p:nvSpPr>
          <p:cNvPr id="533" name="Since 2016"/>
          <p:cNvSpPr txBox="1"/>
          <p:nvPr/>
        </p:nvSpPr>
        <p:spPr>
          <a:xfrm>
            <a:off x="16002000" y="6553200"/>
            <a:ext cx="3429000" cy="546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6033A6"/>
                </a:solidFill>
                <a:latin typeface="Unbounded Regular SemiBold"/>
                <a:ea typeface="Unbounded Regular SemiBold"/>
                <a:cs typeface="Unbounded Regular SemiBold"/>
                <a:sym typeface="Unbounded Regular SemiBold"/>
              </a:defRPr>
            </a:lvl1pPr>
          </a:lstStyle>
          <a:p>
            <a:pPr/>
            <a:r>
              <a:t>Since 2016</a:t>
            </a:r>
          </a:p>
        </p:txBody>
      </p:sp>
      <p:sp>
        <p:nvSpPr>
          <p:cNvPr id="534" name="The rock cave"/>
          <p:cNvSpPr txBox="1"/>
          <p:nvPr/>
        </p:nvSpPr>
        <p:spPr>
          <a:xfrm>
            <a:off x="16002000" y="8382000"/>
            <a:ext cx="34290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The rock cave</a:t>
            </a:r>
          </a:p>
        </p:txBody>
      </p:sp>
      <p:sp>
        <p:nvSpPr>
          <p:cNvPr id="535" name="A datacentre in a former army rock cave, on wind power."/>
          <p:cNvSpPr txBox="1"/>
          <p:nvPr/>
        </p:nvSpPr>
        <p:spPr>
          <a:xfrm>
            <a:off x="16002000" y="8915400"/>
            <a:ext cx="3175000" cy="109728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200">
                <a:solidFill>
                  <a:srgbClr val="3D2644"/>
                </a:solidFill>
                <a:latin typeface="Geist Regular Regular"/>
                <a:ea typeface="Geist Regular Regular"/>
                <a:cs typeface="Geist Regular Regular"/>
                <a:sym typeface="Geist Regular Regular"/>
              </a:defRPr>
            </a:pPr>
            <a:r>
              <a:t>A datacentre in a</a:t>
            </a:r>
            <a:br/>
            <a:r>
              <a:t>former army rock</a:t>
            </a:r>
            <a:br/>
            <a:r>
              <a:t>cave, on wind power.</a:t>
            </a:r>
          </a:p>
        </p:txBody>
      </p:sp>
      <p:sp>
        <p:nvSpPr>
          <p:cNvPr id="536" name="2026"/>
          <p:cNvSpPr txBox="1"/>
          <p:nvPr/>
        </p:nvSpPr>
        <p:spPr>
          <a:xfrm>
            <a:off x="19685000" y="6553200"/>
            <a:ext cx="3429000" cy="546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6033A6"/>
                </a:solidFill>
                <a:latin typeface="Unbounded Regular SemiBold"/>
                <a:ea typeface="Unbounded Regular SemiBold"/>
                <a:cs typeface="Unbounded Regular SemiBold"/>
                <a:sym typeface="Unbounded Regular SemiBold"/>
              </a:defRPr>
            </a:lvl1pPr>
          </a:lstStyle>
          <a:p>
            <a:pPr/>
            <a:r>
              <a:t>2026</a:t>
            </a:r>
          </a:p>
        </p:txBody>
      </p:sp>
      <p:sp>
        <p:nvSpPr>
          <p:cNvPr id="537" name="Today"/>
          <p:cNvSpPr txBox="1"/>
          <p:nvPr/>
        </p:nvSpPr>
        <p:spPr>
          <a:xfrm>
            <a:off x="19685000" y="8382000"/>
            <a:ext cx="34290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Today</a:t>
            </a:r>
          </a:p>
        </p:txBody>
      </p:sp>
      <p:sp>
        <p:nvSpPr>
          <p:cNvPr id="538" name="Still on European servers, data on sovereign ground."/>
          <p:cNvSpPr txBox="1"/>
          <p:nvPr/>
        </p:nvSpPr>
        <p:spPr>
          <a:xfrm>
            <a:off x="19685000" y="8915400"/>
            <a:ext cx="3175000" cy="109728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200">
                <a:solidFill>
                  <a:srgbClr val="3D2644"/>
                </a:solidFill>
                <a:latin typeface="Geist Regular Regular"/>
                <a:ea typeface="Geist Regular Regular"/>
                <a:cs typeface="Geist Regular Regular"/>
                <a:sym typeface="Geist Regular Regular"/>
              </a:defRPr>
            </a:pPr>
            <a:r>
              <a:t>Still on European</a:t>
            </a:r>
            <a:br/>
            <a:r>
              <a:t>servers, data on sovereign ground.</a:t>
            </a:r>
          </a:p>
        </p:txBody>
      </p:sp>
      <p:pic>
        <p:nvPicPr>
          <p:cNvPr id="539" name="prog-10.png" descr="prog-10.png"/>
          <p:cNvPicPr>
            <a:picLocks noChangeAspect="1"/>
          </p:cNvPicPr>
          <p:nvPr/>
        </p:nvPicPr>
        <p:blipFill>
          <a:blip r:embed="rId14">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43" name="bg.png" descr="bg.png"/>
          <p:cNvPicPr>
            <a:picLocks noChangeAspect="1"/>
          </p:cNvPicPr>
          <p:nvPr/>
        </p:nvPicPr>
        <p:blipFill>
          <a:blip r:embed="rId3">
            <a:extLst/>
          </a:blip>
          <a:stretch>
            <a:fillRect/>
          </a:stretch>
        </p:blipFill>
        <p:spPr>
          <a:xfrm>
            <a:off x="0" y="279400"/>
            <a:ext cx="24384000" cy="13716000"/>
          </a:xfrm>
          <a:prstGeom prst="rect">
            <a:avLst/>
          </a:prstGeom>
          <a:ln w="12700">
            <a:miter lim="400000"/>
          </a:ln>
        </p:spPr>
      </p:pic>
      <p:sp>
        <p:nvSpPr>
          <p:cNvPr id="544" name="The fleet today"/>
          <p:cNvSpPr txBox="1"/>
          <p:nvPr/>
        </p:nvSpPr>
        <p:spPr>
          <a:xfrm>
            <a:off x="1308100" y="2984499"/>
            <a:ext cx="22707600" cy="1714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7600">
                <a:solidFill>
                  <a:srgbClr val="220D44"/>
                </a:solidFill>
                <a:latin typeface="Unbounded Regular ExtraBold"/>
                <a:ea typeface="Unbounded Regular ExtraBold"/>
                <a:cs typeface="Unbounded Regular ExtraBold"/>
                <a:sym typeface="Unbounded Regular ExtraBold"/>
              </a:defRPr>
            </a:pPr>
            <a:r>
              <a:t>The fleet </a:t>
            </a:r>
            <a:r>
              <a:rPr i="1" sz="9800">
                <a:solidFill>
                  <a:srgbClr val="6033A6"/>
                </a:solidFill>
                <a:latin typeface="Instrument Serif Regular"/>
                <a:ea typeface="Instrument Serif Regular"/>
                <a:cs typeface="Instrument Serif Regular"/>
                <a:sym typeface="Instrument Serif Regular"/>
              </a:rPr>
              <a:t>today</a:t>
            </a:r>
          </a:p>
        </p:txBody>
      </p:sp>
      <p:sp>
        <p:nvSpPr>
          <p:cNvPr id="545"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546" name="viz-13-00.svg" descr="viz-13-00.svg"/>
          <p:cNvPicPr>
            <a:picLocks noChangeAspect="1"/>
          </p:cNvPicPr>
          <p:nvPr/>
        </p:nvPicPr>
        <p:blipFill>
          <a:blip r:embed="rId4">
            <a:extLst/>
          </a:blip>
          <a:stretch>
            <a:fillRect/>
          </a:stretch>
        </p:blipFill>
        <p:spPr>
          <a:xfrm>
            <a:off x="1231900" y="5181600"/>
            <a:ext cx="711200" cy="685800"/>
          </a:xfrm>
          <a:prstGeom prst="rect">
            <a:avLst/>
          </a:prstGeom>
          <a:ln w="12700">
            <a:miter lim="400000"/>
          </a:ln>
        </p:spPr>
      </p:pic>
      <p:pic>
        <p:nvPicPr>
          <p:cNvPr id="547" name="viz-13-01.svg" descr="viz-13-01.svg"/>
          <p:cNvPicPr>
            <a:picLocks noChangeAspect="1"/>
          </p:cNvPicPr>
          <p:nvPr/>
        </p:nvPicPr>
        <p:blipFill>
          <a:blip r:embed="rId4">
            <a:extLst/>
          </a:blip>
          <a:stretch>
            <a:fillRect/>
          </a:stretch>
        </p:blipFill>
        <p:spPr>
          <a:xfrm>
            <a:off x="2070100" y="5181600"/>
            <a:ext cx="711200" cy="685800"/>
          </a:xfrm>
          <a:prstGeom prst="rect">
            <a:avLst/>
          </a:prstGeom>
          <a:ln w="12700">
            <a:miter lim="400000"/>
          </a:ln>
        </p:spPr>
      </p:pic>
      <p:pic>
        <p:nvPicPr>
          <p:cNvPr id="548" name="viz-13-02.svg" descr="viz-13-02.svg"/>
          <p:cNvPicPr>
            <a:picLocks noChangeAspect="1"/>
          </p:cNvPicPr>
          <p:nvPr/>
        </p:nvPicPr>
        <p:blipFill>
          <a:blip r:embed="rId4">
            <a:extLst/>
          </a:blip>
          <a:stretch>
            <a:fillRect/>
          </a:stretch>
        </p:blipFill>
        <p:spPr>
          <a:xfrm>
            <a:off x="2908300" y="5181600"/>
            <a:ext cx="711200" cy="685800"/>
          </a:xfrm>
          <a:prstGeom prst="rect">
            <a:avLst/>
          </a:prstGeom>
          <a:ln w="12700">
            <a:miter lim="400000"/>
          </a:ln>
        </p:spPr>
      </p:pic>
      <p:pic>
        <p:nvPicPr>
          <p:cNvPr id="549" name="viz-13-03.svg" descr="viz-13-03.svg"/>
          <p:cNvPicPr>
            <a:picLocks noChangeAspect="1"/>
          </p:cNvPicPr>
          <p:nvPr/>
        </p:nvPicPr>
        <p:blipFill>
          <a:blip r:embed="rId4">
            <a:extLst/>
          </a:blip>
          <a:stretch>
            <a:fillRect/>
          </a:stretch>
        </p:blipFill>
        <p:spPr>
          <a:xfrm>
            <a:off x="3746500" y="5181600"/>
            <a:ext cx="711200" cy="685800"/>
          </a:xfrm>
          <a:prstGeom prst="rect">
            <a:avLst/>
          </a:prstGeom>
          <a:ln w="12700">
            <a:miter lim="400000"/>
          </a:ln>
        </p:spPr>
      </p:pic>
      <p:pic>
        <p:nvPicPr>
          <p:cNvPr id="550" name="viz-13-04.svg" descr="viz-13-04.svg"/>
          <p:cNvPicPr>
            <a:picLocks noChangeAspect="1"/>
          </p:cNvPicPr>
          <p:nvPr/>
        </p:nvPicPr>
        <p:blipFill>
          <a:blip r:embed="rId4">
            <a:extLst/>
          </a:blip>
          <a:stretch>
            <a:fillRect/>
          </a:stretch>
        </p:blipFill>
        <p:spPr>
          <a:xfrm>
            <a:off x="4584700" y="5181600"/>
            <a:ext cx="711200" cy="685800"/>
          </a:xfrm>
          <a:prstGeom prst="rect">
            <a:avLst/>
          </a:prstGeom>
          <a:ln w="12700">
            <a:miter lim="400000"/>
          </a:ln>
        </p:spPr>
      </p:pic>
      <p:pic>
        <p:nvPicPr>
          <p:cNvPr id="551" name="viz-13-05.svg" descr="viz-13-05.svg"/>
          <p:cNvPicPr>
            <a:picLocks noChangeAspect="1"/>
          </p:cNvPicPr>
          <p:nvPr/>
        </p:nvPicPr>
        <p:blipFill>
          <a:blip r:embed="rId4">
            <a:extLst/>
          </a:blip>
          <a:stretch>
            <a:fillRect/>
          </a:stretch>
        </p:blipFill>
        <p:spPr>
          <a:xfrm>
            <a:off x="5422900" y="5181600"/>
            <a:ext cx="711200" cy="685800"/>
          </a:xfrm>
          <a:prstGeom prst="rect">
            <a:avLst/>
          </a:prstGeom>
          <a:ln w="12700">
            <a:miter lim="400000"/>
          </a:ln>
        </p:spPr>
      </p:pic>
      <p:pic>
        <p:nvPicPr>
          <p:cNvPr id="552" name="viz-13-06.svg" descr="viz-13-06.svg"/>
          <p:cNvPicPr>
            <a:picLocks noChangeAspect="1"/>
          </p:cNvPicPr>
          <p:nvPr/>
        </p:nvPicPr>
        <p:blipFill>
          <a:blip r:embed="rId4">
            <a:extLst/>
          </a:blip>
          <a:stretch>
            <a:fillRect/>
          </a:stretch>
        </p:blipFill>
        <p:spPr>
          <a:xfrm>
            <a:off x="1231900" y="6019800"/>
            <a:ext cx="711200" cy="685800"/>
          </a:xfrm>
          <a:prstGeom prst="rect">
            <a:avLst/>
          </a:prstGeom>
          <a:ln w="12700">
            <a:miter lim="400000"/>
          </a:ln>
        </p:spPr>
      </p:pic>
      <p:pic>
        <p:nvPicPr>
          <p:cNvPr id="553" name="viz-13-07.svg" descr="viz-13-07.svg"/>
          <p:cNvPicPr>
            <a:picLocks noChangeAspect="1"/>
          </p:cNvPicPr>
          <p:nvPr/>
        </p:nvPicPr>
        <p:blipFill>
          <a:blip r:embed="rId4">
            <a:extLst/>
          </a:blip>
          <a:stretch>
            <a:fillRect/>
          </a:stretch>
        </p:blipFill>
        <p:spPr>
          <a:xfrm>
            <a:off x="2070100" y="6019800"/>
            <a:ext cx="711200" cy="685800"/>
          </a:xfrm>
          <a:prstGeom prst="rect">
            <a:avLst/>
          </a:prstGeom>
          <a:ln w="12700">
            <a:miter lim="400000"/>
          </a:ln>
        </p:spPr>
      </p:pic>
      <p:pic>
        <p:nvPicPr>
          <p:cNvPr id="554" name="viz-13-08.svg" descr="viz-13-08.svg"/>
          <p:cNvPicPr>
            <a:picLocks noChangeAspect="1"/>
          </p:cNvPicPr>
          <p:nvPr/>
        </p:nvPicPr>
        <p:blipFill>
          <a:blip r:embed="rId4">
            <a:extLst/>
          </a:blip>
          <a:stretch>
            <a:fillRect/>
          </a:stretch>
        </p:blipFill>
        <p:spPr>
          <a:xfrm>
            <a:off x="2908300" y="6019800"/>
            <a:ext cx="711200" cy="685800"/>
          </a:xfrm>
          <a:prstGeom prst="rect">
            <a:avLst/>
          </a:prstGeom>
          <a:ln w="12700">
            <a:miter lim="400000"/>
          </a:ln>
        </p:spPr>
      </p:pic>
      <p:pic>
        <p:nvPicPr>
          <p:cNvPr id="555" name="viz-13-09.svg" descr="viz-13-09.svg"/>
          <p:cNvPicPr>
            <a:picLocks noChangeAspect="1"/>
          </p:cNvPicPr>
          <p:nvPr/>
        </p:nvPicPr>
        <p:blipFill>
          <a:blip r:embed="rId4">
            <a:extLst/>
          </a:blip>
          <a:stretch>
            <a:fillRect/>
          </a:stretch>
        </p:blipFill>
        <p:spPr>
          <a:xfrm>
            <a:off x="3746500" y="6019800"/>
            <a:ext cx="711200" cy="685800"/>
          </a:xfrm>
          <a:prstGeom prst="rect">
            <a:avLst/>
          </a:prstGeom>
          <a:ln w="12700">
            <a:miter lim="400000"/>
          </a:ln>
        </p:spPr>
      </p:pic>
      <p:pic>
        <p:nvPicPr>
          <p:cNvPr id="556" name="viz-13-10.svg" descr="viz-13-10.svg"/>
          <p:cNvPicPr>
            <a:picLocks noChangeAspect="1"/>
          </p:cNvPicPr>
          <p:nvPr/>
        </p:nvPicPr>
        <p:blipFill>
          <a:blip r:embed="rId4">
            <a:extLst/>
          </a:blip>
          <a:stretch>
            <a:fillRect/>
          </a:stretch>
        </p:blipFill>
        <p:spPr>
          <a:xfrm>
            <a:off x="4584700" y="6019800"/>
            <a:ext cx="711200" cy="685800"/>
          </a:xfrm>
          <a:prstGeom prst="rect">
            <a:avLst/>
          </a:prstGeom>
          <a:ln w="12700">
            <a:miter lim="400000"/>
          </a:ln>
        </p:spPr>
      </p:pic>
      <p:pic>
        <p:nvPicPr>
          <p:cNvPr id="557" name="viz-13-11.svg" descr="viz-13-11.svg"/>
          <p:cNvPicPr>
            <a:picLocks noChangeAspect="1"/>
          </p:cNvPicPr>
          <p:nvPr/>
        </p:nvPicPr>
        <p:blipFill>
          <a:blip r:embed="rId4">
            <a:extLst/>
          </a:blip>
          <a:stretch>
            <a:fillRect/>
          </a:stretch>
        </p:blipFill>
        <p:spPr>
          <a:xfrm>
            <a:off x="5422900" y="6019800"/>
            <a:ext cx="711200" cy="685800"/>
          </a:xfrm>
          <a:prstGeom prst="rect">
            <a:avLst/>
          </a:prstGeom>
          <a:ln w="12700">
            <a:miter lim="400000"/>
          </a:ln>
        </p:spPr>
      </p:pic>
      <p:pic>
        <p:nvPicPr>
          <p:cNvPr id="558" name="viz-13-12.svg" descr="viz-13-12.svg"/>
          <p:cNvPicPr>
            <a:picLocks noChangeAspect="1"/>
          </p:cNvPicPr>
          <p:nvPr/>
        </p:nvPicPr>
        <p:blipFill>
          <a:blip r:embed="rId4">
            <a:extLst/>
          </a:blip>
          <a:stretch>
            <a:fillRect/>
          </a:stretch>
        </p:blipFill>
        <p:spPr>
          <a:xfrm>
            <a:off x="1231900" y="6858000"/>
            <a:ext cx="711200" cy="685800"/>
          </a:xfrm>
          <a:prstGeom prst="rect">
            <a:avLst/>
          </a:prstGeom>
          <a:ln w="12700">
            <a:miter lim="400000"/>
          </a:ln>
        </p:spPr>
      </p:pic>
      <p:pic>
        <p:nvPicPr>
          <p:cNvPr id="559" name="viz-13-13.svg" descr="viz-13-13.svg"/>
          <p:cNvPicPr>
            <a:picLocks noChangeAspect="1"/>
          </p:cNvPicPr>
          <p:nvPr/>
        </p:nvPicPr>
        <p:blipFill>
          <a:blip r:embed="rId4">
            <a:extLst/>
          </a:blip>
          <a:stretch>
            <a:fillRect/>
          </a:stretch>
        </p:blipFill>
        <p:spPr>
          <a:xfrm>
            <a:off x="2070100" y="6858000"/>
            <a:ext cx="711200" cy="685800"/>
          </a:xfrm>
          <a:prstGeom prst="rect">
            <a:avLst/>
          </a:prstGeom>
          <a:ln w="12700">
            <a:miter lim="400000"/>
          </a:ln>
        </p:spPr>
      </p:pic>
      <p:pic>
        <p:nvPicPr>
          <p:cNvPr id="560" name="viz-13-14.svg" descr="viz-13-14.svg"/>
          <p:cNvPicPr>
            <a:picLocks noChangeAspect="1"/>
          </p:cNvPicPr>
          <p:nvPr/>
        </p:nvPicPr>
        <p:blipFill>
          <a:blip r:embed="rId4">
            <a:extLst/>
          </a:blip>
          <a:stretch>
            <a:fillRect/>
          </a:stretch>
        </p:blipFill>
        <p:spPr>
          <a:xfrm>
            <a:off x="2908300" y="6858000"/>
            <a:ext cx="711200" cy="685800"/>
          </a:xfrm>
          <a:prstGeom prst="rect">
            <a:avLst/>
          </a:prstGeom>
          <a:ln w="12700">
            <a:miter lim="400000"/>
          </a:ln>
        </p:spPr>
      </p:pic>
      <p:pic>
        <p:nvPicPr>
          <p:cNvPr id="561" name="viz-13-15.svg" descr="viz-13-15.svg"/>
          <p:cNvPicPr>
            <a:picLocks noChangeAspect="1"/>
          </p:cNvPicPr>
          <p:nvPr/>
        </p:nvPicPr>
        <p:blipFill>
          <a:blip r:embed="rId4">
            <a:extLst/>
          </a:blip>
          <a:stretch>
            <a:fillRect/>
          </a:stretch>
        </p:blipFill>
        <p:spPr>
          <a:xfrm>
            <a:off x="3746500" y="6858000"/>
            <a:ext cx="711200" cy="685800"/>
          </a:xfrm>
          <a:prstGeom prst="rect">
            <a:avLst/>
          </a:prstGeom>
          <a:ln w="12700">
            <a:miter lim="400000"/>
          </a:ln>
        </p:spPr>
      </p:pic>
      <p:pic>
        <p:nvPicPr>
          <p:cNvPr id="562" name="viz-13-16.svg" descr="viz-13-16.svg"/>
          <p:cNvPicPr>
            <a:picLocks noChangeAspect="1"/>
          </p:cNvPicPr>
          <p:nvPr/>
        </p:nvPicPr>
        <p:blipFill>
          <a:blip r:embed="rId4">
            <a:extLst/>
          </a:blip>
          <a:stretch>
            <a:fillRect/>
          </a:stretch>
        </p:blipFill>
        <p:spPr>
          <a:xfrm>
            <a:off x="4584700" y="6858000"/>
            <a:ext cx="711200" cy="685800"/>
          </a:xfrm>
          <a:prstGeom prst="rect">
            <a:avLst/>
          </a:prstGeom>
          <a:ln w="12700">
            <a:miter lim="400000"/>
          </a:ln>
        </p:spPr>
      </p:pic>
      <p:pic>
        <p:nvPicPr>
          <p:cNvPr id="563" name="viz-13-17.svg" descr="viz-13-17.svg"/>
          <p:cNvPicPr>
            <a:picLocks noChangeAspect="1"/>
          </p:cNvPicPr>
          <p:nvPr/>
        </p:nvPicPr>
        <p:blipFill>
          <a:blip r:embed="rId4">
            <a:extLst/>
          </a:blip>
          <a:stretch>
            <a:fillRect/>
          </a:stretch>
        </p:blipFill>
        <p:spPr>
          <a:xfrm>
            <a:off x="5422900" y="6858000"/>
            <a:ext cx="711200" cy="685800"/>
          </a:xfrm>
          <a:prstGeom prst="rect">
            <a:avLst/>
          </a:prstGeom>
          <a:ln w="12700">
            <a:miter lim="400000"/>
          </a:ln>
        </p:spPr>
      </p:pic>
      <p:pic>
        <p:nvPicPr>
          <p:cNvPr id="564" name="viz-13-18.svg" descr="viz-13-18.svg"/>
          <p:cNvPicPr>
            <a:picLocks noChangeAspect="1"/>
          </p:cNvPicPr>
          <p:nvPr/>
        </p:nvPicPr>
        <p:blipFill>
          <a:blip r:embed="rId4">
            <a:extLst/>
          </a:blip>
          <a:stretch>
            <a:fillRect/>
          </a:stretch>
        </p:blipFill>
        <p:spPr>
          <a:xfrm>
            <a:off x="1231900" y="7696200"/>
            <a:ext cx="711200" cy="685800"/>
          </a:xfrm>
          <a:prstGeom prst="rect">
            <a:avLst/>
          </a:prstGeom>
          <a:ln w="12700">
            <a:miter lim="400000"/>
          </a:ln>
        </p:spPr>
      </p:pic>
      <p:pic>
        <p:nvPicPr>
          <p:cNvPr id="565" name="viz-13-19.svg" descr="viz-13-19.svg"/>
          <p:cNvPicPr>
            <a:picLocks noChangeAspect="1"/>
          </p:cNvPicPr>
          <p:nvPr/>
        </p:nvPicPr>
        <p:blipFill>
          <a:blip r:embed="rId4">
            <a:extLst/>
          </a:blip>
          <a:stretch>
            <a:fillRect/>
          </a:stretch>
        </p:blipFill>
        <p:spPr>
          <a:xfrm>
            <a:off x="2070100" y="7696200"/>
            <a:ext cx="711200" cy="685800"/>
          </a:xfrm>
          <a:prstGeom prst="rect">
            <a:avLst/>
          </a:prstGeom>
          <a:ln w="12700">
            <a:miter lim="400000"/>
          </a:ln>
        </p:spPr>
      </p:pic>
      <p:pic>
        <p:nvPicPr>
          <p:cNvPr id="566" name="viz-13-20.svg" descr="viz-13-20.svg"/>
          <p:cNvPicPr>
            <a:picLocks noChangeAspect="1"/>
          </p:cNvPicPr>
          <p:nvPr/>
        </p:nvPicPr>
        <p:blipFill>
          <a:blip r:embed="rId4">
            <a:extLst/>
          </a:blip>
          <a:stretch>
            <a:fillRect/>
          </a:stretch>
        </p:blipFill>
        <p:spPr>
          <a:xfrm>
            <a:off x="2908300" y="7696200"/>
            <a:ext cx="711200" cy="685800"/>
          </a:xfrm>
          <a:prstGeom prst="rect">
            <a:avLst/>
          </a:prstGeom>
          <a:ln w="12700">
            <a:miter lim="400000"/>
          </a:ln>
        </p:spPr>
      </p:pic>
      <p:pic>
        <p:nvPicPr>
          <p:cNvPr id="567" name="viz-13-21.svg" descr="viz-13-21.svg"/>
          <p:cNvPicPr>
            <a:picLocks noChangeAspect="1"/>
          </p:cNvPicPr>
          <p:nvPr/>
        </p:nvPicPr>
        <p:blipFill>
          <a:blip r:embed="rId4">
            <a:extLst/>
          </a:blip>
          <a:stretch>
            <a:fillRect/>
          </a:stretch>
        </p:blipFill>
        <p:spPr>
          <a:xfrm>
            <a:off x="3746500" y="7696200"/>
            <a:ext cx="711200" cy="685800"/>
          </a:xfrm>
          <a:prstGeom prst="rect">
            <a:avLst/>
          </a:prstGeom>
          <a:ln w="12700">
            <a:miter lim="400000"/>
          </a:ln>
        </p:spPr>
      </p:pic>
      <p:pic>
        <p:nvPicPr>
          <p:cNvPr id="568" name="viz-13-22.svg" descr="viz-13-22.svg"/>
          <p:cNvPicPr>
            <a:picLocks noChangeAspect="1"/>
          </p:cNvPicPr>
          <p:nvPr/>
        </p:nvPicPr>
        <p:blipFill>
          <a:blip r:embed="rId4">
            <a:extLst/>
          </a:blip>
          <a:stretch>
            <a:fillRect/>
          </a:stretch>
        </p:blipFill>
        <p:spPr>
          <a:xfrm>
            <a:off x="4584700" y="7696200"/>
            <a:ext cx="711200" cy="685800"/>
          </a:xfrm>
          <a:prstGeom prst="rect">
            <a:avLst/>
          </a:prstGeom>
          <a:ln w="12700">
            <a:miter lim="400000"/>
          </a:ln>
        </p:spPr>
      </p:pic>
      <p:pic>
        <p:nvPicPr>
          <p:cNvPr id="569" name="viz-13-23.svg" descr="viz-13-23.svg"/>
          <p:cNvPicPr>
            <a:picLocks noChangeAspect="1"/>
          </p:cNvPicPr>
          <p:nvPr/>
        </p:nvPicPr>
        <p:blipFill>
          <a:blip r:embed="rId4">
            <a:extLst/>
          </a:blip>
          <a:stretch>
            <a:fillRect/>
          </a:stretch>
        </p:blipFill>
        <p:spPr>
          <a:xfrm>
            <a:off x="5422900" y="7696200"/>
            <a:ext cx="711200" cy="685800"/>
          </a:xfrm>
          <a:prstGeom prst="rect">
            <a:avLst/>
          </a:prstGeom>
          <a:ln w="12700">
            <a:miter lim="400000"/>
          </a:ln>
        </p:spPr>
      </p:pic>
      <p:pic>
        <p:nvPicPr>
          <p:cNvPr id="570" name="viz-13-24.svg" descr="viz-13-24.svg"/>
          <p:cNvPicPr>
            <a:picLocks noChangeAspect="1"/>
          </p:cNvPicPr>
          <p:nvPr/>
        </p:nvPicPr>
        <p:blipFill>
          <a:blip r:embed="rId4">
            <a:extLst/>
          </a:blip>
          <a:stretch>
            <a:fillRect/>
          </a:stretch>
        </p:blipFill>
        <p:spPr>
          <a:xfrm>
            <a:off x="1231900" y="8534400"/>
            <a:ext cx="711200" cy="685800"/>
          </a:xfrm>
          <a:prstGeom prst="rect">
            <a:avLst/>
          </a:prstGeom>
          <a:ln w="12700">
            <a:miter lim="400000"/>
          </a:ln>
        </p:spPr>
      </p:pic>
      <p:pic>
        <p:nvPicPr>
          <p:cNvPr id="571" name="viz-13-25.svg" descr="viz-13-25.svg"/>
          <p:cNvPicPr>
            <a:picLocks noChangeAspect="1"/>
          </p:cNvPicPr>
          <p:nvPr/>
        </p:nvPicPr>
        <p:blipFill>
          <a:blip r:embed="rId4">
            <a:extLst/>
          </a:blip>
          <a:stretch>
            <a:fillRect/>
          </a:stretch>
        </p:blipFill>
        <p:spPr>
          <a:xfrm>
            <a:off x="2070100" y="8534400"/>
            <a:ext cx="711200" cy="685800"/>
          </a:xfrm>
          <a:prstGeom prst="rect">
            <a:avLst/>
          </a:prstGeom>
          <a:ln w="12700">
            <a:miter lim="400000"/>
          </a:ln>
        </p:spPr>
      </p:pic>
      <p:pic>
        <p:nvPicPr>
          <p:cNvPr id="572" name="viz-13-26.svg" descr="viz-13-26.svg"/>
          <p:cNvPicPr>
            <a:picLocks noChangeAspect="1"/>
          </p:cNvPicPr>
          <p:nvPr/>
        </p:nvPicPr>
        <p:blipFill>
          <a:blip r:embed="rId4">
            <a:extLst/>
          </a:blip>
          <a:stretch>
            <a:fillRect/>
          </a:stretch>
        </p:blipFill>
        <p:spPr>
          <a:xfrm>
            <a:off x="2908300" y="8534400"/>
            <a:ext cx="711200" cy="685800"/>
          </a:xfrm>
          <a:prstGeom prst="rect">
            <a:avLst/>
          </a:prstGeom>
          <a:ln w="12700">
            <a:miter lim="400000"/>
          </a:ln>
        </p:spPr>
      </p:pic>
      <p:pic>
        <p:nvPicPr>
          <p:cNvPr id="573" name="viz-13-27.svg" descr="viz-13-27.svg"/>
          <p:cNvPicPr>
            <a:picLocks noChangeAspect="1"/>
          </p:cNvPicPr>
          <p:nvPr/>
        </p:nvPicPr>
        <p:blipFill>
          <a:blip r:embed="rId4">
            <a:extLst/>
          </a:blip>
          <a:stretch>
            <a:fillRect/>
          </a:stretch>
        </p:blipFill>
        <p:spPr>
          <a:xfrm>
            <a:off x="3746500" y="8534400"/>
            <a:ext cx="711200" cy="685800"/>
          </a:xfrm>
          <a:prstGeom prst="rect">
            <a:avLst/>
          </a:prstGeom>
          <a:ln w="12700">
            <a:miter lim="400000"/>
          </a:ln>
        </p:spPr>
      </p:pic>
      <p:pic>
        <p:nvPicPr>
          <p:cNvPr id="574" name="viz-13-28.svg" descr="viz-13-28.svg"/>
          <p:cNvPicPr>
            <a:picLocks noChangeAspect="1"/>
          </p:cNvPicPr>
          <p:nvPr/>
        </p:nvPicPr>
        <p:blipFill>
          <a:blip r:embed="rId4">
            <a:extLst/>
          </a:blip>
          <a:stretch>
            <a:fillRect/>
          </a:stretch>
        </p:blipFill>
        <p:spPr>
          <a:xfrm>
            <a:off x="4584700" y="8534400"/>
            <a:ext cx="711200" cy="685800"/>
          </a:xfrm>
          <a:prstGeom prst="rect">
            <a:avLst/>
          </a:prstGeom>
          <a:ln w="12700">
            <a:miter lim="400000"/>
          </a:ln>
        </p:spPr>
      </p:pic>
      <p:pic>
        <p:nvPicPr>
          <p:cNvPr id="575" name="viz-13-29.svg" descr="viz-13-29.svg"/>
          <p:cNvPicPr>
            <a:picLocks noChangeAspect="1"/>
          </p:cNvPicPr>
          <p:nvPr/>
        </p:nvPicPr>
        <p:blipFill>
          <a:blip r:embed="rId4">
            <a:extLst/>
          </a:blip>
          <a:stretch>
            <a:fillRect/>
          </a:stretch>
        </p:blipFill>
        <p:spPr>
          <a:xfrm>
            <a:off x="5422900" y="8534400"/>
            <a:ext cx="711200" cy="685800"/>
          </a:xfrm>
          <a:prstGeom prst="rect">
            <a:avLst/>
          </a:prstGeom>
          <a:ln w="12700">
            <a:miter lim="400000"/>
          </a:ln>
        </p:spPr>
      </p:pic>
      <p:pic>
        <p:nvPicPr>
          <p:cNvPr id="576" name="viz-13-30.svg" descr="viz-13-30.svg"/>
          <p:cNvPicPr>
            <a:picLocks noChangeAspect="1"/>
          </p:cNvPicPr>
          <p:nvPr/>
        </p:nvPicPr>
        <p:blipFill>
          <a:blip r:embed="rId5">
            <a:extLst/>
          </a:blip>
          <a:stretch>
            <a:fillRect/>
          </a:stretch>
        </p:blipFill>
        <p:spPr>
          <a:xfrm>
            <a:off x="6756400" y="6375400"/>
            <a:ext cx="838200" cy="812800"/>
          </a:xfrm>
          <a:prstGeom prst="rect">
            <a:avLst/>
          </a:prstGeom>
          <a:ln w="12700">
            <a:miter lim="400000"/>
          </a:ln>
        </p:spPr>
      </p:pic>
      <p:pic>
        <p:nvPicPr>
          <p:cNvPr id="577" name="viz-13-31.svg" descr="viz-13-31.svg"/>
          <p:cNvPicPr>
            <a:picLocks noChangeAspect="1"/>
          </p:cNvPicPr>
          <p:nvPr/>
        </p:nvPicPr>
        <p:blipFill>
          <a:blip r:embed="rId5">
            <a:extLst/>
          </a:blip>
          <a:stretch>
            <a:fillRect/>
          </a:stretch>
        </p:blipFill>
        <p:spPr>
          <a:xfrm>
            <a:off x="7772400" y="6375400"/>
            <a:ext cx="838200" cy="812800"/>
          </a:xfrm>
          <a:prstGeom prst="rect">
            <a:avLst/>
          </a:prstGeom>
          <a:ln w="12700">
            <a:miter lim="400000"/>
          </a:ln>
        </p:spPr>
      </p:pic>
      <p:pic>
        <p:nvPicPr>
          <p:cNvPr id="578" name="viz-13-32.svg" descr="viz-13-32.svg"/>
          <p:cNvPicPr>
            <a:picLocks noChangeAspect="1"/>
          </p:cNvPicPr>
          <p:nvPr/>
        </p:nvPicPr>
        <p:blipFill>
          <a:blip r:embed="rId5">
            <a:extLst/>
          </a:blip>
          <a:stretch>
            <a:fillRect/>
          </a:stretch>
        </p:blipFill>
        <p:spPr>
          <a:xfrm>
            <a:off x="8788400" y="6375400"/>
            <a:ext cx="838200" cy="812800"/>
          </a:xfrm>
          <a:prstGeom prst="rect">
            <a:avLst/>
          </a:prstGeom>
          <a:ln w="12700">
            <a:miter lim="400000"/>
          </a:ln>
        </p:spPr>
      </p:pic>
      <p:pic>
        <p:nvPicPr>
          <p:cNvPr id="579" name="viz-13-33.svg" descr="viz-13-33.svg"/>
          <p:cNvPicPr>
            <a:picLocks noChangeAspect="1"/>
          </p:cNvPicPr>
          <p:nvPr/>
        </p:nvPicPr>
        <p:blipFill>
          <a:blip r:embed="rId5">
            <a:extLst/>
          </a:blip>
          <a:stretch>
            <a:fillRect/>
          </a:stretch>
        </p:blipFill>
        <p:spPr>
          <a:xfrm>
            <a:off x="9804400" y="6375400"/>
            <a:ext cx="838200" cy="812800"/>
          </a:xfrm>
          <a:prstGeom prst="rect">
            <a:avLst/>
          </a:prstGeom>
          <a:ln w="12700">
            <a:miter lim="400000"/>
          </a:ln>
        </p:spPr>
      </p:pic>
      <p:pic>
        <p:nvPicPr>
          <p:cNvPr id="580" name="viz-13-34.svg" descr="viz-13-34.svg"/>
          <p:cNvPicPr>
            <a:picLocks noChangeAspect="1"/>
          </p:cNvPicPr>
          <p:nvPr/>
        </p:nvPicPr>
        <p:blipFill>
          <a:blip r:embed="rId5">
            <a:extLst/>
          </a:blip>
          <a:stretch>
            <a:fillRect/>
          </a:stretch>
        </p:blipFill>
        <p:spPr>
          <a:xfrm>
            <a:off x="10820400" y="6375400"/>
            <a:ext cx="838200" cy="812800"/>
          </a:xfrm>
          <a:prstGeom prst="rect">
            <a:avLst/>
          </a:prstGeom>
          <a:ln w="12700">
            <a:miter lim="400000"/>
          </a:ln>
        </p:spPr>
      </p:pic>
      <p:pic>
        <p:nvPicPr>
          <p:cNvPr id="581" name="viz-13-35.svg" descr="viz-13-35.svg"/>
          <p:cNvPicPr>
            <a:picLocks noChangeAspect="1"/>
          </p:cNvPicPr>
          <p:nvPr/>
        </p:nvPicPr>
        <p:blipFill>
          <a:blip r:embed="rId5">
            <a:extLst/>
          </a:blip>
          <a:stretch>
            <a:fillRect/>
          </a:stretch>
        </p:blipFill>
        <p:spPr>
          <a:xfrm>
            <a:off x="6756400" y="7391400"/>
            <a:ext cx="838200" cy="812800"/>
          </a:xfrm>
          <a:prstGeom prst="rect">
            <a:avLst/>
          </a:prstGeom>
          <a:ln w="12700">
            <a:miter lim="400000"/>
          </a:ln>
        </p:spPr>
      </p:pic>
      <p:pic>
        <p:nvPicPr>
          <p:cNvPr id="582" name="viz-13-36.svg" descr="viz-13-36.svg"/>
          <p:cNvPicPr>
            <a:picLocks noChangeAspect="1"/>
          </p:cNvPicPr>
          <p:nvPr/>
        </p:nvPicPr>
        <p:blipFill>
          <a:blip r:embed="rId5">
            <a:extLst/>
          </a:blip>
          <a:stretch>
            <a:fillRect/>
          </a:stretch>
        </p:blipFill>
        <p:spPr>
          <a:xfrm>
            <a:off x="7772400" y="7391400"/>
            <a:ext cx="838200" cy="812800"/>
          </a:xfrm>
          <a:prstGeom prst="rect">
            <a:avLst/>
          </a:prstGeom>
          <a:ln w="12700">
            <a:miter lim="400000"/>
          </a:ln>
        </p:spPr>
      </p:pic>
      <p:pic>
        <p:nvPicPr>
          <p:cNvPr id="583" name="viz-13-37.svg" descr="viz-13-37.svg"/>
          <p:cNvPicPr>
            <a:picLocks noChangeAspect="1"/>
          </p:cNvPicPr>
          <p:nvPr/>
        </p:nvPicPr>
        <p:blipFill>
          <a:blip r:embed="rId5">
            <a:extLst/>
          </a:blip>
          <a:stretch>
            <a:fillRect/>
          </a:stretch>
        </p:blipFill>
        <p:spPr>
          <a:xfrm>
            <a:off x="8788400" y="7391400"/>
            <a:ext cx="838200" cy="812800"/>
          </a:xfrm>
          <a:prstGeom prst="rect">
            <a:avLst/>
          </a:prstGeom>
          <a:ln w="12700">
            <a:miter lim="400000"/>
          </a:ln>
        </p:spPr>
      </p:pic>
      <p:pic>
        <p:nvPicPr>
          <p:cNvPr id="584" name="viz-13-38.svg" descr="viz-13-38.svg"/>
          <p:cNvPicPr>
            <a:picLocks noChangeAspect="1"/>
          </p:cNvPicPr>
          <p:nvPr/>
        </p:nvPicPr>
        <p:blipFill>
          <a:blip r:embed="rId5">
            <a:extLst/>
          </a:blip>
          <a:stretch>
            <a:fillRect/>
          </a:stretch>
        </p:blipFill>
        <p:spPr>
          <a:xfrm>
            <a:off x="9804400" y="7391400"/>
            <a:ext cx="838200" cy="812800"/>
          </a:xfrm>
          <a:prstGeom prst="rect">
            <a:avLst/>
          </a:prstGeom>
          <a:ln w="12700">
            <a:miter lim="400000"/>
          </a:ln>
        </p:spPr>
      </p:pic>
      <p:pic>
        <p:nvPicPr>
          <p:cNvPr id="585" name="viz-13-39.svg" descr="viz-13-39.svg"/>
          <p:cNvPicPr>
            <a:picLocks noChangeAspect="1"/>
          </p:cNvPicPr>
          <p:nvPr/>
        </p:nvPicPr>
        <p:blipFill>
          <a:blip r:embed="rId5">
            <a:extLst/>
          </a:blip>
          <a:stretch>
            <a:fillRect/>
          </a:stretch>
        </p:blipFill>
        <p:spPr>
          <a:xfrm>
            <a:off x="10820400" y="7391400"/>
            <a:ext cx="838200" cy="812800"/>
          </a:xfrm>
          <a:prstGeom prst="rect">
            <a:avLst/>
          </a:prstGeom>
          <a:ln w="12700">
            <a:miter lim="400000"/>
          </a:ln>
        </p:spPr>
      </p:pic>
      <p:pic>
        <p:nvPicPr>
          <p:cNvPr id="586" name="viz-13-40.svg" descr="viz-13-40.svg"/>
          <p:cNvPicPr>
            <a:picLocks noChangeAspect="1"/>
          </p:cNvPicPr>
          <p:nvPr/>
        </p:nvPicPr>
        <p:blipFill>
          <a:blip r:embed="rId5">
            <a:extLst/>
          </a:blip>
          <a:stretch>
            <a:fillRect/>
          </a:stretch>
        </p:blipFill>
        <p:spPr>
          <a:xfrm>
            <a:off x="6756400" y="8407400"/>
            <a:ext cx="838200" cy="812800"/>
          </a:xfrm>
          <a:prstGeom prst="rect">
            <a:avLst/>
          </a:prstGeom>
          <a:ln w="12700">
            <a:miter lim="400000"/>
          </a:ln>
        </p:spPr>
      </p:pic>
      <p:pic>
        <p:nvPicPr>
          <p:cNvPr id="587" name="viz-13-41.svg" descr="viz-13-41.svg"/>
          <p:cNvPicPr>
            <a:picLocks noChangeAspect="1"/>
          </p:cNvPicPr>
          <p:nvPr/>
        </p:nvPicPr>
        <p:blipFill>
          <a:blip r:embed="rId5">
            <a:extLst/>
          </a:blip>
          <a:stretch>
            <a:fillRect/>
          </a:stretch>
        </p:blipFill>
        <p:spPr>
          <a:xfrm>
            <a:off x="7772400" y="8407400"/>
            <a:ext cx="838200" cy="812800"/>
          </a:xfrm>
          <a:prstGeom prst="rect">
            <a:avLst/>
          </a:prstGeom>
          <a:ln w="12700">
            <a:miter lim="400000"/>
          </a:ln>
        </p:spPr>
      </p:pic>
      <p:pic>
        <p:nvPicPr>
          <p:cNvPr id="588" name="viz-13-42.svg" descr="viz-13-42.svg"/>
          <p:cNvPicPr>
            <a:picLocks noChangeAspect="1"/>
          </p:cNvPicPr>
          <p:nvPr/>
        </p:nvPicPr>
        <p:blipFill>
          <a:blip r:embed="rId5">
            <a:extLst/>
          </a:blip>
          <a:stretch>
            <a:fillRect/>
          </a:stretch>
        </p:blipFill>
        <p:spPr>
          <a:xfrm>
            <a:off x="8788400" y="8407400"/>
            <a:ext cx="838200" cy="812800"/>
          </a:xfrm>
          <a:prstGeom prst="rect">
            <a:avLst/>
          </a:prstGeom>
          <a:ln w="12700">
            <a:miter lim="400000"/>
          </a:ln>
        </p:spPr>
      </p:pic>
      <p:pic>
        <p:nvPicPr>
          <p:cNvPr id="589" name="viz-13-43.svg" descr="viz-13-43.svg"/>
          <p:cNvPicPr>
            <a:picLocks noChangeAspect="1"/>
          </p:cNvPicPr>
          <p:nvPr/>
        </p:nvPicPr>
        <p:blipFill>
          <a:blip r:embed="rId5">
            <a:extLst/>
          </a:blip>
          <a:stretch>
            <a:fillRect/>
          </a:stretch>
        </p:blipFill>
        <p:spPr>
          <a:xfrm>
            <a:off x="9804400" y="8407400"/>
            <a:ext cx="838200" cy="812800"/>
          </a:xfrm>
          <a:prstGeom prst="rect">
            <a:avLst/>
          </a:prstGeom>
          <a:ln w="12700">
            <a:miter lim="400000"/>
          </a:ln>
        </p:spPr>
      </p:pic>
      <p:pic>
        <p:nvPicPr>
          <p:cNvPr id="590" name="viz-13-44.svg" descr="viz-13-44.svg"/>
          <p:cNvPicPr>
            <a:picLocks noChangeAspect="1"/>
          </p:cNvPicPr>
          <p:nvPr/>
        </p:nvPicPr>
        <p:blipFill>
          <a:blip r:embed="rId6">
            <a:extLst/>
          </a:blip>
          <a:stretch>
            <a:fillRect/>
          </a:stretch>
        </p:blipFill>
        <p:spPr>
          <a:xfrm>
            <a:off x="12242800" y="4800600"/>
            <a:ext cx="5397500" cy="876300"/>
          </a:xfrm>
          <a:prstGeom prst="rect">
            <a:avLst/>
          </a:prstGeom>
          <a:ln w="12700">
            <a:miter lim="400000"/>
          </a:ln>
        </p:spPr>
      </p:pic>
      <p:pic>
        <p:nvPicPr>
          <p:cNvPr id="591" name="viz-13-45.svg" descr="viz-13-45.svg"/>
          <p:cNvPicPr>
            <a:picLocks noChangeAspect="1"/>
          </p:cNvPicPr>
          <p:nvPr/>
        </p:nvPicPr>
        <p:blipFill>
          <a:blip r:embed="rId7">
            <a:extLst/>
          </a:blip>
          <a:stretch>
            <a:fillRect/>
          </a:stretch>
        </p:blipFill>
        <p:spPr>
          <a:xfrm>
            <a:off x="12242800" y="5511800"/>
            <a:ext cx="5397500" cy="876300"/>
          </a:xfrm>
          <a:prstGeom prst="rect">
            <a:avLst/>
          </a:prstGeom>
          <a:ln w="12700">
            <a:miter lim="400000"/>
          </a:ln>
        </p:spPr>
      </p:pic>
      <p:pic>
        <p:nvPicPr>
          <p:cNvPr id="592" name="viz-13-46.svg" descr="viz-13-46.svg"/>
          <p:cNvPicPr>
            <a:picLocks noChangeAspect="1"/>
          </p:cNvPicPr>
          <p:nvPr/>
        </p:nvPicPr>
        <p:blipFill>
          <a:blip r:embed="rId8">
            <a:extLst/>
          </a:blip>
          <a:stretch>
            <a:fillRect/>
          </a:stretch>
        </p:blipFill>
        <p:spPr>
          <a:xfrm>
            <a:off x="12242800" y="6223000"/>
            <a:ext cx="5397500" cy="876300"/>
          </a:xfrm>
          <a:prstGeom prst="rect">
            <a:avLst/>
          </a:prstGeom>
          <a:ln w="12700">
            <a:miter lim="400000"/>
          </a:ln>
        </p:spPr>
      </p:pic>
      <p:pic>
        <p:nvPicPr>
          <p:cNvPr id="593" name="viz-13-47.svg" descr="viz-13-47.svg"/>
          <p:cNvPicPr>
            <a:picLocks noChangeAspect="1"/>
          </p:cNvPicPr>
          <p:nvPr/>
        </p:nvPicPr>
        <p:blipFill>
          <a:blip r:embed="rId9">
            <a:extLst/>
          </a:blip>
          <a:stretch>
            <a:fillRect/>
          </a:stretch>
        </p:blipFill>
        <p:spPr>
          <a:xfrm>
            <a:off x="12242800" y="6934200"/>
            <a:ext cx="5397500" cy="876300"/>
          </a:xfrm>
          <a:prstGeom prst="rect">
            <a:avLst/>
          </a:prstGeom>
          <a:ln w="12700">
            <a:miter lim="400000"/>
          </a:ln>
        </p:spPr>
      </p:pic>
      <p:pic>
        <p:nvPicPr>
          <p:cNvPr id="594" name="viz-13-48.svg" descr="viz-13-48.svg"/>
          <p:cNvPicPr>
            <a:picLocks noChangeAspect="1"/>
          </p:cNvPicPr>
          <p:nvPr/>
        </p:nvPicPr>
        <p:blipFill>
          <a:blip r:embed="rId10">
            <a:extLst/>
          </a:blip>
          <a:stretch>
            <a:fillRect/>
          </a:stretch>
        </p:blipFill>
        <p:spPr>
          <a:xfrm>
            <a:off x="12242800" y="7645400"/>
            <a:ext cx="5397500" cy="876300"/>
          </a:xfrm>
          <a:prstGeom prst="rect">
            <a:avLst/>
          </a:prstGeom>
          <a:ln w="12700">
            <a:miter lim="400000"/>
          </a:ln>
        </p:spPr>
      </p:pic>
      <p:pic>
        <p:nvPicPr>
          <p:cNvPr id="595" name="viz-13-49.svg" descr="viz-13-49.svg"/>
          <p:cNvPicPr>
            <a:picLocks noChangeAspect="1"/>
          </p:cNvPicPr>
          <p:nvPr/>
        </p:nvPicPr>
        <p:blipFill>
          <a:blip r:embed="rId11">
            <a:extLst/>
          </a:blip>
          <a:stretch>
            <a:fillRect/>
          </a:stretch>
        </p:blipFill>
        <p:spPr>
          <a:xfrm>
            <a:off x="12242800" y="8407400"/>
            <a:ext cx="5397500" cy="876300"/>
          </a:xfrm>
          <a:prstGeom prst="rect">
            <a:avLst/>
          </a:prstGeom>
          <a:ln w="12700">
            <a:miter lim="400000"/>
          </a:ln>
        </p:spPr>
      </p:pic>
      <p:pic>
        <p:nvPicPr>
          <p:cNvPr id="596" name="viz-13-50.svg" descr="viz-13-50.svg"/>
          <p:cNvPicPr>
            <a:picLocks noChangeAspect="1"/>
          </p:cNvPicPr>
          <p:nvPr/>
        </p:nvPicPr>
        <p:blipFill>
          <a:blip r:embed="rId12">
            <a:extLst/>
          </a:blip>
          <a:stretch>
            <a:fillRect/>
          </a:stretch>
        </p:blipFill>
        <p:spPr>
          <a:xfrm>
            <a:off x="17780000" y="4800600"/>
            <a:ext cx="5397500" cy="1485900"/>
          </a:xfrm>
          <a:prstGeom prst="rect">
            <a:avLst/>
          </a:prstGeom>
          <a:ln w="12700">
            <a:miter lim="400000"/>
          </a:ln>
        </p:spPr>
      </p:pic>
      <p:pic>
        <p:nvPicPr>
          <p:cNvPr id="597" name="viz-13-51.svg" descr="viz-13-51.svg"/>
          <p:cNvPicPr>
            <a:picLocks noChangeAspect="1"/>
          </p:cNvPicPr>
          <p:nvPr/>
        </p:nvPicPr>
        <p:blipFill>
          <a:blip r:embed="rId13">
            <a:extLst/>
          </a:blip>
          <a:stretch>
            <a:fillRect/>
          </a:stretch>
        </p:blipFill>
        <p:spPr>
          <a:xfrm>
            <a:off x="18186400" y="5181600"/>
            <a:ext cx="762000" cy="711200"/>
          </a:xfrm>
          <a:prstGeom prst="rect">
            <a:avLst/>
          </a:prstGeom>
          <a:ln w="12700">
            <a:miter lim="400000"/>
          </a:ln>
        </p:spPr>
      </p:pic>
      <p:pic>
        <p:nvPicPr>
          <p:cNvPr id="598" name="viz-13-52.svg" descr="viz-13-52.svg"/>
          <p:cNvPicPr>
            <a:picLocks noChangeAspect="1"/>
          </p:cNvPicPr>
          <p:nvPr/>
        </p:nvPicPr>
        <p:blipFill>
          <a:blip r:embed="rId14">
            <a:extLst/>
          </a:blip>
          <a:stretch>
            <a:fillRect/>
          </a:stretch>
        </p:blipFill>
        <p:spPr>
          <a:xfrm>
            <a:off x="17780000" y="6223000"/>
            <a:ext cx="5397500" cy="1485900"/>
          </a:xfrm>
          <a:prstGeom prst="rect">
            <a:avLst/>
          </a:prstGeom>
          <a:ln w="12700">
            <a:miter lim="400000"/>
          </a:ln>
        </p:spPr>
      </p:pic>
      <p:pic>
        <p:nvPicPr>
          <p:cNvPr id="599" name="viz-13-53.svg" descr="viz-13-53.svg"/>
          <p:cNvPicPr>
            <a:picLocks noChangeAspect="1"/>
          </p:cNvPicPr>
          <p:nvPr/>
        </p:nvPicPr>
        <p:blipFill>
          <a:blip r:embed="rId15">
            <a:extLst/>
          </a:blip>
          <a:stretch>
            <a:fillRect/>
          </a:stretch>
        </p:blipFill>
        <p:spPr>
          <a:xfrm>
            <a:off x="18211800" y="6578600"/>
            <a:ext cx="711200" cy="762000"/>
          </a:xfrm>
          <a:prstGeom prst="rect">
            <a:avLst/>
          </a:prstGeom>
          <a:ln w="12700">
            <a:miter lim="400000"/>
          </a:ln>
        </p:spPr>
      </p:pic>
      <p:pic>
        <p:nvPicPr>
          <p:cNvPr id="600" name="viz-13-54.svg" descr="viz-13-54.svg"/>
          <p:cNvPicPr>
            <a:picLocks noChangeAspect="1"/>
          </p:cNvPicPr>
          <p:nvPr/>
        </p:nvPicPr>
        <p:blipFill>
          <a:blip r:embed="rId16">
            <a:extLst/>
          </a:blip>
          <a:stretch>
            <a:fillRect/>
          </a:stretch>
        </p:blipFill>
        <p:spPr>
          <a:xfrm>
            <a:off x="17780000" y="7645400"/>
            <a:ext cx="5397500" cy="1485900"/>
          </a:xfrm>
          <a:prstGeom prst="rect">
            <a:avLst/>
          </a:prstGeom>
          <a:ln w="12700">
            <a:miter lim="400000"/>
          </a:ln>
        </p:spPr>
      </p:pic>
      <p:pic>
        <p:nvPicPr>
          <p:cNvPr id="601" name="viz-13-55.svg" descr="viz-13-55.svg"/>
          <p:cNvPicPr>
            <a:picLocks noChangeAspect="1"/>
          </p:cNvPicPr>
          <p:nvPr/>
        </p:nvPicPr>
        <p:blipFill>
          <a:blip r:embed="rId17">
            <a:extLst/>
          </a:blip>
          <a:stretch>
            <a:fillRect/>
          </a:stretch>
        </p:blipFill>
        <p:spPr>
          <a:xfrm>
            <a:off x="18186400" y="8001000"/>
            <a:ext cx="749300" cy="762000"/>
          </a:xfrm>
          <a:prstGeom prst="rect">
            <a:avLst/>
          </a:prstGeom>
          <a:ln w="12700">
            <a:miter lim="400000"/>
          </a:ln>
        </p:spPr>
      </p:pic>
      <p:sp>
        <p:nvSpPr>
          <p:cNvPr id="602" name="nginx"/>
          <p:cNvSpPr txBox="1"/>
          <p:nvPr/>
        </p:nvSpPr>
        <p:spPr>
          <a:xfrm>
            <a:off x="12598400" y="5016500"/>
            <a:ext cx="4470400" cy="45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220D44"/>
                </a:solidFill>
                <a:latin typeface="Geist Regular SemiBold"/>
                <a:ea typeface="Geist Regular SemiBold"/>
                <a:cs typeface="Geist Regular SemiBold"/>
                <a:sym typeface="Geist Regular SemiBold"/>
              </a:defRPr>
            </a:lvl1pPr>
          </a:lstStyle>
          <a:p>
            <a:pPr/>
            <a:r>
              <a:t>nginx</a:t>
            </a:r>
          </a:p>
        </p:txBody>
      </p:sp>
      <p:sp>
        <p:nvSpPr>
          <p:cNvPr id="603" name="PHP-FPM"/>
          <p:cNvSpPr txBox="1"/>
          <p:nvPr/>
        </p:nvSpPr>
        <p:spPr>
          <a:xfrm>
            <a:off x="12598400" y="5727700"/>
            <a:ext cx="4470400" cy="45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220D44"/>
                </a:solidFill>
                <a:latin typeface="Geist Regular SemiBold"/>
                <a:ea typeface="Geist Regular SemiBold"/>
                <a:cs typeface="Geist Regular SemiBold"/>
                <a:sym typeface="Geist Regular SemiBold"/>
              </a:defRPr>
            </a:lvl1pPr>
          </a:lstStyle>
          <a:p>
            <a:pPr/>
            <a:r>
              <a:t>PHP-FPM</a:t>
            </a:r>
          </a:p>
        </p:txBody>
      </p:sp>
      <p:sp>
        <p:nvSpPr>
          <p:cNvPr id="604" name="MariaDB"/>
          <p:cNvSpPr txBox="1"/>
          <p:nvPr/>
        </p:nvSpPr>
        <p:spPr>
          <a:xfrm>
            <a:off x="12598400" y="6438900"/>
            <a:ext cx="4470400" cy="45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220D44"/>
                </a:solidFill>
                <a:latin typeface="Geist Regular SemiBold"/>
                <a:ea typeface="Geist Regular SemiBold"/>
                <a:cs typeface="Geist Regular SemiBold"/>
                <a:sym typeface="Geist Regular SemiBold"/>
              </a:defRPr>
            </a:lvl1pPr>
          </a:lstStyle>
          <a:p>
            <a:pPr/>
            <a:r>
              <a:t>MariaDB</a:t>
            </a:r>
          </a:p>
        </p:txBody>
      </p:sp>
      <p:sp>
        <p:nvSpPr>
          <p:cNvPr id="605" name="Valkey"/>
          <p:cNvSpPr txBox="1"/>
          <p:nvPr/>
        </p:nvSpPr>
        <p:spPr>
          <a:xfrm>
            <a:off x="12598400" y="7150100"/>
            <a:ext cx="4470400" cy="45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220D44"/>
                </a:solidFill>
                <a:latin typeface="Geist Regular SemiBold"/>
                <a:ea typeface="Geist Regular SemiBold"/>
                <a:cs typeface="Geist Regular SemiBold"/>
                <a:sym typeface="Geist Regular SemiBold"/>
              </a:defRPr>
            </a:lvl1pPr>
          </a:lstStyle>
          <a:p>
            <a:pPr/>
            <a:r>
              <a:t>Valkey</a:t>
            </a:r>
          </a:p>
        </p:txBody>
      </p:sp>
      <p:sp>
        <p:nvSpPr>
          <p:cNvPr id="606" name="Security layers"/>
          <p:cNvSpPr txBox="1"/>
          <p:nvPr/>
        </p:nvSpPr>
        <p:spPr>
          <a:xfrm>
            <a:off x="12598400" y="7861300"/>
            <a:ext cx="4470400" cy="45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220D44"/>
                </a:solidFill>
                <a:latin typeface="Geist Regular SemiBold"/>
                <a:ea typeface="Geist Regular SemiBold"/>
                <a:cs typeface="Geist Regular SemiBold"/>
                <a:sym typeface="Geist Regular SemiBold"/>
              </a:defRPr>
            </a:lvl1pPr>
          </a:lstStyle>
          <a:p>
            <a:pPr/>
            <a:r>
              <a:t>Security layers</a:t>
            </a:r>
          </a:p>
        </p:txBody>
      </p:sp>
      <p:sp>
        <p:nvSpPr>
          <p:cNvPr id="607" name="Linux"/>
          <p:cNvSpPr txBox="1"/>
          <p:nvPr/>
        </p:nvSpPr>
        <p:spPr>
          <a:xfrm>
            <a:off x="12598400" y="8623299"/>
            <a:ext cx="4470400" cy="45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FFFFFF"/>
                </a:solidFill>
                <a:latin typeface="Geist Regular SemiBold"/>
                <a:ea typeface="Geist Regular SemiBold"/>
                <a:cs typeface="Geist Regular SemiBold"/>
                <a:sym typeface="Geist Regular SemiBold"/>
              </a:defRPr>
            </a:lvl1pPr>
          </a:lstStyle>
          <a:p>
            <a:pPr/>
            <a:r>
              <a:t>Linux</a:t>
            </a:r>
          </a:p>
        </p:txBody>
      </p:sp>
      <p:sp>
        <p:nvSpPr>
          <p:cNvPr id="608" name="Analytics"/>
          <p:cNvSpPr txBox="1"/>
          <p:nvPr/>
        </p:nvSpPr>
        <p:spPr>
          <a:xfrm>
            <a:off x="19126200" y="5295900"/>
            <a:ext cx="35814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Analytics</a:t>
            </a:r>
          </a:p>
        </p:txBody>
      </p:sp>
      <p:sp>
        <p:nvSpPr>
          <p:cNvPr id="609" name="Docs"/>
          <p:cNvSpPr txBox="1"/>
          <p:nvPr/>
        </p:nvSpPr>
        <p:spPr>
          <a:xfrm>
            <a:off x="19126200" y="6718300"/>
            <a:ext cx="35814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Docs</a:t>
            </a:r>
          </a:p>
        </p:txBody>
      </p:sp>
      <p:sp>
        <p:nvSpPr>
          <p:cNvPr id="610" name="CRM"/>
          <p:cNvSpPr txBox="1"/>
          <p:nvPr/>
        </p:nvSpPr>
        <p:spPr>
          <a:xfrm>
            <a:off x="19126200" y="8140700"/>
            <a:ext cx="35814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CRM</a:t>
            </a:r>
          </a:p>
        </p:txBody>
      </p:sp>
      <p:sp>
        <p:nvSpPr>
          <p:cNvPr id="611" name="Dozens of clusters"/>
          <p:cNvSpPr txBox="1"/>
          <p:nvPr/>
        </p:nvSpPr>
        <p:spPr>
          <a:xfrm>
            <a:off x="1320800" y="9626599"/>
            <a:ext cx="5080000" cy="546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6033A6"/>
                </a:solidFill>
                <a:latin typeface="Unbounded Regular SemiBold"/>
                <a:ea typeface="Unbounded Regular SemiBold"/>
                <a:cs typeface="Unbounded Regular SemiBold"/>
                <a:sym typeface="Unbounded Regular SemiBold"/>
              </a:defRPr>
            </a:lvl1pPr>
          </a:lstStyle>
          <a:p>
            <a:pPr/>
            <a:r>
              <a:t>Dozens of clusters</a:t>
            </a:r>
          </a:p>
        </p:txBody>
      </p:sp>
      <p:sp>
        <p:nvSpPr>
          <p:cNvPr id="612" name="Self-hosted Linux and virtualization."/>
          <p:cNvSpPr txBox="1"/>
          <p:nvPr/>
        </p:nvSpPr>
        <p:spPr>
          <a:xfrm>
            <a:off x="1320800" y="10185399"/>
            <a:ext cx="4826000" cy="45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3D2644"/>
                </a:solidFill>
                <a:latin typeface="Geist Regular Regular"/>
                <a:ea typeface="Geist Regular Regular"/>
                <a:cs typeface="Geist Regular Regular"/>
                <a:sym typeface="Geist Regular Regular"/>
              </a:defRPr>
            </a:lvl1pPr>
          </a:lstStyle>
          <a:p>
            <a:pPr/>
            <a:r>
              <a:t>Self-hosted Linux and virtualization.</a:t>
            </a:r>
          </a:p>
        </p:txBody>
      </p:sp>
      <p:sp>
        <p:nvSpPr>
          <p:cNvPr id="613" name="14 people"/>
          <p:cNvSpPr txBox="1"/>
          <p:nvPr/>
        </p:nvSpPr>
        <p:spPr>
          <a:xfrm>
            <a:off x="6858000" y="9626599"/>
            <a:ext cx="5080000" cy="546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6033A6"/>
                </a:solidFill>
                <a:latin typeface="Unbounded Regular SemiBold"/>
                <a:ea typeface="Unbounded Regular SemiBold"/>
                <a:cs typeface="Unbounded Regular SemiBold"/>
                <a:sym typeface="Unbounded Regular SemiBold"/>
              </a:defRPr>
            </a:lvl1pPr>
          </a:lstStyle>
          <a:p>
            <a:pPr/>
            <a:r>
              <a:t>14 people</a:t>
            </a:r>
          </a:p>
        </p:txBody>
      </p:sp>
      <p:sp>
        <p:nvSpPr>
          <p:cNvPr id="614" name="A web agency with its own sysop team."/>
          <p:cNvSpPr txBox="1"/>
          <p:nvPr/>
        </p:nvSpPr>
        <p:spPr>
          <a:xfrm>
            <a:off x="6858000" y="10185399"/>
            <a:ext cx="4046372" cy="7772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3D2644"/>
                </a:solidFill>
                <a:latin typeface="Geist Regular Regular"/>
                <a:ea typeface="Geist Regular Regular"/>
                <a:cs typeface="Geist Regular Regular"/>
                <a:sym typeface="Geist Regular Regular"/>
              </a:defRPr>
            </a:lvl1pPr>
          </a:lstStyle>
          <a:p>
            <a:pPr/>
            <a:r>
              <a:t>A web agency with its own sysop team.</a:t>
            </a:r>
          </a:p>
        </p:txBody>
      </p:sp>
      <p:sp>
        <p:nvSpPr>
          <p:cNvPr id="615" name="Built for purpose"/>
          <p:cNvSpPr txBox="1"/>
          <p:nvPr/>
        </p:nvSpPr>
        <p:spPr>
          <a:xfrm>
            <a:off x="12395200" y="9626599"/>
            <a:ext cx="5080000" cy="546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6033A6"/>
                </a:solidFill>
                <a:latin typeface="Unbounded Regular SemiBold"/>
                <a:ea typeface="Unbounded Regular SemiBold"/>
                <a:cs typeface="Unbounded Regular SemiBold"/>
                <a:sym typeface="Unbounded Regular SemiBold"/>
              </a:defRPr>
            </a:lvl1pPr>
          </a:lstStyle>
          <a:p>
            <a:pPr/>
            <a:r>
              <a:t>Built for purpose</a:t>
            </a:r>
          </a:p>
        </p:txBody>
      </p:sp>
      <p:sp>
        <p:nvSpPr>
          <p:cNvPr id="616" name="Each server is set up for its use, with nothing extra installed."/>
          <p:cNvSpPr txBox="1"/>
          <p:nvPr/>
        </p:nvSpPr>
        <p:spPr>
          <a:xfrm>
            <a:off x="12395200" y="10185400"/>
            <a:ext cx="4597289" cy="7772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3D2644"/>
                </a:solidFill>
                <a:latin typeface="Geist Regular Regular"/>
                <a:ea typeface="Geist Regular Regular"/>
                <a:cs typeface="Geist Regular Regular"/>
                <a:sym typeface="Geist Regular Regular"/>
              </a:defRPr>
            </a:lvl1pPr>
          </a:lstStyle>
          <a:p>
            <a:pPr/>
            <a:r>
              <a:t>Each server is set up for its use, with nothing extra installed.</a:t>
            </a:r>
          </a:p>
        </p:txBody>
      </p:sp>
      <p:sp>
        <p:nvSpPr>
          <p:cNvPr id="617" name="Own your services"/>
          <p:cNvSpPr txBox="1"/>
          <p:nvPr/>
        </p:nvSpPr>
        <p:spPr>
          <a:xfrm>
            <a:off x="17932400" y="9626599"/>
            <a:ext cx="5080000" cy="546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6033A6"/>
                </a:solidFill>
                <a:latin typeface="Unbounded Regular SemiBold"/>
                <a:ea typeface="Unbounded Regular SemiBold"/>
                <a:cs typeface="Unbounded Regular SemiBold"/>
                <a:sym typeface="Unbounded Regular SemiBold"/>
              </a:defRPr>
            </a:lvl1pPr>
          </a:lstStyle>
          <a:p>
            <a:pPr/>
            <a:r>
              <a:t>Own your services</a:t>
            </a:r>
          </a:p>
        </p:txBody>
      </p:sp>
      <p:sp>
        <p:nvSpPr>
          <p:cNvPr id="618" name="Analytics, docs, CRM, and other software run on our own servers."/>
          <p:cNvSpPr txBox="1"/>
          <p:nvPr/>
        </p:nvSpPr>
        <p:spPr>
          <a:xfrm>
            <a:off x="17932399" y="10185399"/>
            <a:ext cx="4318001" cy="7772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3D2644"/>
                </a:solidFill>
                <a:latin typeface="Geist Regular Regular"/>
                <a:ea typeface="Geist Regular Regular"/>
                <a:cs typeface="Geist Regular Regular"/>
                <a:sym typeface="Geist Regular Regular"/>
              </a:defRPr>
            </a:lvl1pPr>
          </a:lstStyle>
          <a:p>
            <a:pPr/>
            <a:r>
              <a:t>Analytics, docs, CRM, and other software run on our own servers.</a:t>
            </a:r>
          </a:p>
        </p:txBody>
      </p:sp>
      <p:pic>
        <p:nvPicPr>
          <p:cNvPr id="619" name="prog-11.png" descr="prog-11.png"/>
          <p:cNvPicPr>
            <a:picLocks noChangeAspect="1"/>
          </p:cNvPicPr>
          <p:nvPr/>
        </p:nvPicPr>
        <p:blipFill>
          <a:blip r:embed="rId18">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23"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624" name="From source and from upstream"/>
          <p:cNvSpPr txBox="1"/>
          <p:nvPr/>
        </p:nvSpPr>
        <p:spPr>
          <a:xfrm>
            <a:off x="1308100" y="2692399"/>
            <a:ext cx="22707600" cy="1714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7600">
                <a:solidFill>
                  <a:srgbClr val="220D44"/>
                </a:solidFill>
                <a:latin typeface="Unbounded Regular ExtraBold"/>
                <a:ea typeface="Unbounded Regular ExtraBold"/>
                <a:cs typeface="Unbounded Regular ExtraBold"/>
                <a:sym typeface="Unbounded Regular ExtraBold"/>
              </a:defRPr>
            </a:pPr>
            <a:r>
              <a:t>From source </a:t>
            </a:r>
            <a:r>
              <a:rPr i="1" sz="9800">
                <a:solidFill>
                  <a:srgbClr val="6033A6"/>
                </a:solidFill>
                <a:latin typeface="Instrument Serif Regular"/>
                <a:ea typeface="Instrument Serif Regular"/>
                <a:cs typeface="Instrument Serif Regular"/>
                <a:sym typeface="Instrument Serif Regular"/>
              </a:rPr>
              <a:t>and from upstream</a:t>
            </a:r>
          </a:p>
        </p:txBody>
      </p:sp>
      <p:sp>
        <p:nvSpPr>
          <p:cNvPr id="625"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626" name="viz-12-00.svg" descr="viz-12-00.svg"/>
          <p:cNvPicPr>
            <a:picLocks noChangeAspect="1"/>
          </p:cNvPicPr>
          <p:nvPr/>
        </p:nvPicPr>
        <p:blipFill>
          <a:blip r:embed="rId4">
            <a:extLst/>
          </a:blip>
          <a:stretch>
            <a:fillRect/>
          </a:stretch>
        </p:blipFill>
        <p:spPr>
          <a:xfrm>
            <a:off x="1168400" y="4826000"/>
            <a:ext cx="6667500" cy="1790700"/>
          </a:xfrm>
          <a:prstGeom prst="rect">
            <a:avLst/>
          </a:prstGeom>
          <a:ln w="12700">
            <a:miter lim="400000"/>
          </a:ln>
        </p:spPr>
      </p:pic>
      <p:pic>
        <p:nvPicPr>
          <p:cNvPr id="627" name="viz-12-01.svg" descr="viz-12-01.svg"/>
          <p:cNvPicPr>
            <a:picLocks noChangeAspect="1"/>
          </p:cNvPicPr>
          <p:nvPr/>
        </p:nvPicPr>
        <p:blipFill>
          <a:blip r:embed="rId5">
            <a:extLst/>
          </a:blip>
          <a:stretch>
            <a:fillRect/>
          </a:stretch>
        </p:blipFill>
        <p:spPr>
          <a:xfrm>
            <a:off x="1600200" y="5334000"/>
            <a:ext cx="711200" cy="762000"/>
          </a:xfrm>
          <a:prstGeom prst="rect">
            <a:avLst/>
          </a:prstGeom>
          <a:ln w="12700">
            <a:miter lim="400000"/>
          </a:ln>
        </p:spPr>
      </p:pic>
      <p:pic>
        <p:nvPicPr>
          <p:cNvPr id="628" name="viz-12-02.svg" descr="viz-12-02.svg"/>
          <p:cNvPicPr>
            <a:picLocks noChangeAspect="1"/>
          </p:cNvPicPr>
          <p:nvPr/>
        </p:nvPicPr>
        <p:blipFill>
          <a:blip r:embed="rId6">
            <a:extLst/>
          </a:blip>
          <a:stretch>
            <a:fillRect/>
          </a:stretch>
        </p:blipFill>
        <p:spPr>
          <a:xfrm>
            <a:off x="1168400" y="6731000"/>
            <a:ext cx="6667500" cy="1790700"/>
          </a:xfrm>
          <a:prstGeom prst="rect">
            <a:avLst/>
          </a:prstGeom>
          <a:ln w="12700">
            <a:miter lim="400000"/>
          </a:ln>
        </p:spPr>
      </p:pic>
      <p:pic>
        <p:nvPicPr>
          <p:cNvPr id="629" name="viz-16-03.svg" descr="viz-16-03.svg"/>
          <p:cNvPicPr>
            <a:picLocks noChangeAspect="1"/>
          </p:cNvPicPr>
          <p:nvPr/>
        </p:nvPicPr>
        <p:blipFill>
          <a:blip r:embed="rId7">
            <a:extLst/>
          </a:blip>
          <a:stretch>
            <a:fillRect/>
          </a:stretch>
        </p:blipFill>
        <p:spPr>
          <a:xfrm>
            <a:off x="1587500" y="7239000"/>
            <a:ext cx="736600" cy="736600"/>
          </a:xfrm>
          <a:prstGeom prst="rect">
            <a:avLst/>
          </a:prstGeom>
          <a:ln w="12700">
            <a:miter lim="400000"/>
          </a:ln>
        </p:spPr>
      </p:pic>
      <p:pic>
        <p:nvPicPr>
          <p:cNvPr id="630" name="viz-12-04.svg" descr="viz-12-04.svg"/>
          <p:cNvPicPr>
            <a:picLocks noChangeAspect="1"/>
          </p:cNvPicPr>
          <p:nvPr/>
        </p:nvPicPr>
        <p:blipFill>
          <a:blip r:embed="rId8">
            <a:extLst/>
          </a:blip>
          <a:stretch>
            <a:fillRect/>
          </a:stretch>
        </p:blipFill>
        <p:spPr>
          <a:xfrm>
            <a:off x="1168400" y="8636000"/>
            <a:ext cx="6667500" cy="1790700"/>
          </a:xfrm>
          <a:prstGeom prst="rect">
            <a:avLst/>
          </a:prstGeom>
          <a:ln w="12700">
            <a:miter lim="400000"/>
          </a:ln>
        </p:spPr>
      </p:pic>
      <p:pic>
        <p:nvPicPr>
          <p:cNvPr id="631" name="viz-12-05.svg" descr="viz-12-05.svg"/>
          <p:cNvPicPr>
            <a:picLocks noChangeAspect="1"/>
          </p:cNvPicPr>
          <p:nvPr/>
        </p:nvPicPr>
        <p:blipFill>
          <a:blip r:embed="rId9">
            <a:extLst/>
          </a:blip>
          <a:stretch>
            <a:fillRect/>
          </a:stretch>
        </p:blipFill>
        <p:spPr>
          <a:xfrm>
            <a:off x="1574800" y="9118600"/>
            <a:ext cx="762000" cy="812800"/>
          </a:xfrm>
          <a:prstGeom prst="rect">
            <a:avLst/>
          </a:prstGeom>
          <a:ln w="12700">
            <a:miter lim="400000"/>
          </a:ln>
        </p:spPr>
      </p:pic>
      <p:pic>
        <p:nvPicPr>
          <p:cNvPr id="632" name="viz-12-06.svg" descr="viz-12-06.svg"/>
          <p:cNvPicPr>
            <a:picLocks noChangeAspect="1"/>
          </p:cNvPicPr>
          <p:nvPr/>
        </p:nvPicPr>
        <p:blipFill>
          <a:blip r:embed="rId10">
            <a:extLst/>
          </a:blip>
          <a:stretch>
            <a:fillRect/>
          </a:stretch>
        </p:blipFill>
        <p:spPr>
          <a:xfrm>
            <a:off x="8483600" y="4826000"/>
            <a:ext cx="4635500" cy="1790700"/>
          </a:xfrm>
          <a:prstGeom prst="rect">
            <a:avLst/>
          </a:prstGeom>
          <a:ln w="12700">
            <a:miter lim="400000"/>
          </a:ln>
        </p:spPr>
      </p:pic>
      <p:pic>
        <p:nvPicPr>
          <p:cNvPr id="633" name="viz-12-07.svg" descr="viz-12-07.svg"/>
          <p:cNvPicPr>
            <a:picLocks noChangeAspect="1"/>
          </p:cNvPicPr>
          <p:nvPr/>
        </p:nvPicPr>
        <p:blipFill>
          <a:blip r:embed="rId11">
            <a:extLst/>
          </a:blip>
          <a:stretch>
            <a:fillRect/>
          </a:stretch>
        </p:blipFill>
        <p:spPr>
          <a:xfrm>
            <a:off x="8890000" y="5334000"/>
            <a:ext cx="762000" cy="762000"/>
          </a:xfrm>
          <a:prstGeom prst="rect">
            <a:avLst/>
          </a:prstGeom>
          <a:ln w="12700">
            <a:miter lim="400000"/>
          </a:ln>
        </p:spPr>
      </p:pic>
      <p:pic>
        <p:nvPicPr>
          <p:cNvPr id="634" name="viz-12-08.svg" descr="viz-12-08.svg"/>
          <p:cNvPicPr>
            <a:picLocks noChangeAspect="1"/>
          </p:cNvPicPr>
          <p:nvPr/>
        </p:nvPicPr>
        <p:blipFill>
          <a:blip r:embed="rId12">
            <a:extLst/>
          </a:blip>
          <a:stretch>
            <a:fillRect/>
          </a:stretch>
        </p:blipFill>
        <p:spPr>
          <a:xfrm>
            <a:off x="7696200" y="5562600"/>
            <a:ext cx="927100" cy="317500"/>
          </a:xfrm>
          <a:prstGeom prst="rect">
            <a:avLst/>
          </a:prstGeom>
          <a:ln w="12700">
            <a:miter lim="400000"/>
          </a:ln>
        </p:spPr>
      </p:pic>
      <p:pic>
        <p:nvPicPr>
          <p:cNvPr id="635" name="viz-12-09.svg" descr="viz-12-09.svg"/>
          <p:cNvPicPr>
            <a:picLocks noChangeAspect="1"/>
          </p:cNvPicPr>
          <p:nvPr/>
        </p:nvPicPr>
        <p:blipFill>
          <a:blip r:embed="rId13">
            <a:extLst/>
          </a:blip>
          <a:stretch>
            <a:fillRect/>
          </a:stretch>
        </p:blipFill>
        <p:spPr>
          <a:xfrm>
            <a:off x="12979400" y="5562600"/>
            <a:ext cx="1231900" cy="317500"/>
          </a:xfrm>
          <a:prstGeom prst="rect">
            <a:avLst/>
          </a:prstGeom>
          <a:ln w="12700">
            <a:miter lim="400000"/>
          </a:ln>
        </p:spPr>
      </p:pic>
      <p:pic>
        <p:nvPicPr>
          <p:cNvPr id="636" name="viz-16-10.svg" descr="viz-16-10.svg"/>
          <p:cNvPicPr>
            <a:picLocks noChangeAspect="1"/>
          </p:cNvPicPr>
          <p:nvPr/>
        </p:nvPicPr>
        <p:blipFill>
          <a:blip r:embed="rId14">
            <a:extLst/>
          </a:blip>
          <a:stretch>
            <a:fillRect/>
          </a:stretch>
        </p:blipFill>
        <p:spPr>
          <a:xfrm>
            <a:off x="7696200" y="7467600"/>
            <a:ext cx="6515100" cy="317500"/>
          </a:xfrm>
          <a:prstGeom prst="rect">
            <a:avLst/>
          </a:prstGeom>
          <a:ln w="12700">
            <a:miter lim="400000"/>
          </a:ln>
        </p:spPr>
      </p:pic>
      <p:pic>
        <p:nvPicPr>
          <p:cNvPr id="637" name="viz-12-11.svg" descr="viz-12-11.svg"/>
          <p:cNvPicPr>
            <a:picLocks noChangeAspect="1"/>
          </p:cNvPicPr>
          <p:nvPr/>
        </p:nvPicPr>
        <p:blipFill>
          <a:blip r:embed="rId15">
            <a:extLst/>
          </a:blip>
          <a:stretch>
            <a:fillRect/>
          </a:stretch>
        </p:blipFill>
        <p:spPr>
          <a:xfrm>
            <a:off x="7696200" y="9372600"/>
            <a:ext cx="6515100" cy="317500"/>
          </a:xfrm>
          <a:prstGeom prst="rect">
            <a:avLst/>
          </a:prstGeom>
          <a:ln w="12700">
            <a:miter lim="400000"/>
          </a:ln>
        </p:spPr>
      </p:pic>
      <p:pic>
        <p:nvPicPr>
          <p:cNvPr id="638" name="viz-12-12.svg" descr="viz-12-12.svg"/>
          <p:cNvPicPr>
            <a:picLocks noChangeAspect="1"/>
          </p:cNvPicPr>
          <p:nvPr/>
        </p:nvPicPr>
        <p:blipFill>
          <a:blip r:embed="rId16">
            <a:extLst/>
          </a:blip>
          <a:stretch>
            <a:fillRect/>
          </a:stretch>
        </p:blipFill>
        <p:spPr>
          <a:xfrm>
            <a:off x="14071600" y="4826000"/>
            <a:ext cx="9105900" cy="5981700"/>
          </a:xfrm>
          <a:prstGeom prst="rect">
            <a:avLst/>
          </a:prstGeom>
          <a:ln w="12700">
            <a:miter lim="400000"/>
          </a:ln>
        </p:spPr>
      </p:pic>
      <p:pic>
        <p:nvPicPr>
          <p:cNvPr id="639" name="viz-12-13.svg" descr="viz-12-13.svg"/>
          <p:cNvPicPr>
            <a:picLocks noChangeAspect="1"/>
          </p:cNvPicPr>
          <p:nvPr/>
        </p:nvPicPr>
        <p:blipFill>
          <a:blip r:embed="rId17">
            <a:extLst/>
          </a:blip>
          <a:stretch>
            <a:fillRect/>
          </a:stretch>
        </p:blipFill>
        <p:spPr>
          <a:xfrm>
            <a:off x="14490700" y="5257800"/>
            <a:ext cx="736600" cy="711200"/>
          </a:xfrm>
          <a:prstGeom prst="rect">
            <a:avLst/>
          </a:prstGeom>
          <a:ln w="12700">
            <a:miter lim="400000"/>
          </a:ln>
        </p:spPr>
      </p:pic>
      <p:pic>
        <p:nvPicPr>
          <p:cNvPr id="640" name="viz-12-14.svg" descr="viz-12-14.svg"/>
          <p:cNvPicPr>
            <a:picLocks noChangeAspect="1"/>
          </p:cNvPicPr>
          <p:nvPr/>
        </p:nvPicPr>
        <p:blipFill>
          <a:blip r:embed="rId18">
            <a:extLst/>
          </a:blip>
          <a:stretch>
            <a:fillRect/>
          </a:stretch>
        </p:blipFill>
        <p:spPr>
          <a:xfrm>
            <a:off x="14427200" y="5994400"/>
            <a:ext cx="4254500" cy="977900"/>
          </a:xfrm>
          <a:prstGeom prst="rect">
            <a:avLst/>
          </a:prstGeom>
          <a:ln w="12700">
            <a:miter lim="400000"/>
          </a:ln>
        </p:spPr>
      </p:pic>
      <p:pic>
        <p:nvPicPr>
          <p:cNvPr id="641" name="viz-12-15.svg" descr="viz-12-15.svg"/>
          <p:cNvPicPr>
            <a:picLocks noChangeAspect="1"/>
          </p:cNvPicPr>
          <p:nvPr/>
        </p:nvPicPr>
        <p:blipFill>
          <a:blip r:embed="rId19">
            <a:extLst/>
          </a:blip>
          <a:stretch>
            <a:fillRect/>
          </a:stretch>
        </p:blipFill>
        <p:spPr>
          <a:xfrm>
            <a:off x="18567400" y="5994400"/>
            <a:ext cx="4254500" cy="977900"/>
          </a:xfrm>
          <a:prstGeom prst="rect">
            <a:avLst/>
          </a:prstGeom>
          <a:ln w="12700">
            <a:miter lim="400000"/>
          </a:ln>
        </p:spPr>
      </p:pic>
      <p:pic>
        <p:nvPicPr>
          <p:cNvPr id="642" name="viz-12-16.svg" descr="viz-12-16.svg"/>
          <p:cNvPicPr>
            <a:picLocks noChangeAspect="1"/>
          </p:cNvPicPr>
          <p:nvPr/>
        </p:nvPicPr>
        <p:blipFill>
          <a:blip r:embed="rId20">
            <a:extLst/>
          </a:blip>
          <a:stretch>
            <a:fillRect/>
          </a:stretch>
        </p:blipFill>
        <p:spPr>
          <a:xfrm>
            <a:off x="14427200" y="6807200"/>
            <a:ext cx="4254500" cy="977900"/>
          </a:xfrm>
          <a:prstGeom prst="rect">
            <a:avLst/>
          </a:prstGeom>
          <a:ln w="12700">
            <a:miter lim="400000"/>
          </a:ln>
        </p:spPr>
      </p:pic>
      <p:pic>
        <p:nvPicPr>
          <p:cNvPr id="643" name="viz-12-17.svg" descr="viz-12-17.svg"/>
          <p:cNvPicPr>
            <a:picLocks noChangeAspect="1"/>
          </p:cNvPicPr>
          <p:nvPr/>
        </p:nvPicPr>
        <p:blipFill>
          <a:blip r:embed="rId21">
            <a:extLst/>
          </a:blip>
          <a:stretch>
            <a:fillRect/>
          </a:stretch>
        </p:blipFill>
        <p:spPr>
          <a:xfrm>
            <a:off x="18567400" y="6807200"/>
            <a:ext cx="4254500" cy="977900"/>
          </a:xfrm>
          <a:prstGeom prst="rect">
            <a:avLst/>
          </a:prstGeom>
          <a:ln w="12700">
            <a:miter lim="400000"/>
          </a:ln>
        </p:spPr>
      </p:pic>
      <p:pic>
        <p:nvPicPr>
          <p:cNvPr id="644" name="viz-12-18.svg" descr="viz-12-18.svg"/>
          <p:cNvPicPr>
            <a:picLocks noChangeAspect="1"/>
          </p:cNvPicPr>
          <p:nvPr/>
        </p:nvPicPr>
        <p:blipFill>
          <a:blip r:embed="rId22">
            <a:extLst/>
          </a:blip>
          <a:stretch>
            <a:fillRect/>
          </a:stretch>
        </p:blipFill>
        <p:spPr>
          <a:xfrm>
            <a:off x="14427200" y="7620000"/>
            <a:ext cx="4254500" cy="977900"/>
          </a:xfrm>
          <a:prstGeom prst="rect">
            <a:avLst/>
          </a:prstGeom>
          <a:ln w="12700">
            <a:miter lim="400000"/>
          </a:ln>
        </p:spPr>
      </p:pic>
      <p:pic>
        <p:nvPicPr>
          <p:cNvPr id="645" name="viz-12-19.svg" descr="viz-12-19.svg"/>
          <p:cNvPicPr>
            <a:picLocks noChangeAspect="1"/>
          </p:cNvPicPr>
          <p:nvPr/>
        </p:nvPicPr>
        <p:blipFill>
          <a:blip r:embed="rId23">
            <a:extLst/>
          </a:blip>
          <a:stretch>
            <a:fillRect/>
          </a:stretch>
        </p:blipFill>
        <p:spPr>
          <a:xfrm>
            <a:off x="18567400" y="7620000"/>
            <a:ext cx="4254500" cy="977900"/>
          </a:xfrm>
          <a:prstGeom prst="rect">
            <a:avLst/>
          </a:prstGeom>
          <a:ln w="12700">
            <a:miter lim="400000"/>
          </a:ln>
        </p:spPr>
      </p:pic>
      <p:pic>
        <p:nvPicPr>
          <p:cNvPr id="646" name="viz-12-20.svg" descr="viz-12-20.svg"/>
          <p:cNvPicPr>
            <a:picLocks noChangeAspect="1"/>
          </p:cNvPicPr>
          <p:nvPr/>
        </p:nvPicPr>
        <p:blipFill>
          <a:blip r:embed="rId24">
            <a:extLst/>
          </a:blip>
          <a:stretch>
            <a:fillRect/>
          </a:stretch>
        </p:blipFill>
        <p:spPr>
          <a:xfrm>
            <a:off x="14427200" y="8534400"/>
            <a:ext cx="8394700" cy="1917700"/>
          </a:xfrm>
          <a:prstGeom prst="rect">
            <a:avLst/>
          </a:prstGeom>
          <a:ln w="12700">
            <a:miter lim="400000"/>
          </a:ln>
        </p:spPr>
      </p:pic>
      <p:sp>
        <p:nvSpPr>
          <p:cNvPr id="647" name="Module source"/>
          <p:cNvSpPr txBox="1"/>
          <p:nvPr/>
        </p:nvSpPr>
        <p:spPr>
          <a:xfrm>
            <a:off x="2514599" y="5321300"/>
            <a:ext cx="4851401" cy="45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220D44"/>
                </a:solidFill>
                <a:latin typeface="Geist Regular SemiBold"/>
                <a:ea typeface="Geist Regular SemiBold"/>
                <a:cs typeface="Geist Regular SemiBold"/>
                <a:sym typeface="Geist Regular SemiBold"/>
              </a:defRPr>
            </a:lvl1pPr>
          </a:lstStyle>
          <a:p>
            <a:pPr/>
            <a:r>
              <a:t>Module source</a:t>
            </a:r>
          </a:p>
        </p:txBody>
      </p:sp>
      <p:sp>
        <p:nvSpPr>
          <p:cNvPr id="648" name="Brotli, cache purging, GeoIP…"/>
          <p:cNvSpPr txBox="1"/>
          <p:nvPr/>
        </p:nvSpPr>
        <p:spPr>
          <a:xfrm>
            <a:off x="2514599" y="5740400"/>
            <a:ext cx="4851401" cy="4318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000">
                <a:solidFill>
                  <a:srgbClr val="3D2644"/>
                </a:solidFill>
                <a:latin typeface="Geist Regular Regular"/>
                <a:ea typeface="Geist Regular Regular"/>
                <a:cs typeface="Geist Regular Regular"/>
                <a:sym typeface="Geist Regular Regular"/>
              </a:defRPr>
            </a:lvl1pPr>
          </a:lstStyle>
          <a:p>
            <a:pPr/>
            <a:r>
              <a:t>Brotli, cache purging, GeoIP…</a:t>
            </a:r>
          </a:p>
        </p:txBody>
      </p:sp>
      <p:sp>
        <p:nvSpPr>
          <p:cNvPr id="649" name="Upstream repositories"/>
          <p:cNvSpPr txBox="1"/>
          <p:nvPr/>
        </p:nvSpPr>
        <p:spPr>
          <a:xfrm>
            <a:off x="2514599" y="7226300"/>
            <a:ext cx="4851401" cy="45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220D44"/>
                </a:solidFill>
                <a:latin typeface="Geist Regular SemiBold"/>
                <a:ea typeface="Geist Regular SemiBold"/>
                <a:cs typeface="Geist Regular SemiBold"/>
                <a:sym typeface="Geist Regular SemiBold"/>
              </a:defRPr>
            </a:lvl1pPr>
          </a:lstStyle>
          <a:p>
            <a:pPr/>
            <a:r>
              <a:t>Upstream repositories</a:t>
            </a:r>
          </a:p>
        </p:txBody>
      </p:sp>
      <p:sp>
        <p:nvSpPr>
          <p:cNvPr id="650" name="nginx.org mainline, PPAs, MariaDB."/>
          <p:cNvSpPr txBox="1"/>
          <p:nvPr/>
        </p:nvSpPr>
        <p:spPr>
          <a:xfrm>
            <a:off x="2514599" y="7645400"/>
            <a:ext cx="4851401" cy="4318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000">
                <a:solidFill>
                  <a:srgbClr val="3D2644"/>
                </a:solidFill>
                <a:latin typeface="Geist Regular Regular"/>
                <a:ea typeface="Geist Regular Regular"/>
                <a:cs typeface="Geist Regular Regular"/>
                <a:sym typeface="Geist Regular Regular"/>
              </a:defRPr>
            </a:lvl1pPr>
          </a:lstStyle>
          <a:p>
            <a:pPr/>
            <a:r>
              <a:t>nginx.org mainline, PPAs, MariaDB.</a:t>
            </a:r>
          </a:p>
        </p:txBody>
      </p:sp>
      <p:sp>
        <p:nvSpPr>
          <p:cNvPr id="651" name="Distribution packages"/>
          <p:cNvSpPr txBox="1"/>
          <p:nvPr/>
        </p:nvSpPr>
        <p:spPr>
          <a:xfrm>
            <a:off x="2514599" y="8966200"/>
            <a:ext cx="4851401" cy="45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220D44"/>
                </a:solidFill>
                <a:latin typeface="Geist Regular SemiBold"/>
                <a:ea typeface="Geist Regular SemiBold"/>
                <a:cs typeface="Geist Regular SemiBold"/>
                <a:sym typeface="Geist Regular SemiBold"/>
              </a:defRPr>
            </a:lvl1pPr>
          </a:lstStyle>
          <a:p>
            <a:pPr/>
            <a:r>
              <a:t>Distribution packages</a:t>
            </a:r>
          </a:p>
        </p:txBody>
      </p:sp>
      <p:sp>
        <p:nvSpPr>
          <p:cNvPr id="652" name="Everything else comes from the distribution."/>
          <p:cNvSpPr txBox="1"/>
          <p:nvPr/>
        </p:nvSpPr>
        <p:spPr>
          <a:xfrm>
            <a:off x="2514599" y="9385300"/>
            <a:ext cx="4851401" cy="72898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000">
                <a:solidFill>
                  <a:srgbClr val="3D2644"/>
                </a:solidFill>
                <a:latin typeface="Geist Regular Regular"/>
                <a:ea typeface="Geist Regular Regular"/>
                <a:cs typeface="Geist Regular Regular"/>
                <a:sym typeface="Geist Regular Regular"/>
              </a:defRPr>
            </a:pPr>
            <a:r>
              <a:t>Everything else comes from</a:t>
            </a:r>
            <a:br/>
            <a:r>
              <a:t>the distribution.</a:t>
            </a:r>
          </a:p>
        </p:txBody>
      </p:sp>
      <p:sp>
        <p:nvSpPr>
          <p:cNvPr id="653" name="Built here"/>
          <p:cNvSpPr txBox="1"/>
          <p:nvPr/>
        </p:nvSpPr>
        <p:spPr>
          <a:xfrm>
            <a:off x="9829800" y="5156200"/>
            <a:ext cx="2819400" cy="45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220D44"/>
                </a:solidFill>
                <a:latin typeface="Geist Regular SemiBold"/>
                <a:ea typeface="Geist Regular SemiBold"/>
                <a:cs typeface="Geist Regular SemiBold"/>
                <a:sym typeface="Geist Regular SemiBold"/>
              </a:defRPr>
            </a:lvl1pPr>
          </a:lstStyle>
          <a:p>
            <a:pPr/>
            <a:r>
              <a:t>Built here</a:t>
            </a:r>
          </a:p>
        </p:txBody>
      </p:sp>
      <p:sp>
        <p:nvSpPr>
          <p:cNvPr id="654" name="Against the running nginx version."/>
          <p:cNvSpPr txBox="1"/>
          <p:nvPr/>
        </p:nvSpPr>
        <p:spPr>
          <a:xfrm>
            <a:off x="9829800" y="5575300"/>
            <a:ext cx="2819400" cy="72898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000">
                <a:solidFill>
                  <a:srgbClr val="3D2644"/>
                </a:solidFill>
                <a:latin typeface="Geist Regular Regular"/>
                <a:ea typeface="Geist Regular Regular"/>
                <a:cs typeface="Geist Regular Regular"/>
                <a:sym typeface="Geist Regular Regular"/>
              </a:defRPr>
            </a:pPr>
            <a:r>
              <a:t>Against the running</a:t>
            </a:r>
            <a:br/>
            <a:r>
              <a:t>nginx version.</a:t>
            </a:r>
          </a:p>
        </p:txBody>
      </p:sp>
      <p:sp>
        <p:nvSpPr>
          <p:cNvPr id="655" name="Our server"/>
          <p:cNvSpPr txBox="1"/>
          <p:nvPr/>
        </p:nvSpPr>
        <p:spPr>
          <a:xfrm>
            <a:off x="15417800" y="5397500"/>
            <a:ext cx="5080000" cy="45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220D44"/>
                </a:solidFill>
                <a:latin typeface="Geist Regular SemiBold"/>
                <a:ea typeface="Geist Regular SemiBold"/>
                <a:cs typeface="Geist Regular SemiBold"/>
                <a:sym typeface="Geist Regular SemiBold"/>
              </a:defRPr>
            </a:lvl1pPr>
          </a:lstStyle>
          <a:p>
            <a:pPr/>
            <a:r>
              <a:t>Our server</a:t>
            </a:r>
          </a:p>
        </p:txBody>
      </p:sp>
      <p:sp>
        <p:nvSpPr>
          <p:cNvPr id="656" name="nginx and modules"/>
          <p:cNvSpPr txBox="1"/>
          <p:nvPr/>
        </p:nvSpPr>
        <p:spPr>
          <a:xfrm>
            <a:off x="14833600" y="6273800"/>
            <a:ext cx="3556000" cy="45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220D44"/>
                </a:solidFill>
                <a:latin typeface="Geist Regular SemiBold"/>
                <a:ea typeface="Geist Regular SemiBold"/>
                <a:cs typeface="Geist Regular SemiBold"/>
                <a:sym typeface="Geist Regular SemiBold"/>
              </a:defRPr>
            </a:lvl1pPr>
          </a:lstStyle>
          <a:p>
            <a:pPr/>
            <a:r>
              <a:t>nginx and modules</a:t>
            </a:r>
          </a:p>
        </p:txBody>
      </p:sp>
      <p:sp>
        <p:nvSpPr>
          <p:cNvPr id="657" name="PHP"/>
          <p:cNvSpPr txBox="1"/>
          <p:nvPr/>
        </p:nvSpPr>
        <p:spPr>
          <a:xfrm>
            <a:off x="18973800" y="6273800"/>
            <a:ext cx="3556000" cy="45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220D44"/>
                </a:solidFill>
                <a:latin typeface="Geist Regular SemiBold"/>
                <a:ea typeface="Geist Regular SemiBold"/>
                <a:cs typeface="Geist Regular SemiBold"/>
                <a:sym typeface="Geist Regular SemiBold"/>
              </a:defRPr>
            </a:lvl1pPr>
          </a:lstStyle>
          <a:p>
            <a:pPr/>
            <a:r>
              <a:t>PHP</a:t>
            </a:r>
          </a:p>
        </p:txBody>
      </p:sp>
      <p:sp>
        <p:nvSpPr>
          <p:cNvPr id="658" name="MariaDB"/>
          <p:cNvSpPr txBox="1"/>
          <p:nvPr/>
        </p:nvSpPr>
        <p:spPr>
          <a:xfrm>
            <a:off x="14833600" y="7086600"/>
            <a:ext cx="3556000" cy="45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220D44"/>
                </a:solidFill>
                <a:latin typeface="Geist Regular SemiBold"/>
                <a:ea typeface="Geist Regular SemiBold"/>
                <a:cs typeface="Geist Regular SemiBold"/>
                <a:sym typeface="Geist Regular SemiBold"/>
              </a:defRPr>
            </a:lvl1pPr>
          </a:lstStyle>
          <a:p>
            <a:pPr/>
            <a:r>
              <a:t>MariaDB</a:t>
            </a:r>
          </a:p>
        </p:txBody>
      </p:sp>
      <p:sp>
        <p:nvSpPr>
          <p:cNvPr id="659" name="Distribution packages"/>
          <p:cNvSpPr txBox="1"/>
          <p:nvPr/>
        </p:nvSpPr>
        <p:spPr>
          <a:xfrm>
            <a:off x="18973800" y="7086600"/>
            <a:ext cx="3556000" cy="45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220D44"/>
                </a:solidFill>
                <a:latin typeface="Geist Regular SemiBold"/>
                <a:ea typeface="Geist Regular SemiBold"/>
                <a:cs typeface="Geist Regular SemiBold"/>
                <a:sym typeface="Geist Regular SemiBold"/>
              </a:defRPr>
            </a:lvl1pPr>
          </a:lstStyle>
          <a:p>
            <a:pPr/>
            <a:r>
              <a:t>Distribution packages</a:t>
            </a:r>
          </a:p>
        </p:txBody>
      </p:sp>
      <p:sp>
        <p:nvSpPr>
          <p:cNvPr id="660" name="Applications"/>
          <p:cNvSpPr txBox="1"/>
          <p:nvPr/>
        </p:nvSpPr>
        <p:spPr>
          <a:xfrm>
            <a:off x="14833600" y="7899400"/>
            <a:ext cx="3556000" cy="45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220D44"/>
                </a:solidFill>
                <a:latin typeface="Geist Regular SemiBold"/>
                <a:ea typeface="Geist Regular SemiBold"/>
                <a:cs typeface="Geist Regular SemiBold"/>
                <a:sym typeface="Geist Regular SemiBold"/>
              </a:defRPr>
            </a:lvl1pPr>
          </a:lstStyle>
          <a:p>
            <a:pPr/>
            <a:r>
              <a:t>Applications</a:t>
            </a:r>
          </a:p>
        </p:txBody>
      </p:sp>
      <p:sp>
        <p:nvSpPr>
          <p:cNvPr id="661" name="FOSS"/>
          <p:cNvSpPr txBox="1"/>
          <p:nvPr/>
        </p:nvSpPr>
        <p:spPr>
          <a:xfrm>
            <a:off x="18973800" y="7899400"/>
            <a:ext cx="3556000" cy="45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220D44"/>
                </a:solidFill>
                <a:latin typeface="Geist Regular SemiBold"/>
                <a:ea typeface="Geist Regular SemiBold"/>
                <a:cs typeface="Geist Regular SemiBold"/>
                <a:sym typeface="Geist Regular SemiBold"/>
              </a:defRPr>
            </a:lvl1pPr>
          </a:lstStyle>
          <a:p>
            <a:pPr/>
            <a:r>
              <a:t>FOSS</a:t>
            </a:r>
          </a:p>
        </p:txBody>
      </p:sp>
      <p:sp>
        <p:nvSpPr>
          <p:cNvPr id="662" name="Our own configuration"/>
          <p:cNvSpPr txBox="1"/>
          <p:nvPr/>
        </p:nvSpPr>
        <p:spPr>
          <a:xfrm>
            <a:off x="14833600" y="8915400"/>
            <a:ext cx="7620000" cy="45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FFFFFF"/>
                </a:solidFill>
                <a:latin typeface="Geist Regular SemiBold"/>
                <a:ea typeface="Geist Regular SemiBold"/>
                <a:cs typeface="Geist Regular SemiBold"/>
                <a:sym typeface="Geist Regular SemiBold"/>
              </a:defRPr>
            </a:lvl1pPr>
          </a:lstStyle>
          <a:p>
            <a:pPr/>
            <a:r>
              <a:t>Our own configuration</a:t>
            </a:r>
          </a:p>
        </p:txBody>
      </p:sp>
      <p:sp>
        <p:nvSpPr>
          <p:cNvPr id="663" name="Every configuration file is ours, with our own defaults."/>
          <p:cNvSpPr txBox="1"/>
          <p:nvPr/>
        </p:nvSpPr>
        <p:spPr>
          <a:xfrm>
            <a:off x="14833600" y="9347200"/>
            <a:ext cx="7620000" cy="72898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000">
                <a:solidFill>
                  <a:srgbClr val="FFFFFF"/>
                </a:solidFill>
                <a:latin typeface="Geist Regular Regular"/>
                <a:ea typeface="Geist Regular Regular"/>
                <a:cs typeface="Geist Regular Regular"/>
                <a:sym typeface="Geist Regular Regular"/>
              </a:defRPr>
            </a:pPr>
            <a:r>
              <a:t>Every configuration file is ours,</a:t>
            </a:r>
            <a:br/>
            <a:r>
              <a:t>with our own defaults.</a:t>
            </a:r>
          </a:p>
        </p:txBody>
      </p:sp>
      <p:pic>
        <p:nvPicPr>
          <p:cNvPr id="664" name="prog-12.png" descr="prog-12.png"/>
          <p:cNvPicPr>
            <a:picLocks noChangeAspect="1"/>
          </p:cNvPicPr>
          <p:nvPr/>
        </p:nvPicPr>
        <p:blipFill>
          <a:blip r:embed="rId25">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68"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669" name="The package broke, source kept running"/>
          <p:cNvSpPr txBox="1"/>
          <p:nvPr/>
        </p:nvSpPr>
        <p:spPr>
          <a:xfrm>
            <a:off x="1308100" y="2552699"/>
            <a:ext cx="22707600" cy="1714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7600">
                <a:solidFill>
                  <a:srgbClr val="220D44"/>
                </a:solidFill>
                <a:latin typeface="Unbounded Regular ExtraBold"/>
                <a:ea typeface="Unbounded Regular ExtraBold"/>
                <a:cs typeface="Unbounded Regular ExtraBold"/>
                <a:sym typeface="Unbounded Regular ExtraBold"/>
              </a:defRPr>
            </a:pPr>
            <a:r>
              <a:t>The package broke, </a:t>
            </a:r>
            <a:r>
              <a:rPr i="1" sz="9800">
                <a:solidFill>
                  <a:srgbClr val="6033A6"/>
                </a:solidFill>
                <a:latin typeface="Instrument Serif Regular"/>
                <a:ea typeface="Instrument Serif Regular"/>
                <a:cs typeface="Instrument Serif Regular"/>
                <a:sym typeface="Instrument Serif Regular"/>
              </a:rPr>
              <a:t>source kept running</a:t>
            </a:r>
          </a:p>
        </p:txBody>
      </p:sp>
      <p:sp>
        <p:nvSpPr>
          <p:cNvPr id="670" name="Read the running build"/>
          <p:cNvSpPr txBox="1"/>
          <p:nvPr/>
        </p:nvSpPr>
        <p:spPr>
          <a:xfrm>
            <a:off x="1308100" y="4584700"/>
            <a:ext cx="11023600" cy="800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200">
                <a:solidFill>
                  <a:srgbClr val="6033A6"/>
                </a:solidFill>
                <a:latin typeface="Instrument Serif Regular"/>
                <a:ea typeface="Instrument Serif Regular"/>
                <a:cs typeface="Instrument Serif Regular"/>
                <a:sym typeface="Instrument Serif Regular"/>
              </a:defRPr>
            </a:lvl1pPr>
          </a:lstStyle>
          <a:p>
            <a:pPr/>
            <a:r>
              <a:t>Read the running build</a:t>
            </a:r>
          </a:p>
        </p:txBody>
      </p:sp>
      <p:sp>
        <p:nvSpPr>
          <p:cNvPr id="671" name="Build the module against it"/>
          <p:cNvSpPr txBox="1"/>
          <p:nvPr/>
        </p:nvSpPr>
        <p:spPr>
          <a:xfrm>
            <a:off x="12547600" y="4584700"/>
            <a:ext cx="11023600" cy="800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200">
                <a:solidFill>
                  <a:srgbClr val="6033A6"/>
                </a:solidFill>
                <a:latin typeface="Instrument Serif Regular"/>
                <a:ea typeface="Instrument Serif Regular"/>
                <a:cs typeface="Instrument Serif Regular"/>
                <a:sym typeface="Instrument Serif Regular"/>
              </a:defRPr>
            </a:lvl1pPr>
          </a:lstStyle>
          <a:p>
            <a:pPr/>
            <a:r>
              <a:t>Build the module against it</a:t>
            </a:r>
          </a:p>
        </p:txBody>
      </p:sp>
      <p:sp>
        <p:nvSpPr>
          <p:cNvPr id="672" name="Canonical’s nginx security update made nginx crash with external modules. Our nginx comes from nginx.org mainline, with modules built from source against it, and it kept running."/>
          <p:cNvSpPr txBox="1"/>
          <p:nvPr/>
        </p:nvSpPr>
        <p:spPr>
          <a:xfrm>
            <a:off x="1320800" y="9551035"/>
            <a:ext cx="20802600" cy="10909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200">
                <a:solidFill>
                  <a:srgbClr val="3D2644"/>
                </a:solidFill>
                <a:latin typeface="Geist Regular Regular"/>
                <a:ea typeface="Geist Regular Regular"/>
                <a:cs typeface="Geist Regular Regular"/>
                <a:sym typeface="Geist Regular Regular"/>
              </a:defRPr>
            </a:lvl1pPr>
          </a:lstStyle>
          <a:p>
            <a:pPr/>
            <a:r>
              <a:t>Canonical’s nginx security update made nginx crash with external modules. Our nginx comes from nginx.org mainline, with modules built from source against it, and it kept running.</a:t>
            </a:r>
          </a:p>
        </p:txBody>
      </p:sp>
      <p:sp>
        <p:nvSpPr>
          <p:cNvPr id="673"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674" name="viz-13-00.svg" descr="viz-13-00.svg"/>
          <p:cNvPicPr>
            <a:picLocks noChangeAspect="1"/>
          </p:cNvPicPr>
          <p:nvPr/>
        </p:nvPicPr>
        <p:blipFill>
          <a:blip r:embed="rId4">
            <a:extLst/>
          </a:blip>
          <a:stretch>
            <a:fillRect/>
          </a:stretch>
        </p:blipFill>
        <p:spPr>
          <a:xfrm>
            <a:off x="1219200" y="5346700"/>
            <a:ext cx="10718800" cy="1993900"/>
          </a:xfrm>
          <a:prstGeom prst="rect">
            <a:avLst/>
          </a:prstGeom>
          <a:ln w="12700">
            <a:miter lim="400000"/>
          </a:ln>
        </p:spPr>
      </p:pic>
      <p:pic>
        <p:nvPicPr>
          <p:cNvPr id="675" name="viz-13-01.svg" descr="viz-13-01.svg"/>
          <p:cNvPicPr>
            <a:picLocks noChangeAspect="1"/>
          </p:cNvPicPr>
          <p:nvPr/>
        </p:nvPicPr>
        <p:blipFill>
          <a:blip r:embed="rId5">
            <a:extLst/>
          </a:blip>
          <a:stretch>
            <a:fillRect/>
          </a:stretch>
        </p:blipFill>
        <p:spPr>
          <a:xfrm>
            <a:off x="12458700" y="5346700"/>
            <a:ext cx="10718800" cy="3517900"/>
          </a:xfrm>
          <a:prstGeom prst="rect">
            <a:avLst/>
          </a:prstGeom>
          <a:ln w="12700">
            <a:miter lim="400000"/>
          </a:ln>
        </p:spPr>
      </p:pic>
      <p:sp>
        <p:nvSpPr>
          <p:cNvPr id="676" name="nginx -v"/>
          <p:cNvSpPr txBox="1"/>
          <p:nvPr/>
        </p:nvSpPr>
        <p:spPr>
          <a:xfrm>
            <a:off x="1752600" y="5740400"/>
            <a:ext cx="2133601"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600">
                <a:solidFill>
                  <a:srgbClr val="E9EEF0"/>
                </a:solidFill>
                <a:latin typeface="Geist Mono Regular Regular"/>
                <a:ea typeface="Geist Mono Regular Regular"/>
                <a:cs typeface="Geist Mono Regular Regular"/>
                <a:sym typeface="Geist Mono Regular Regular"/>
              </a:defRPr>
            </a:pPr>
            <a:r>
              <a:rPr>
                <a:solidFill>
                  <a:srgbClr val="9EE8FF"/>
                </a:solidFill>
              </a:rPr>
              <a:t>nginx</a:t>
            </a:r>
            <a:r>
              <a:t> </a:t>
            </a:r>
            <a:r>
              <a:rPr>
                <a:solidFill>
                  <a:srgbClr val="FF97E2"/>
                </a:solidFill>
              </a:rPr>
              <a:t>-v</a:t>
            </a:r>
          </a:p>
        </p:txBody>
      </p:sp>
      <p:sp>
        <p:nvSpPr>
          <p:cNvPr id="677" name="nginx -V 2&gt;&amp;1 | grep configure"/>
          <p:cNvSpPr txBox="1"/>
          <p:nvPr/>
        </p:nvSpPr>
        <p:spPr>
          <a:xfrm>
            <a:off x="1752600" y="6248400"/>
            <a:ext cx="66040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600">
                <a:solidFill>
                  <a:srgbClr val="E9EEF0"/>
                </a:solidFill>
                <a:latin typeface="Geist Mono Regular Regular"/>
                <a:ea typeface="Geist Mono Regular Regular"/>
                <a:cs typeface="Geist Mono Regular Regular"/>
                <a:sym typeface="Geist Mono Regular Regular"/>
              </a:defRPr>
            </a:pPr>
            <a:r>
              <a:rPr>
                <a:solidFill>
                  <a:srgbClr val="9EE8FF"/>
                </a:solidFill>
              </a:rPr>
              <a:t>nginx</a:t>
            </a:r>
            <a:r>
              <a:t> </a:t>
            </a:r>
            <a:r>
              <a:rPr>
                <a:solidFill>
                  <a:srgbClr val="FF97E2"/>
                </a:solidFill>
              </a:rPr>
              <a:t>-V</a:t>
            </a:r>
            <a:r>
              <a:t> </a:t>
            </a:r>
            <a:r>
              <a:rPr>
                <a:solidFill>
                  <a:srgbClr val="FFD3B2"/>
                </a:solidFill>
              </a:rPr>
              <a:t>2</a:t>
            </a:r>
            <a:r>
              <a:rPr>
                <a:solidFill>
                  <a:srgbClr val="C4CDD1"/>
                </a:solidFill>
              </a:rPr>
              <a:t>&gt;&amp;</a:t>
            </a:r>
            <a:r>
              <a:rPr>
                <a:solidFill>
                  <a:srgbClr val="FFD3B2"/>
                </a:solidFill>
              </a:rPr>
              <a:t>1</a:t>
            </a:r>
            <a:r>
              <a:t> </a:t>
            </a:r>
            <a:r>
              <a:rPr>
                <a:solidFill>
                  <a:srgbClr val="C4CDD1"/>
                </a:solidFill>
              </a:rPr>
              <a:t>|</a:t>
            </a:r>
            <a:r>
              <a:t> </a:t>
            </a:r>
            <a:r>
              <a:rPr>
                <a:solidFill>
                  <a:srgbClr val="9EE8FF"/>
                </a:solidFill>
              </a:rPr>
              <a:t>grep</a:t>
            </a:r>
            <a:r>
              <a:t> </a:t>
            </a:r>
            <a:r>
              <a:rPr>
                <a:solidFill>
                  <a:srgbClr val="FFE5B2"/>
                </a:solidFill>
              </a:rPr>
              <a:t>configure</a:t>
            </a:r>
          </a:p>
        </p:txBody>
      </p:sp>
      <p:sp>
        <p:nvSpPr>
          <p:cNvPr id="678" name="curl -O nginx.org/download/nginx-$V.tar.gz"/>
          <p:cNvSpPr txBox="1"/>
          <p:nvPr/>
        </p:nvSpPr>
        <p:spPr>
          <a:xfrm>
            <a:off x="12992100" y="5740400"/>
            <a:ext cx="90424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600">
                <a:solidFill>
                  <a:srgbClr val="E9EEF0"/>
                </a:solidFill>
                <a:latin typeface="Geist Mono Regular Regular"/>
                <a:ea typeface="Geist Mono Regular Regular"/>
                <a:cs typeface="Geist Mono Regular Regular"/>
                <a:sym typeface="Geist Mono Regular Regular"/>
              </a:defRPr>
            </a:pPr>
            <a:r>
              <a:rPr>
                <a:solidFill>
                  <a:srgbClr val="9EE8FF"/>
                </a:solidFill>
              </a:rPr>
              <a:t>curl</a:t>
            </a:r>
            <a:r>
              <a:t> </a:t>
            </a:r>
            <a:r>
              <a:rPr>
                <a:solidFill>
                  <a:srgbClr val="FF97E2"/>
                </a:solidFill>
              </a:rPr>
              <a:t>-O</a:t>
            </a:r>
            <a:r>
              <a:t> </a:t>
            </a:r>
            <a:r>
              <a:rPr>
                <a:solidFill>
                  <a:srgbClr val="FFE5B2"/>
                </a:solidFill>
              </a:rPr>
              <a:t>nginx.org/download/nginx-$V.tar.gz</a:t>
            </a:r>
          </a:p>
        </p:txBody>
      </p:sp>
      <p:sp>
        <p:nvSpPr>
          <p:cNvPr id="679" name="tar xzf nginx-$V.tar.gz &amp;&amp; cd nginx-$V"/>
          <p:cNvSpPr txBox="1"/>
          <p:nvPr/>
        </p:nvSpPr>
        <p:spPr>
          <a:xfrm>
            <a:off x="12992100" y="6248400"/>
            <a:ext cx="82296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600">
                <a:solidFill>
                  <a:srgbClr val="E9EEF0"/>
                </a:solidFill>
                <a:latin typeface="Geist Mono Regular Regular"/>
                <a:ea typeface="Geist Mono Regular Regular"/>
                <a:cs typeface="Geist Mono Regular Regular"/>
                <a:sym typeface="Geist Mono Regular Regular"/>
              </a:defRPr>
            </a:pPr>
            <a:r>
              <a:rPr>
                <a:solidFill>
                  <a:srgbClr val="9EE8FF"/>
                </a:solidFill>
              </a:rPr>
              <a:t>tar</a:t>
            </a:r>
            <a:r>
              <a:t> </a:t>
            </a:r>
            <a:r>
              <a:rPr>
                <a:solidFill>
                  <a:srgbClr val="FF97E2"/>
                </a:solidFill>
              </a:rPr>
              <a:t>xzf</a:t>
            </a:r>
            <a:r>
              <a:t> </a:t>
            </a:r>
            <a:r>
              <a:rPr>
                <a:solidFill>
                  <a:srgbClr val="FFE5B2"/>
                </a:solidFill>
              </a:rPr>
              <a:t>nginx-$V.tar.gz</a:t>
            </a:r>
            <a:r>
              <a:t> </a:t>
            </a:r>
            <a:r>
              <a:rPr>
                <a:solidFill>
                  <a:srgbClr val="C4CDD1"/>
                </a:solidFill>
              </a:rPr>
              <a:t>&amp;&amp;</a:t>
            </a:r>
            <a:r>
              <a:t> </a:t>
            </a:r>
            <a:r>
              <a:rPr>
                <a:solidFill>
                  <a:srgbClr val="AFFCEA"/>
                </a:solidFill>
              </a:rPr>
              <a:t>cd</a:t>
            </a:r>
            <a:r>
              <a:t> </a:t>
            </a:r>
            <a:r>
              <a:rPr>
                <a:solidFill>
                  <a:srgbClr val="FFE5B2"/>
                </a:solidFill>
              </a:rPr>
              <a:t>nginx-$V</a:t>
            </a:r>
          </a:p>
        </p:txBody>
      </p:sp>
      <p:sp>
        <p:nvSpPr>
          <p:cNvPr id="680" name="./configure &lt;same arguments&gt; \"/>
          <p:cNvSpPr txBox="1"/>
          <p:nvPr/>
        </p:nvSpPr>
        <p:spPr>
          <a:xfrm>
            <a:off x="12992100" y="6756400"/>
            <a:ext cx="66040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600">
                <a:solidFill>
                  <a:srgbClr val="E9EEF0"/>
                </a:solidFill>
                <a:latin typeface="Geist Mono Regular Regular"/>
                <a:ea typeface="Geist Mono Regular Regular"/>
                <a:cs typeface="Geist Mono Regular Regular"/>
                <a:sym typeface="Geist Mono Regular Regular"/>
              </a:defRPr>
            </a:pPr>
            <a:r>
              <a:rPr>
                <a:solidFill>
                  <a:srgbClr val="9EE8FF"/>
                </a:solidFill>
              </a:rPr>
              <a:t>./configure</a:t>
            </a:r>
            <a:r>
              <a:t> </a:t>
            </a:r>
            <a:r>
              <a:rPr>
                <a:solidFill>
                  <a:srgbClr val="B7C1C6"/>
                </a:solidFill>
              </a:rPr>
              <a:t>&lt;same arguments&gt;</a:t>
            </a:r>
            <a:r>
              <a:t> </a:t>
            </a:r>
            <a:r>
              <a:rPr>
                <a:solidFill>
                  <a:srgbClr val="C4CDD1"/>
                </a:solidFill>
              </a:rPr>
              <a:t>\</a:t>
            </a:r>
          </a:p>
        </p:txBody>
      </p:sp>
      <p:sp>
        <p:nvSpPr>
          <p:cNvPr id="681" name="--add-dynamic-module=../ngx_cache_purge"/>
          <p:cNvSpPr txBox="1"/>
          <p:nvPr/>
        </p:nvSpPr>
        <p:spPr>
          <a:xfrm>
            <a:off x="12992100" y="7264400"/>
            <a:ext cx="88392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600">
                <a:solidFill>
                  <a:srgbClr val="E9EEF0"/>
                </a:solidFill>
                <a:latin typeface="Geist Mono Regular Regular"/>
                <a:ea typeface="Geist Mono Regular Regular"/>
                <a:cs typeface="Geist Mono Regular Regular"/>
                <a:sym typeface="Geist Mono Regular Regular"/>
              </a:defRPr>
            </a:pPr>
            <a:r>
              <a:t>  </a:t>
            </a:r>
            <a:r>
              <a:rPr>
                <a:solidFill>
                  <a:srgbClr val="FF97E2"/>
                </a:solidFill>
              </a:rPr>
              <a:t>--add-dynamic-module</a:t>
            </a:r>
            <a:r>
              <a:rPr>
                <a:solidFill>
                  <a:srgbClr val="C4CDD1"/>
                </a:solidFill>
              </a:rPr>
              <a:t>=</a:t>
            </a:r>
            <a:r>
              <a:rPr>
                <a:solidFill>
                  <a:srgbClr val="FFE5B2"/>
                </a:solidFill>
              </a:rPr>
              <a:t>../ngx_cache_purge</a:t>
            </a:r>
          </a:p>
        </p:txBody>
      </p:sp>
      <p:sp>
        <p:nvSpPr>
          <p:cNvPr id="682" name="make modules"/>
          <p:cNvSpPr txBox="1"/>
          <p:nvPr/>
        </p:nvSpPr>
        <p:spPr>
          <a:xfrm>
            <a:off x="12992100" y="7772400"/>
            <a:ext cx="29464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600">
                <a:solidFill>
                  <a:srgbClr val="E9EEF0"/>
                </a:solidFill>
                <a:latin typeface="Geist Mono Regular Regular"/>
                <a:ea typeface="Geist Mono Regular Regular"/>
                <a:cs typeface="Geist Mono Regular Regular"/>
                <a:sym typeface="Geist Mono Regular Regular"/>
              </a:defRPr>
            </a:pPr>
            <a:r>
              <a:rPr>
                <a:solidFill>
                  <a:srgbClr val="9EE8FF"/>
                </a:solidFill>
              </a:rPr>
              <a:t>make</a:t>
            </a:r>
            <a:r>
              <a:t> </a:t>
            </a:r>
            <a:r>
              <a:rPr>
                <a:solidFill>
                  <a:srgbClr val="AFFCEA"/>
                </a:solidFill>
              </a:rPr>
              <a:t>modules</a:t>
            </a:r>
          </a:p>
        </p:txBody>
      </p:sp>
      <p:pic>
        <p:nvPicPr>
          <p:cNvPr id="683" name="prog-13.png" descr="prog-13.png"/>
          <p:cNvPicPr>
            <a:picLocks noChangeAspect="1"/>
          </p:cNvPicPr>
          <p:nvPr/>
        </p:nvPicPr>
        <p:blipFill>
          <a:blip r:embed="rId6">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87"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688" name="Self-hosting needs standards too"/>
          <p:cNvSpPr txBox="1"/>
          <p:nvPr/>
        </p:nvSpPr>
        <p:spPr>
          <a:xfrm>
            <a:off x="1308100" y="2692399"/>
            <a:ext cx="22707600" cy="1714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7600">
                <a:solidFill>
                  <a:srgbClr val="220D44"/>
                </a:solidFill>
                <a:latin typeface="Unbounded Regular ExtraBold"/>
                <a:ea typeface="Unbounded Regular ExtraBold"/>
                <a:cs typeface="Unbounded Regular ExtraBold"/>
                <a:sym typeface="Unbounded Regular ExtraBold"/>
              </a:defRPr>
            </a:pPr>
            <a:r>
              <a:t>Self-hosting </a:t>
            </a:r>
            <a:r>
              <a:rPr i="1" sz="9800">
                <a:solidFill>
                  <a:srgbClr val="6033A6"/>
                </a:solidFill>
                <a:latin typeface="Instrument Serif Regular"/>
                <a:ea typeface="Instrument Serif Regular"/>
                <a:cs typeface="Instrument Serif Regular"/>
                <a:sym typeface="Instrument Serif Regular"/>
              </a:rPr>
              <a:t>needs standards too</a:t>
            </a:r>
          </a:p>
        </p:txBody>
      </p:sp>
      <p:sp>
        <p:nvSpPr>
          <p:cNvPr id="689"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690" name="viz-16-00.svg" descr="viz-16-00.svg"/>
          <p:cNvPicPr>
            <a:picLocks noChangeAspect="1"/>
          </p:cNvPicPr>
          <p:nvPr/>
        </p:nvPicPr>
        <p:blipFill>
          <a:blip r:embed="rId4">
            <a:extLst/>
          </a:blip>
          <a:stretch>
            <a:fillRect/>
          </a:stretch>
        </p:blipFill>
        <p:spPr>
          <a:xfrm>
            <a:off x="1168400" y="5003800"/>
            <a:ext cx="6667500" cy="1689100"/>
          </a:xfrm>
          <a:prstGeom prst="rect">
            <a:avLst/>
          </a:prstGeom>
          <a:ln w="12700">
            <a:miter lim="400000"/>
          </a:ln>
        </p:spPr>
      </p:pic>
      <p:pic>
        <p:nvPicPr>
          <p:cNvPr id="691" name="viz-16-01.svg" descr="viz-16-01.svg"/>
          <p:cNvPicPr>
            <a:picLocks noChangeAspect="1"/>
          </p:cNvPicPr>
          <p:nvPr/>
        </p:nvPicPr>
        <p:blipFill>
          <a:blip r:embed="rId5">
            <a:extLst/>
          </a:blip>
          <a:stretch>
            <a:fillRect/>
          </a:stretch>
        </p:blipFill>
        <p:spPr>
          <a:xfrm>
            <a:off x="1600200" y="5461000"/>
            <a:ext cx="711200" cy="762000"/>
          </a:xfrm>
          <a:prstGeom prst="rect">
            <a:avLst/>
          </a:prstGeom>
          <a:ln w="12700">
            <a:miter lim="400000"/>
          </a:ln>
        </p:spPr>
      </p:pic>
      <p:pic>
        <p:nvPicPr>
          <p:cNvPr id="692" name="viz-23-02.svg" descr="viz-23-02.svg"/>
          <p:cNvPicPr>
            <a:picLocks noChangeAspect="1"/>
          </p:cNvPicPr>
          <p:nvPr/>
        </p:nvPicPr>
        <p:blipFill>
          <a:blip r:embed="rId6">
            <a:extLst/>
          </a:blip>
          <a:stretch>
            <a:fillRect/>
          </a:stretch>
        </p:blipFill>
        <p:spPr>
          <a:xfrm>
            <a:off x="7696200" y="5689600"/>
            <a:ext cx="1689100" cy="1587500"/>
          </a:xfrm>
          <a:prstGeom prst="rect">
            <a:avLst/>
          </a:prstGeom>
          <a:ln w="12700">
            <a:miter lim="400000"/>
          </a:ln>
        </p:spPr>
      </p:pic>
      <p:pic>
        <p:nvPicPr>
          <p:cNvPr id="693" name="viz-16-02.svg" descr="viz-16-02.svg"/>
          <p:cNvPicPr>
            <a:picLocks noChangeAspect="1"/>
          </p:cNvPicPr>
          <p:nvPr/>
        </p:nvPicPr>
        <p:blipFill>
          <a:blip r:embed="rId7">
            <a:extLst/>
          </a:blip>
          <a:stretch>
            <a:fillRect/>
          </a:stretch>
        </p:blipFill>
        <p:spPr>
          <a:xfrm>
            <a:off x="1168400" y="6781800"/>
            <a:ext cx="6667500" cy="1689100"/>
          </a:xfrm>
          <a:prstGeom prst="rect">
            <a:avLst/>
          </a:prstGeom>
          <a:ln w="12700">
            <a:miter lim="400000"/>
          </a:ln>
        </p:spPr>
      </p:pic>
      <p:pic>
        <p:nvPicPr>
          <p:cNvPr id="694" name="viz-23-04.svg" descr="viz-23-04.svg"/>
          <p:cNvPicPr>
            <a:picLocks noChangeAspect="1"/>
          </p:cNvPicPr>
          <p:nvPr/>
        </p:nvPicPr>
        <p:blipFill>
          <a:blip r:embed="rId8">
            <a:extLst/>
          </a:blip>
          <a:stretch>
            <a:fillRect/>
          </a:stretch>
        </p:blipFill>
        <p:spPr>
          <a:xfrm>
            <a:off x="1587500" y="7264400"/>
            <a:ext cx="736600" cy="711200"/>
          </a:xfrm>
          <a:prstGeom prst="rect">
            <a:avLst/>
          </a:prstGeom>
          <a:ln w="12700">
            <a:miter lim="400000"/>
          </a:ln>
        </p:spPr>
      </p:pic>
      <p:pic>
        <p:nvPicPr>
          <p:cNvPr id="695" name="viz-23-05.svg" descr="viz-23-05.svg"/>
          <p:cNvPicPr>
            <a:picLocks noChangeAspect="1"/>
          </p:cNvPicPr>
          <p:nvPr/>
        </p:nvPicPr>
        <p:blipFill>
          <a:blip r:embed="rId9">
            <a:extLst/>
          </a:blip>
          <a:stretch>
            <a:fillRect/>
          </a:stretch>
        </p:blipFill>
        <p:spPr>
          <a:xfrm>
            <a:off x="7696200" y="7467600"/>
            <a:ext cx="1689100" cy="317500"/>
          </a:xfrm>
          <a:prstGeom prst="rect">
            <a:avLst/>
          </a:prstGeom>
          <a:ln w="12700">
            <a:miter lim="400000"/>
          </a:ln>
        </p:spPr>
      </p:pic>
      <p:pic>
        <p:nvPicPr>
          <p:cNvPr id="696" name="viz-16-04.svg" descr="viz-16-04.svg"/>
          <p:cNvPicPr>
            <a:picLocks noChangeAspect="1"/>
          </p:cNvPicPr>
          <p:nvPr/>
        </p:nvPicPr>
        <p:blipFill>
          <a:blip r:embed="rId10">
            <a:extLst/>
          </a:blip>
          <a:stretch>
            <a:fillRect/>
          </a:stretch>
        </p:blipFill>
        <p:spPr>
          <a:xfrm>
            <a:off x="1168400" y="8559800"/>
            <a:ext cx="6667500" cy="1689100"/>
          </a:xfrm>
          <a:prstGeom prst="rect">
            <a:avLst/>
          </a:prstGeom>
          <a:ln w="12700">
            <a:miter lim="400000"/>
          </a:ln>
        </p:spPr>
      </p:pic>
      <p:pic>
        <p:nvPicPr>
          <p:cNvPr id="697" name="viz-23-07.svg" descr="viz-23-07.svg"/>
          <p:cNvPicPr>
            <a:picLocks noChangeAspect="1"/>
          </p:cNvPicPr>
          <p:nvPr/>
        </p:nvPicPr>
        <p:blipFill>
          <a:blip r:embed="rId11">
            <a:extLst/>
          </a:blip>
          <a:stretch>
            <a:fillRect/>
          </a:stretch>
        </p:blipFill>
        <p:spPr>
          <a:xfrm>
            <a:off x="1574800" y="8991600"/>
            <a:ext cx="762000" cy="812800"/>
          </a:xfrm>
          <a:prstGeom prst="rect">
            <a:avLst/>
          </a:prstGeom>
          <a:ln w="12700">
            <a:miter lim="400000"/>
          </a:ln>
        </p:spPr>
      </p:pic>
      <p:pic>
        <p:nvPicPr>
          <p:cNvPr id="698" name="viz-23-08.svg" descr="viz-23-08.svg"/>
          <p:cNvPicPr>
            <a:picLocks noChangeAspect="1"/>
          </p:cNvPicPr>
          <p:nvPr/>
        </p:nvPicPr>
        <p:blipFill>
          <a:blip r:embed="rId12">
            <a:extLst/>
          </a:blip>
          <a:stretch>
            <a:fillRect/>
          </a:stretch>
        </p:blipFill>
        <p:spPr>
          <a:xfrm>
            <a:off x="7696200" y="7975600"/>
            <a:ext cx="1689100" cy="1587500"/>
          </a:xfrm>
          <a:prstGeom prst="rect">
            <a:avLst/>
          </a:prstGeom>
          <a:ln w="12700">
            <a:miter lim="400000"/>
          </a:ln>
        </p:spPr>
      </p:pic>
      <p:pic>
        <p:nvPicPr>
          <p:cNvPr id="699" name="viz-23-09.svg" descr="viz-23-09.svg"/>
          <p:cNvPicPr>
            <a:picLocks noChangeAspect="1"/>
          </p:cNvPicPr>
          <p:nvPr/>
        </p:nvPicPr>
        <p:blipFill>
          <a:blip r:embed="rId13">
            <a:extLst/>
          </a:blip>
          <a:stretch>
            <a:fillRect/>
          </a:stretch>
        </p:blipFill>
        <p:spPr>
          <a:xfrm>
            <a:off x="9245600" y="6388100"/>
            <a:ext cx="5651500" cy="2476500"/>
          </a:xfrm>
          <a:prstGeom prst="rect">
            <a:avLst/>
          </a:prstGeom>
          <a:ln w="12700">
            <a:miter lim="400000"/>
          </a:ln>
        </p:spPr>
      </p:pic>
      <p:pic>
        <p:nvPicPr>
          <p:cNvPr id="700" name="viz-23-10.svg" descr="viz-23-10.svg"/>
          <p:cNvPicPr>
            <a:picLocks noChangeAspect="1"/>
          </p:cNvPicPr>
          <p:nvPr/>
        </p:nvPicPr>
        <p:blipFill>
          <a:blip r:embed="rId14">
            <a:extLst/>
          </a:blip>
          <a:stretch>
            <a:fillRect/>
          </a:stretch>
        </p:blipFill>
        <p:spPr>
          <a:xfrm>
            <a:off x="9652000" y="7239000"/>
            <a:ext cx="762000" cy="762000"/>
          </a:xfrm>
          <a:prstGeom prst="rect">
            <a:avLst/>
          </a:prstGeom>
          <a:ln w="12700">
            <a:miter lim="400000"/>
          </a:ln>
        </p:spPr>
      </p:pic>
      <p:pic>
        <p:nvPicPr>
          <p:cNvPr id="701" name="viz-23-11.svg" descr="viz-23-11.svg"/>
          <p:cNvPicPr>
            <a:picLocks noChangeAspect="1"/>
          </p:cNvPicPr>
          <p:nvPr/>
        </p:nvPicPr>
        <p:blipFill>
          <a:blip r:embed="rId15">
            <a:extLst/>
          </a:blip>
          <a:stretch>
            <a:fillRect/>
          </a:stretch>
        </p:blipFill>
        <p:spPr>
          <a:xfrm>
            <a:off x="14757400" y="7467600"/>
            <a:ext cx="1485900" cy="317500"/>
          </a:xfrm>
          <a:prstGeom prst="rect">
            <a:avLst/>
          </a:prstGeom>
          <a:ln w="12700">
            <a:miter lim="400000"/>
          </a:ln>
        </p:spPr>
      </p:pic>
      <p:pic>
        <p:nvPicPr>
          <p:cNvPr id="702" name="viz-23-12.svg" descr="viz-23-12.svg"/>
          <p:cNvPicPr>
            <a:picLocks noChangeAspect="1"/>
          </p:cNvPicPr>
          <p:nvPr/>
        </p:nvPicPr>
        <p:blipFill>
          <a:blip r:embed="rId16">
            <a:extLst/>
          </a:blip>
          <a:stretch>
            <a:fillRect/>
          </a:stretch>
        </p:blipFill>
        <p:spPr>
          <a:xfrm>
            <a:off x="16103600" y="6388100"/>
            <a:ext cx="7073900" cy="2476500"/>
          </a:xfrm>
          <a:prstGeom prst="rect">
            <a:avLst/>
          </a:prstGeom>
          <a:ln w="12700">
            <a:miter lim="400000"/>
          </a:ln>
        </p:spPr>
      </p:pic>
      <p:pic>
        <p:nvPicPr>
          <p:cNvPr id="703" name="viz-23-13.svg" descr="viz-23-13.svg"/>
          <p:cNvPicPr>
            <a:picLocks noChangeAspect="1"/>
          </p:cNvPicPr>
          <p:nvPr/>
        </p:nvPicPr>
        <p:blipFill>
          <a:blip r:embed="rId17">
            <a:extLst/>
          </a:blip>
          <a:stretch>
            <a:fillRect/>
          </a:stretch>
        </p:blipFill>
        <p:spPr>
          <a:xfrm>
            <a:off x="16484600" y="7289800"/>
            <a:ext cx="812800" cy="736600"/>
          </a:xfrm>
          <a:prstGeom prst="rect">
            <a:avLst/>
          </a:prstGeom>
          <a:ln w="12700">
            <a:miter lim="400000"/>
          </a:ln>
        </p:spPr>
      </p:pic>
      <p:sp>
        <p:nvSpPr>
          <p:cNvPr id="704" name="Built from source"/>
          <p:cNvSpPr txBox="1"/>
          <p:nvPr/>
        </p:nvSpPr>
        <p:spPr>
          <a:xfrm>
            <a:off x="2514600" y="5397500"/>
            <a:ext cx="48514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Built from source</a:t>
            </a:r>
          </a:p>
        </p:txBody>
      </p:sp>
      <p:sp>
        <p:nvSpPr>
          <p:cNvPr id="705" name="Where the details matter."/>
          <p:cNvSpPr txBox="1"/>
          <p:nvPr/>
        </p:nvSpPr>
        <p:spPr>
          <a:xfrm>
            <a:off x="2514600" y="5880099"/>
            <a:ext cx="4851400" cy="45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3D2644"/>
                </a:solidFill>
                <a:latin typeface="Geist Regular Regular"/>
                <a:ea typeface="Geist Regular Regular"/>
                <a:cs typeface="Geist Regular Regular"/>
                <a:sym typeface="Geist Regular Regular"/>
              </a:defRPr>
            </a:lvl1pPr>
          </a:lstStyle>
          <a:p>
            <a:pPr/>
            <a:r>
              <a:t>Where the details matter.</a:t>
            </a:r>
          </a:p>
        </p:txBody>
      </p:sp>
      <p:sp>
        <p:nvSpPr>
          <p:cNvPr id="706" name="Ansible playbooks"/>
          <p:cNvSpPr txBox="1"/>
          <p:nvPr/>
        </p:nvSpPr>
        <p:spPr>
          <a:xfrm>
            <a:off x="2514600" y="7175500"/>
            <a:ext cx="48514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Ansible playbooks</a:t>
            </a:r>
          </a:p>
        </p:txBody>
      </p:sp>
      <p:sp>
        <p:nvSpPr>
          <p:cNvPr id="707" name="The same setup on every server."/>
          <p:cNvSpPr txBox="1"/>
          <p:nvPr/>
        </p:nvSpPr>
        <p:spPr>
          <a:xfrm>
            <a:off x="2514600" y="7658099"/>
            <a:ext cx="4851400" cy="45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3D2644"/>
                </a:solidFill>
                <a:latin typeface="Geist Regular Regular"/>
                <a:ea typeface="Geist Regular Regular"/>
                <a:cs typeface="Geist Regular Regular"/>
                <a:sym typeface="Geist Regular Regular"/>
              </a:defRPr>
            </a:lvl1pPr>
          </a:lstStyle>
          <a:p>
            <a:pPr/>
            <a:r>
              <a:t>The same setup on every server.</a:t>
            </a:r>
          </a:p>
        </p:txBody>
      </p:sp>
      <p:sp>
        <p:nvSpPr>
          <p:cNvPr id="708" name="Docker"/>
          <p:cNvSpPr txBox="1"/>
          <p:nvPr/>
        </p:nvSpPr>
        <p:spPr>
          <a:xfrm>
            <a:off x="2514600" y="8953500"/>
            <a:ext cx="48514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Docker</a:t>
            </a:r>
          </a:p>
        </p:txBody>
      </p:sp>
      <p:sp>
        <p:nvSpPr>
          <p:cNvPr id="709" name="For some services, where it fits."/>
          <p:cNvSpPr txBox="1"/>
          <p:nvPr/>
        </p:nvSpPr>
        <p:spPr>
          <a:xfrm>
            <a:off x="2514600" y="9436099"/>
            <a:ext cx="4851400" cy="45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3D2644"/>
                </a:solidFill>
                <a:latin typeface="Geist Regular Regular"/>
                <a:ea typeface="Geist Regular Regular"/>
                <a:cs typeface="Geist Regular Regular"/>
                <a:sym typeface="Geist Regular Regular"/>
              </a:defRPr>
            </a:lvl1pPr>
          </a:lstStyle>
          <a:p>
            <a:pPr/>
            <a:r>
              <a:t>For some services, where it fits.</a:t>
            </a:r>
          </a:p>
        </p:txBody>
      </p:sp>
      <p:sp>
        <p:nvSpPr>
          <p:cNvPr id="710" name="One standard"/>
          <p:cNvSpPr txBox="1"/>
          <p:nvPr/>
        </p:nvSpPr>
        <p:spPr>
          <a:xfrm>
            <a:off x="10591800" y="6997700"/>
            <a:ext cx="38354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One standard</a:t>
            </a:r>
          </a:p>
        </p:txBody>
      </p:sp>
      <p:sp>
        <p:nvSpPr>
          <p:cNvPr id="711" name="Same rules for every kind of setup."/>
          <p:cNvSpPr txBox="1"/>
          <p:nvPr/>
        </p:nvSpPr>
        <p:spPr>
          <a:xfrm>
            <a:off x="10591800" y="7480299"/>
            <a:ext cx="3835400" cy="7772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200">
                <a:solidFill>
                  <a:srgbClr val="3D2644"/>
                </a:solidFill>
                <a:latin typeface="Geist Regular Regular"/>
                <a:ea typeface="Geist Regular Regular"/>
                <a:cs typeface="Geist Regular Regular"/>
                <a:sym typeface="Geist Regular Regular"/>
              </a:defRPr>
            </a:pPr>
            <a:r>
              <a:t>Same rules for every</a:t>
            </a:r>
            <a:br/>
            <a:r>
              <a:t>kind of setup.</a:t>
            </a:r>
          </a:p>
        </p:txBody>
      </p:sp>
      <p:sp>
        <p:nvSpPr>
          <p:cNvPr id="712" name="Written down"/>
          <p:cNvSpPr txBox="1"/>
          <p:nvPr/>
        </p:nvSpPr>
        <p:spPr>
          <a:xfrm>
            <a:off x="17449800" y="7010399"/>
            <a:ext cx="5257800" cy="508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FFFFFF"/>
                </a:solidFill>
                <a:latin typeface="Geist Regular SemiBold"/>
                <a:ea typeface="Geist Regular SemiBold"/>
                <a:cs typeface="Geist Regular SemiBold"/>
                <a:sym typeface="Geist Regular SemiBold"/>
              </a:defRPr>
            </a:lvl1pPr>
          </a:lstStyle>
          <a:p>
            <a:pPr/>
            <a:r>
              <a:t>Written down</a:t>
            </a:r>
          </a:p>
        </p:txBody>
      </p:sp>
      <p:sp>
        <p:nvSpPr>
          <p:cNvPr id="713" name="Servers and code are both documented."/>
          <p:cNvSpPr txBox="1"/>
          <p:nvPr/>
        </p:nvSpPr>
        <p:spPr>
          <a:xfrm>
            <a:off x="17449800" y="7467599"/>
            <a:ext cx="5257800" cy="7772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200">
                <a:solidFill>
                  <a:srgbClr val="FFFFFF"/>
                </a:solidFill>
                <a:latin typeface="Geist Regular Regular"/>
                <a:ea typeface="Geist Regular Regular"/>
                <a:cs typeface="Geist Regular Regular"/>
                <a:sym typeface="Geist Regular Regular"/>
              </a:defRPr>
            </a:pPr>
            <a:r>
              <a:t>Servers and code are</a:t>
            </a:r>
            <a:br/>
            <a:r>
              <a:t>both documented.</a:t>
            </a:r>
          </a:p>
        </p:txBody>
      </p:sp>
      <p:pic>
        <p:nvPicPr>
          <p:cNvPr id="714" name="prog-14.png" descr="prog-14.png"/>
          <p:cNvPicPr>
            <a:picLocks noChangeAspect="1"/>
          </p:cNvPicPr>
          <p:nvPr/>
        </p:nvPicPr>
        <p:blipFill>
          <a:blip r:embed="rId18">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718"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719" name="Self-hosting takes more work"/>
          <p:cNvSpPr txBox="1"/>
          <p:nvPr/>
        </p:nvSpPr>
        <p:spPr>
          <a:xfrm>
            <a:off x="1308100" y="3174999"/>
            <a:ext cx="22707600" cy="1714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7600">
                <a:solidFill>
                  <a:srgbClr val="220D44"/>
                </a:solidFill>
                <a:latin typeface="Unbounded Regular ExtraBold"/>
                <a:ea typeface="Unbounded Regular ExtraBold"/>
                <a:cs typeface="Unbounded Regular ExtraBold"/>
                <a:sym typeface="Unbounded Regular ExtraBold"/>
              </a:defRPr>
            </a:pPr>
            <a:r>
              <a:t>Self-hosting </a:t>
            </a:r>
            <a:r>
              <a:rPr i="1" sz="9800">
                <a:solidFill>
                  <a:srgbClr val="6033A6"/>
                </a:solidFill>
                <a:latin typeface="Instrument Serif Regular"/>
                <a:ea typeface="Instrument Serif Regular"/>
                <a:cs typeface="Instrument Serif Regular"/>
                <a:sym typeface="Instrument Serif Regular"/>
              </a:rPr>
              <a:t>takes more work</a:t>
            </a:r>
          </a:p>
        </p:txBody>
      </p:sp>
      <p:sp>
        <p:nvSpPr>
          <p:cNvPr id="720" name="—"/>
          <p:cNvSpPr txBox="1"/>
          <p:nvPr/>
        </p:nvSpPr>
        <p:spPr>
          <a:xfrm>
            <a:off x="1320800" y="5295900"/>
            <a:ext cx="990600" cy="723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6033A6"/>
                </a:solidFill>
                <a:latin typeface="Geist Regular Regular"/>
                <a:ea typeface="Geist Regular Regular"/>
                <a:cs typeface="Geist Regular Regular"/>
                <a:sym typeface="Geist Regular Regular"/>
              </a:defRPr>
            </a:lvl1pPr>
          </a:lstStyle>
          <a:p>
            <a:pPr/>
            <a:r>
              <a:t>—</a:t>
            </a:r>
          </a:p>
        </p:txBody>
      </p:sp>
      <p:sp>
        <p:nvSpPr>
          <p:cNvPr id="721" name="Most of the work goes into compiling and configuring."/>
          <p:cNvSpPr txBox="1"/>
          <p:nvPr/>
        </p:nvSpPr>
        <p:spPr>
          <a:xfrm>
            <a:off x="2082800" y="5295900"/>
            <a:ext cx="20955001" cy="7239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3D2644"/>
                </a:solidFill>
                <a:latin typeface="Geist Regular Regular"/>
                <a:ea typeface="Geist Regular Regular"/>
                <a:cs typeface="Geist Regular Regular"/>
                <a:sym typeface="Geist Regular Regular"/>
              </a:defRPr>
            </a:lvl1pPr>
          </a:lstStyle>
          <a:p>
            <a:pPr/>
            <a:r>
              <a:t>Most of the work goes into compiling and configuring.</a:t>
            </a:r>
          </a:p>
        </p:txBody>
      </p:sp>
      <p:sp>
        <p:nvSpPr>
          <p:cNvPr id="722" name="—"/>
          <p:cNvSpPr txBox="1"/>
          <p:nvPr/>
        </p:nvSpPr>
        <p:spPr>
          <a:xfrm>
            <a:off x="1320800" y="6400800"/>
            <a:ext cx="990600" cy="723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6033A6"/>
                </a:solidFill>
                <a:latin typeface="Geist Regular Regular"/>
                <a:ea typeface="Geist Regular Regular"/>
                <a:cs typeface="Geist Regular Regular"/>
                <a:sym typeface="Geist Regular Regular"/>
              </a:defRPr>
            </a:lvl1pPr>
          </a:lstStyle>
          <a:p>
            <a:pPr/>
            <a:r>
              <a:t>—</a:t>
            </a:r>
          </a:p>
        </p:txBody>
      </p:sp>
      <p:sp>
        <p:nvSpPr>
          <p:cNvPr id="723" name="Servers drift apart without fleet control."/>
          <p:cNvSpPr txBox="1"/>
          <p:nvPr/>
        </p:nvSpPr>
        <p:spPr>
          <a:xfrm>
            <a:off x="2082800" y="6400800"/>
            <a:ext cx="20955000" cy="723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3D2644"/>
                </a:solidFill>
                <a:latin typeface="Geist Regular Regular"/>
                <a:ea typeface="Geist Regular Regular"/>
                <a:cs typeface="Geist Regular Regular"/>
                <a:sym typeface="Geist Regular Regular"/>
              </a:defRPr>
            </a:lvl1pPr>
          </a:lstStyle>
          <a:p>
            <a:pPr/>
            <a:r>
              <a:t>Servers drift apart without fleet control.</a:t>
            </a:r>
          </a:p>
        </p:txBody>
      </p:sp>
      <p:sp>
        <p:nvSpPr>
          <p:cNvPr id="724" name="—"/>
          <p:cNvSpPr txBox="1"/>
          <p:nvPr/>
        </p:nvSpPr>
        <p:spPr>
          <a:xfrm>
            <a:off x="1320800" y="7505700"/>
            <a:ext cx="990600" cy="723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6033A6"/>
                </a:solidFill>
                <a:latin typeface="Geist Regular Regular"/>
                <a:ea typeface="Geist Regular Regular"/>
                <a:cs typeface="Geist Regular Regular"/>
                <a:sym typeface="Geist Regular Regular"/>
              </a:defRPr>
            </a:lvl1pPr>
          </a:lstStyle>
          <a:p>
            <a:pPr/>
            <a:r>
              <a:t>—</a:t>
            </a:r>
          </a:p>
        </p:txBody>
      </p:sp>
      <p:sp>
        <p:nvSpPr>
          <p:cNvPr id="725" name="Fixes happen manually first and end up in scripts later."/>
          <p:cNvSpPr txBox="1"/>
          <p:nvPr/>
        </p:nvSpPr>
        <p:spPr>
          <a:xfrm>
            <a:off x="2082800" y="7505700"/>
            <a:ext cx="14744700" cy="723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3D2644"/>
                </a:solidFill>
                <a:latin typeface="Geist Regular Regular"/>
                <a:ea typeface="Geist Regular Regular"/>
                <a:cs typeface="Geist Regular Regular"/>
                <a:sym typeface="Geist Regular Regular"/>
              </a:defRPr>
            </a:lvl1pPr>
          </a:lstStyle>
          <a:p>
            <a:pPr/>
            <a:r>
              <a:t>Fixes happen manually first and end up in scripts later.</a:t>
            </a:r>
          </a:p>
        </p:txBody>
      </p:sp>
      <p:sp>
        <p:nvSpPr>
          <p:cNvPr id="726" name="—"/>
          <p:cNvSpPr txBox="1"/>
          <p:nvPr/>
        </p:nvSpPr>
        <p:spPr>
          <a:xfrm>
            <a:off x="1320800" y="8597900"/>
            <a:ext cx="990600" cy="723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6033A6"/>
                </a:solidFill>
                <a:latin typeface="Geist Regular Regular"/>
                <a:ea typeface="Geist Regular Regular"/>
                <a:cs typeface="Geist Regular Regular"/>
                <a:sym typeface="Geist Regular Regular"/>
              </a:defRPr>
            </a:lvl1pPr>
          </a:lstStyle>
          <a:p>
            <a:pPr/>
            <a:r>
              <a:t>—</a:t>
            </a:r>
          </a:p>
        </p:txBody>
      </p:sp>
      <p:sp>
        <p:nvSpPr>
          <p:cNvPr id="727" name="Knowledge stays with a few people unless it is written down."/>
          <p:cNvSpPr txBox="1"/>
          <p:nvPr/>
        </p:nvSpPr>
        <p:spPr>
          <a:xfrm>
            <a:off x="2082800" y="8597900"/>
            <a:ext cx="14033500" cy="723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3D2644"/>
                </a:solidFill>
                <a:latin typeface="Geist Regular Regular"/>
                <a:ea typeface="Geist Regular Regular"/>
                <a:cs typeface="Geist Regular Regular"/>
                <a:sym typeface="Geist Regular Regular"/>
              </a:defRPr>
            </a:lvl1pPr>
          </a:lstStyle>
          <a:p>
            <a:pPr/>
            <a:r>
              <a:t>Knowledge stays with a few people unless it is written down.</a:t>
            </a:r>
          </a:p>
        </p:txBody>
      </p:sp>
      <p:sp>
        <p:nvSpPr>
          <p:cNvPr id="728"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sp>
        <p:nvSpPr>
          <p:cNvPr id="729" name="—"/>
          <p:cNvSpPr txBox="1"/>
          <p:nvPr/>
        </p:nvSpPr>
        <p:spPr>
          <a:xfrm>
            <a:off x="1320800" y="9702800"/>
            <a:ext cx="552019" cy="7239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800">
                <a:solidFill>
                  <a:srgbClr val="6033A6"/>
                </a:solidFill>
                <a:latin typeface="Geist Regular Regular"/>
                <a:ea typeface="Geist Regular Regular"/>
                <a:cs typeface="Geist Regular Regular"/>
                <a:sym typeface="Geist Regular Regular"/>
              </a:defRPr>
            </a:lvl1pPr>
          </a:lstStyle>
          <a:p>
            <a:pPr/>
            <a:r>
              <a:t>—</a:t>
            </a:r>
          </a:p>
        </p:txBody>
      </p:sp>
      <p:sp>
        <p:nvSpPr>
          <p:cNvPr id="730" name="AI now speeds up the configuring and the scripting."/>
          <p:cNvSpPr txBox="1"/>
          <p:nvPr/>
        </p:nvSpPr>
        <p:spPr>
          <a:xfrm>
            <a:off x="2082800" y="9702800"/>
            <a:ext cx="20955000" cy="7239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3D2644"/>
                </a:solidFill>
                <a:latin typeface="Geist Regular Regular"/>
                <a:ea typeface="Geist Regular Regular"/>
                <a:cs typeface="Geist Regular Regular"/>
                <a:sym typeface="Geist Regular Regular"/>
              </a:defRPr>
            </a:lvl1pPr>
          </a:lstStyle>
          <a:p>
            <a:pPr/>
            <a:r>
              <a:t>AI now speeds up the configuring and the scripting.</a:t>
            </a:r>
          </a:p>
        </p:txBody>
      </p:sp>
      <p:pic>
        <p:nvPicPr>
          <p:cNvPr id="731" name="prog-15.png" descr="prog-15.png"/>
          <p:cNvPicPr>
            <a:picLocks noChangeAspect="1"/>
          </p:cNvPicPr>
          <p:nvPr/>
        </p:nvPicPr>
        <p:blipFill>
          <a:blip r:embed="rId4">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735"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736" name="Why we still do it"/>
          <p:cNvSpPr txBox="1"/>
          <p:nvPr/>
        </p:nvSpPr>
        <p:spPr>
          <a:xfrm>
            <a:off x="1308100" y="3174999"/>
            <a:ext cx="22707600" cy="1714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7600">
                <a:solidFill>
                  <a:srgbClr val="220D44"/>
                </a:solidFill>
                <a:latin typeface="Unbounded Regular ExtraBold"/>
                <a:ea typeface="Unbounded Regular ExtraBold"/>
                <a:cs typeface="Unbounded Regular ExtraBold"/>
                <a:sym typeface="Unbounded Regular ExtraBold"/>
              </a:defRPr>
            </a:pPr>
            <a:r>
              <a:t>Why we </a:t>
            </a:r>
            <a:r>
              <a:rPr i="1" sz="9800">
                <a:solidFill>
                  <a:srgbClr val="6033A6"/>
                </a:solidFill>
                <a:latin typeface="Instrument Serif Regular"/>
                <a:ea typeface="Instrument Serif Regular"/>
                <a:cs typeface="Instrument Serif Regular"/>
                <a:sym typeface="Instrument Serif Regular"/>
              </a:rPr>
              <a:t>still do it</a:t>
            </a:r>
          </a:p>
        </p:txBody>
      </p:sp>
      <p:sp>
        <p:nvSpPr>
          <p:cNvPr id="737" name="—"/>
          <p:cNvSpPr txBox="1"/>
          <p:nvPr/>
        </p:nvSpPr>
        <p:spPr>
          <a:xfrm>
            <a:off x="1320800" y="5295900"/>
            <a:ext cx="990600" cy="723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6033A6"/>
                </a:solidFill>
                <a:latin typeface="Geist Regular Regular"/>
                <a:ea typeface="Geist Regular Regular"/>
                <a:cs typeface="Geist Regular Regular"/>
                <a:sym typeface="Geist Regular Regular"/>
              </a:defRPr>
            </a:lvl1pPr>
          </a:lstStyle>
          <a:p>
            <a:pPr/>
            <a:r>
              <a:t>—</a:t>
            </a:r>
          </a:p>
        </p:txBody>
      </p:sp>
      <p:sp>
        <p:nvSpPr>
          <p:cNvPr id="738" name="Every layer can be read, down to the source code."/>
          <p:cNvSpPr txBox="1"/>
          <p:nvPr/>
        </p:nvSpPr>
        <p:spPr>
          <a:xfrm>
            <a:off x="2082800" y="5295900"/>
            <a:ext cx="11544300" cy="723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3D2644"/>
                </a:solidFill>
                <a:latin typeface="Geist Regular Regular"/>
                <a:ea typeface="Geist Regular Regular"/>
                <a:cs typeface="Geist Regular Regular"/>
                <a:sym typeface="Geist Regular Regular"/>
              </a:defRPr>
            </a:lvl1pPr>
          </a:lstStyle>
          <a:p>
            <a:pPr/>
            <a:r>
              <a:t>Every layer can be read, down to the source code.</a:t>
            </a:r>
          </a:p>
        </p:txBody>
      </p:sp>
      <p:sp>
        <p:nvSpPr>
          <p:cNvPr id="739" name="—"/>
          <p:cNvSpPr txBox="1"/>
          <p:nvPr/>
        </p:nvSpPr>
        <p:spPr>
          <a:xfrm>
            <a:off x="1320800" y="6400800"/>
            <a:ext cx="990600" cy="723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6033A6"/>
                </a:solidFill>
                <a:latin typeface="Geist Regular Regular"/>
                <a:ea typeface="Geist Regular Regular"/>
                <a:cs typeface="Geist Regular Regular"/>
                <a:sym typeface="Geist Regular Regular"/>
              </a:defRPr>
            </a:lvl1pPr>
          </a:lstStyle>
          <a:p>
            <a:pPr/>
            <a:r>
              <a:t>—</a:t>
            </a:r>
          </a:p>
        </p:txBody>
      </p:sp>
      <p:sp>
        <p:nvSpPr>
          <p:cNvPr id="740" name="A crash can be traced from the log to the source."/>
          <p:cNvSpPr txBox="1"/>
          <p:nvPr/>
        </p:nvSpPr>
        <p:spPr>
          <a:xfrm>
            <a:off x="2082800" y="6400800"/>
            <a:ext cx="11379200" cy="723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3D2644"/>
                </a:solidFill>
                <a:latin typeface="Geist Regular Regular"/>
                <a:ea typeface="Geist Regular Regular"/>
                <a:cs typeface="Geist Regular Regular"/>
                <a:sym typeface="Geist Regular Regular"/>
              </a:defRPr>
            </a:lvl1pPr>
          </a:lstStyle>
          <a:p>
            <a:pPr/>
            <a:r>
              <a:t>A crash can be traced from the log to the source.</a:t>
            </a:r>
          </a:p>
        </p:txBody>
      </p:sp>
      <p:sp>
        <p:nvSpPr>
          <p:cNvPr id="741" name="—"/>
          <p:cNvSpPr txBox="1"/>
          <p:nvPr/>
        </p:nvSpPr>
        <p:spPr>
          <a:xfrm>
            <a:off x="1320800" y="7505700"/>
            <a:ext cx="990600" cy="723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6033A6"/>
                </a:solidFill>
                <a:latin typeface="Geist Regular Regular"/>
                <a:ea typeface="Geist Regular Regular"/>
                <a:cs typeface="Geist Regular Regular"/>
                <a:sym typeface="Geist Regular Regular"/>
              </a:defRPr>
            </a:lvl1pPr>
          </a:lstStyle>
          <a:p>
            <a:pPr/>
            <a:r>
              <a:t>—</a:t>
            </a:r>
          </a:p>
        </p:txBody>
      </p:sp>
      <p:sp>
        <p:nvSpPr>
          <p:cNvPr id="742" name="Portability and owning your data. In 2016 we moved every site to another provider."/>
          <p:cNvSpPr txBox="1"/>
          <p:nvPr/>
        </p:nvSpPr>
        <p:spPr>
          <a:xfrm>
            <a:off x="2082800" y="7505699"/>
            <a:ext cx="19064404" cy="723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3D2644"/>
                </a:solidFill>
                <a:latin typeface="Geist Regular Regular"/>
                <a:ea typeface="Geist Regular Regular"/>
                <a:cs typeface="Geist Regular Regular"/>
                <a:sym typeface="Geist Regular Regular"/>
              </a:defRPr>
            </a:lvl1pPr>
          </a:lstStyle>
          <a:p>
            <a:pPr/>
            <a:r>
              <a:t>Portability and owning your data. In 2016 we moved every site to another provider.</a:t>
            </a:r>
          </a:p>
        </p:txBody>
      </p:sp>
      <p:sp>
        <p:nvSpPr>
          <p:cNvPr id="743" name="—"/>
          <p:cNvSpPr txBox="1"/>
          <p:nvPr/>
        </p:nvSpPr>
        <p:spPr>
          <a:xfrm>
            <a:off x="1320800" y="8597900"/>
            <a:ext cx="990600" cy="723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6033A6"/>
                </a:solidFill>
                <a:latin typeface="Geist Regular Regular"/>
                <a:ea typeface="Geist Regular Regular"/>
                <a:cs typeface="Geist Regular Regular"/>
                <a:sym typeface="Geist Regular Regular"/>
              </a:defRPr>
            </a:lvl1pPr>
          </a:lstStyle>
          <a:p>
            <a:pPr/>
            <a:r>
              <a:t>—</a:t>
            </a:r>
          </a:p>
        </p:txBody>
      </p:sp>
      <p:sp>
        <p:nvSpPr>
          <p:cNvPr id="744" name="No vendor lock-in."/>
          <p:cNvSpPr txBox="1"/>
          <p:nvPr/>
        </p:nvSpPr>
        <p:spPr>
          <a:xfrm>
            <a:off x="2082800" y="8597900"/>
            <a:ext cx="16370300" cy="723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800">
                <a:solidFill>
                  <a:srgbClr val="3D2644"/>
                </a:solidFill>
                <a:latin typeface="Geist Regular Regular"/>
                <a:ea typeface="Geist Regular Regular"/>
                <a:cs typeface="Geist Regular Regular"/>
                <a:sym typeface="Geist Regular Regular"/>
              </a:defRPr>
            </a:lvl1pPr>
          </a:lstStyle>
          <a:p>
            <a:pPr/>
            <a:r>
              <a:t>No vendor lock-in.</a:t>
            </a:r>
          </a:p>
        </p:txBody>
      </p:sp>
      <p:sp>
        <p:nvSpPr>
          <p:cNvPr id="745"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746" name="prog-16.png" descr="prog-16.png"/>
          <p:cNvPicPr>
            <a:picLocks noChangeAspect="1"/>
          </p:cNvPicPr>
          <p:nvPr/>
        </p:nvPicPr>
        <p:blipFill>
          <a:blip r:embed="rId4">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750"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751" name="Own servers and the cloud"/>
          <p:cNvSpPr txBox="1"/>
          <p:nvPr/>
        </p:nvSpPr>
        <p:spPr>
          <a:xfrm>
            <a:off x="1308100" y="2984499"/>
            <a:ext cx="22707600" cy="1714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7600">
                <a:solidFill>
                  <a:srgbClr val="220D44"/>
                </a:solidFill>
                <a:latin typeface="Unbounded Regular ExtraBold"/>
                <a:ea typeface="Unbounded Regular ExtraBold"/>
                <a:cs typeface="Unbounded Regular ExtraBold"/>
                <a:sym typeface="Unbounded Regular ExtraBold"/>
              </a:defRPr>
            </a:pPr>
            <a:r>
              <a:t>Own servers </a:t>
            </a:r>
            <a:r>
              <a:rPr i="1" sz="9800">
                <a:solidFill>
                  <a:srgbClr val="6033A6"/>
                </a:solidFill>
                <a:latin typeface="Instrument Serif Regular"/>
                <a:ea typeface="Instrument Serif Regular"/>
                <a:cs typeface="Instrument Serif Regular"/>
                <a:sym typeface="Instrument Serif Regular"/>
              </a:rPr>
              <a:t>and the cloud</a:t>
            </a:r>
          </a:p>
        </p:txBody>
      </p:sp>
      <p:sp>
        <p:nvSpPr>
          <p:cNvPr id="752"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753" name="viz-12-00.svg" descr="viz-12-00.svg"/>
          <p:cNvPicPr>
            <a:picLocks noChangeAspect="1"/>
          </p:cNvPicPr>
          <p:nvPr/>
        </p:nvPicPr>
        <p:blipFill>
          <a:blip r:embed="rId4">
            <a:extLst/>
          </a:blip>
          <a:stretch>
            <a:fillRect/>
          </a:stretch>
        </p:blipFill>
        <p:spPr>
          <a:xfrm>
            <a:off x="1168400" y="5588000"/>
            <a:ext cx="5346700" cy="1155700"/>
          </a:xfrm>
          <a:prstGeom prst="rect">
            <a:avLst/>
          </a:prstGeom>
          <a:ln w="12700">
            <a:miter lim="400000"/>
          </a:ln>
        </p:spPr>
      </p:pic>
      <p:pic>
        <p:nvPicPr>
          <p:cNvPr id="754" name="viz-12-01.svg" descr="viz-12-01.svg"/>
          <p:cNvPicPr>
            <a:picLocks noChangeAspect="1"/>
          </p:cNvPicPr>
          <p:nvPr/>
        </p:nvPicPr>
        <p:blipFill>
          <a:blip r:embed="rId4">
            <a:extLst/>
          </a:blip>
          <a:stretch>
            <a:fillRect/>
          </a:stretch>
        </p:blipFill>
        <p:spPr>
          <a:xfrm>
            <a:off x="1168400" y="6629400"/>
            <a:ext cx="5346700" cy="1155700"/>
          </a:xfrm>
          <a:prstGeom prst="rect">
            <a:avLst/>
          </a:prstGeom>
          <a:ln w="12700">
            <a:miter lim="400000"/>
          </a:ln>
        </p:spPr>
      </p:pic>
      <p:pic>
        <p:nvPicPr>
          <p:cNvPr id="755" name="viz-12-02.svg" descr="viz-12-02.svg"/>
          <p:cNvPicPr>
            <a:picLocks noChangeAspect="1"/>
          </p:cNvPicPr>
          <p:nvPr/>
        </p:nvPicPr>
        <p:blipFill>
          <a:blip r:embed="rId4">
            <a:extLst/>
          </a:blip>
          <a:stretch>
            <a:fillRect/>
          </a:stretch>
        </p:blipFill>
        <p:spPr>
          <a:xfrm>
            <a:off x="1168400" y="7670800"/>
            <a:ext cx="5346700" cy="1155700"/>
          </a:xfrm>
          <a:prstGeom prst="rect">
            <a:avLst/>
          </a:prstGeom>
          <a:ln w="12700">
            <a:miter lim="400000"/>
          </a:ln>
        </p:spPr>
      </p:pic>
      <p:pic>
        <p:nvPicPr>
          <p:cNvPr id="756" name="viz-12-03.svg" descr="viz-12-03.svg"/>
          <p:cNvPicPr>
            <a:picLocks noChangeAspect="1"/>
          </p:cNvPicPr>
          <p:nvPr/>
        </p:nvPicPr>
        <p:blipFill>
          <a:blip r:embed="rId5">
            <a:extLst/>
          </a:blip>
          <a:stretch>
            <a:fillRect/>
          </a:stretch>
        </p:blipFill>
        <p:spPr>
          <a:xfrm>
            <a:off x="1168400" y="8712200"/>
            <a:ext cx="5346700" cy="1155700"/>
          </a:xfrm>
          <a:prstGeom prst="rect">
            <a:avLst/>
          </a:prstGeom>
          <a:ln w="12700">
            <a:miter lim="400000"/>
          </a:ln>
        </p:spPr>
      </p:pic>
      <p:pic>
        <p:nvPicPr>
          <p:cNvPr id="757" name="viz-12-04.svg" descr="viz-12-04.svg"/>
          <p:cNvPicPr>
            <a:picLocks noChangeAspect="1"/>
          </p:cNvPicPr>
          <p:nvPr/>
        </p:nvPicPr>
        <p:blipFill>
          <a:blip r:embed="rId6">
            <a:extLst/>
          </a:blip>
          <a:stretch>
            <a:fillRect/>
          </a:stretch>
        </p:blipFill>
        <p:spPr>
          <a:xfrm>
            <a:off x="1168400" y="9753600"/>
            <a:ext cx="5346700" cy="1155700"/>
          </a:xfrm>
          <a:prstGeom prst="rect">
            <a:avLst/>
          </a:prstGeom>
          <a:ln w="12700">
            <a:miter lim="400000"/>
          </a:ln>
        </p:spPr>
      </p:pic>
      <p:pic>
        <p:nvPicPr>
          <p:cNvPr id="758" name="viz-12-05.svg" descr="viz-12-05.svg"/>
          <p:cNvPicPr>
            <a:picLocks noChangeAspect="1"/>
          </p:cNvPicPr>
          <p:nvPr/>
        </p:nvPicPr>
        <p:blipFill>
          <a:blip r:embed="rId7">
            <a:extLst/>
          </a:blip>
          <a:stretch>
            <a:fillRect/>
          </a:stretch>
        </p:blipFill>
        <p:spPr>
          <a:xfrm>
            <a:off x="6794500" y="5651500"/>
            <a:ext cx="685800" cy="685800"/>
          </a:xfrm>
          <a:prstGeom prst="rect">
            <a:avLst/>
          </a:prstGeom>
          <a:ln w="12700">
            <a:miter lim="400000"/>
          </a:ln>
        </p:spPr>
      </p:pic>
      <p:pic>
        <p:nvPicPr>
          <p:cNvPr id="759" name="viz-12-06.svg" descr="viz-12-06.svg"/>
          <p:cNvPicPr>
            <a:picLocks noChangeAspect="1"/>
          </p:cNvPicPr>
          <p:nvPr/>
        </p:nvPicPr>
        <p:blipFill>
          <a:blip r:embed="rId8">
            <a:extLst/>
          </a:blip>
          <a:stretch>
            <a:fillRect/>
          </a:stretch>
        </p:blipFill>
        <p:spPr>
          <a:xfrm>
            <a:off x="6794500" y="8318500"/>
            <a:ext cx="685800" cy="685800"/>
          </a:xfrm>
          <a:prstGeom prst="rect">
            <a:avLst/>
          </a:prstGeom>
          <a:ln w="12700">
            <a:miter lim="400000"/>
          </a:ln>
        </p:spPr>
      </p:pic>
      <p:pic>
        <p:nvPicPr>
          <p:cNvPr id="760" name="viz-12-07.svg" descr="viz-12-07.svg"/>
          <p:cNvPicPr>
            <a:picLocks noChangeAspect="1"/>
          </p:cNvPicPr>
          <p:nvPr/>
        </p:nvPicPr>
        <p:blipFill>
          <a:blip r:embed="rId4">
            <a:extLst/>
          </a:blip>
          <a:stretch>
            <a:fillRect/>
          </a:stretch>
        </p:blipFill>
        <p:spPr>
          <a:xfrm>
            <a:off x="12649200" y="5588000"/>
            <a:ext cx="5346700" cy="1155700"/>
          </a:xfrm>
          <a:prstGeom prst="rect">
            <a:avLst/>
          </a:prstGeom>
          <a:ln w="12700">
            <a:miter lim="400000"/>
          </a:ln>
        </p:spPr>
      </p:pic>
      <p:pic>
        <p:nvPicPr>
          <p:cNvPr id="761" name="viz-12-08.svg" descr="viz-12-08.svg"/>
          <p:cNvPicPr>
            <a:picLocks noChangeAspect="1"/>
          </p:cNvPicPr>
          <p:nvPr/>
        </p:nvPicPr>
        <p:blipFill>
          <a:blip r:embed="rId9">
            <a:extLst/>
          </a:blip>
          <a:stretch>
            <a:fillRect/>
          </a:stretch>
        </p:blipFill>
        <p:spPr>
          <a:xfrm>
            <a:off x="12649200" y="6629400"/>
            <a:ext cx="5346700" cy="1155700"/>
          </a:xfrm>
          <a:prstGeom prst="rect">
            <a:avLst/>
          </a:prstGeom>
          <a:ln w="12700">
            <a:miter lim="400000"/>
          </a:ln>
        </p:spPr>
      </p:pic>
      <p:pic>
        <p:nvPicPr>
          <p:cNvPr id="762" name="viz-12-09.svg" descr="viz-12-09.svg"/>
          <p:cNvPicPr>
            <a:picLocks noChangeAspect="1"/>
          </p:cNvPicPr>
          <p:nvPr/>
        </p:nvPicPr>
        <p:blipFill>
          <a:blip r:embed="rId10">
            <a:extLst/>
          </a:blip>
          <a:stretch>
            <a:fillRect/>
          </a:stretch>
        </p:blipFill>
        <p:spPr>
          <a:xfrm>
            <a:off x="12649200" y="7670800"/>
            <a:ext cx="5346700" cy="1155700"/>
          </a:xfrm>
          <a:prstGeom prst="rect">
            <a:avLst/>
          </a:prstGeom>
          <a:ln w="12700">
            <a:miter lim="400000"/>
          </a:ln>
        </p:spPr>
      </p:pic>
      <p:pic>
        <p:nvPicPr>
          <p:cNvPr id="763" name="viz-12-10.svg" descr="viz-12-10.svg"/>
          <p:cNvPicPr>
            <a:picLocks noChangeAspect="1"/>
          </p:cNvPicPr>
          <p:nvPr/>
        </p:nvPicPr>
        <p:blipFill>
          <a:blip r:embed="rId11">
            <a:extLst/>
          </a:blip>
          <a:stretch>
            <a:fillRect/>
          </a:stretch>
        </p:blipFill>
        <p:spPr>
          <a:xfrm>
            <a:off x="12649200" y="8712200"/>
            <a:ext cx="5346700" cy="1155700"/>
          </a:xfrm>
          <a:prstGeom prst="rect">
            <a:avLst/>
          </a:prstGeom>
          <a:ln w="12700">
            <a:miter lim="400000"/>
          </a:ln>
        </p:spPr>
      </p:pic>
      <p:pic>
        <p:nvPicPr>
          <p:cNvPr id="764" name="viz-12-11.svg" descr="viz-12-11.svg"/>
          <p:cNvPicPr>
            <a:picLocks noChangeAspect="1"/>
          </p:cNvPicPr>
          <p:nvPr/>
        </p:nvPicPr>
        <p:blipFill>
          <a:blip r:embed="rId12">
            <a:extLst/>
          </a:blip>
          <a:stretch>
            <a:fillRect/>
          </a:stretch>
        </p:blipFill>
        <p:spPr>
          <a:xfrm>
            <a:off x="12649200" y="9753600"/>
            <a:ext cx="5346700" cy="1155700"/>
          </a:xfrm>
          <a:prstGeom prst="rect">
            <a:avLst/>
          </a:prstGeom>
          <a:ln w="12700">
            <a:miter lim="400000"/>
          </a:ln>
        </p:spPr>
      </p:pic>
      <p:pic>
        <p:nvPicPr>
          <p:cNvPr id="765" name="viz-12-12.svg" descr="viz-12-12.svg"/>
          <p:cNvPicPr>
            <a:picLocks noChangeAspect="1"/>
          </p:cNvPicPr>
          <p:nvPr/>
        </p:nvPicPr>
        <p:blipFill>
          <a:blip r:embed="rId7">
            <a:extLst/>
          </a:blip>
          <a:stretch>
            <a:fillRect/>
          </a:stretch>
        </p:blipFill>
        <p:spPr>
          <a:xfrm>
            <a:off x="18275300" y="5651500"/>
            <a:ext cx="685800" cy="685800"/>
          </a:xfrm>
          <a:prstGeom prst="rect">
            <a:avLst/>
          </a:prstGeom>
          <a:ln w="12700">
            <a:miter lim="400000"/>
          </a:ln>
        </p:spPr>
      </p:pic>
      <p:pic>
        <p:nvPicPr>
          <p:cNvPr id="766" name="viz-12-13.svg" descr="viz-12-13.svg"/>
          <p:cNvPicPr>
            <a:picLocks noChangeAspect="1"/>
          </p:cNvPicPr>
          <p:nvPr/>
        </p:nvPicPr>
        <p:blipFill>
          <a:blip r:embed="rId8">
            <a:extLst/>
          </a:blip>
          <a:stretch>
            <a:fillRect/>
          </a:stretch>
        </p:blipFill>
        <p:spPr>
          <a:xfrm>
            <a:off x="18275300" y="8318500"/>
            <a:ext cx="685800" cy="685800"/>
          </a:xfrm>
          <a:prstGeom prst="rect">
            <a:avLst/>
          </a:prstGeom>
          <a:ln w="12700">
            <a:miter lim="400000"/>
          </a:ln>
        </p:spPr>
      </p:pic>
      <p:pic>
        <p:nvPicPr>
          <p:cNvPr id="767" name="viz-12-14.svg" descr="viz-12-14.svg"/>
          <p:cNvPicPr>
            <a:picLocks noChangeAspect="1"/>
          </p:cNvPicPr>
          <p:nvPr/>
        </p:nvPicPr>
        <p:blipFill>
          <a:blip r:embed="rId13">
            <a:extLst/>
          </a:blip>
          <a:stretch>
            <a:fillRect/>
          </a:stretch>
        </p:blipFill>
        <p:spPr>
          <a:xfrm>
            <a:off x="1168400" y="11176000"/>
            <a:ext cx="622300" cy="622300"/>
          </a:xfrm>
          <a:prstGeom prst="rect">
            <a:avLst/>
          </a:prstGeom>
          <a:ln w="12700">
            <a:miter lim="400000"/>
          </a:ln>
        </p:spPr>
      </p:pic>
      <p:pic>
        <p:nvPicPr>
          <p:cNvPr id="768" name="viz-12-15.svg" descr="viz-12-15.svg"/>
          <p:cNvPicPr>
            <a:picLocks noChangeAspect="1"/>
          </p:cNvPicPr>
          <p:nvPr/>
        </p:nvPicPr>
        <p:blipFill>
          <a:blip r:embed="rId14">
            <a:extLst/>
          </a:blip>
          <a:stretch>
            <a:fillRect/>
          </a:stretch>
        </p:blipFill>
        <p:spPr>
          <a:xfrm>
            <a:off x="5181600" y="11176000"/>
            <a:ext cx="622300" cy="622300"/>
          </a:xfrm>
          <a:prstGeom prst="rect">
            <a:avLst/>
          </a:prstGeom>
          <a:ln w="12700">
            <a:miter lim="400000"/>
          </a:ln>
        </p:spPr>
      </p:pic>
      <p:sp>
        <p:nvSpPr>
          <p:cNvPr id="769" name="Own servers"/>
          <p:cNvSpPr txBox="1"/>
          <p:nvPr/>
        </p:nvSpPr>
        <p:spPr>
          <a:xfrm>
            <a:off x="1320800" y="4927600"/>
            <a:ext cx="6350000"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200">
                <a:solidFill>
                  <a:srgbClr val="6033A6"/>
                </a:solidFill>
                <a:latin typeface="Unbounded Regular SemiBold"/>
                <a:ea typeface="Unbounded Regular SemiBold"/>
                <a:cs typeface="Unbounded Regular SemiBold"/>
                <a:sym typeface="Unbounded Regular SemiBold"/>
              </a:defRPr>
            </a:lvl1pPr>
          </a:lstStyle>
          <a:p>
            <a:pPr/>
            <a:r>
              <a:t>Own servers</a:t>
            </a:r>
          </a:p>
        </p:txBody>
      </p:sp>
      <p:sp>
        <p:nvSpPr>
          <p:cNvPr id="770" name="Code and data"/>
          <p:cNvSpPr txBox="1"/>
          <p:nvPr/>
        </p:nvSpPr>
        <p:spPr>
          <a:xfrm>
            <a:off x="1676400" y="5930899"/>
            <a:ext cx="4318000" cy="508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FFFFFF"/>
                </a:solidFill>
                <a:latin typeface="Geist Regular SemiBold"/>
                <a:ea typeface="Geist Regular SemiBold"/>
                <a:cs typeface="Geist Regular SemiBold"/>
                <a:sym typeface="Geist Regular SemiBold"/>
              </a:defRPr>
            </a:lvl1pPr>
          </a:lstStyle>
          <a:p>
            <a:pPr/>
            <a:r>
              <a:t>Code and data</a:t>
            </a:r>
          </a:p>
        </p:txBody>
      </p:sp>
      <p:sp>
        <p:nvSpPr>
          <p:cNvPr id="771" name="Runtime"/>
          <p:cNvSpPr txBox="1"/>
          <p:nvPr/>
        </p:nvSpPr>
        <p:spPr>
          <a:xfrm>
            <a:off x="1676400" y="6972299"/>
            <a:ext cx="4318000" cy="508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FFFFFF"/>
                </a:solidFill>
                <a:latin typeface="Geist Regular SemiBold"/>
                <a:ea typeface="Geist Regular SemiBold"/>
                <a:cs typeface="Geist Regular SemiBold"/>
                <a:sym typeface="Geist Regular SemiBold"/>
              </a:defRPr>
            </a:lvl1pPr>
          </a:lstStyle>
          <a:p>
            <a:pPr/>
            <a:r>
              <a:t>Runtime</a:t>
            </a:r>
          </a:p>
        </p:txBody>
      </p:sp>
      <p:sp>
        <p:nvSpPr>
          <p:cNvPr id="772" name="Operating system"/>
          <p:cNvSpPr txBox="1"/>
          <p:nvPr/>
        </p:nvSpPr>
        <p:spPr>
          <a:xfrm>
            <a:off x="1676400" y="8013699"/>
            <a:ext cx="4318000" cy="508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FFFFFF"/>
                </a:solidFill>
                <a:latin typeface="Geist Regular SemiBold"/>
                <a:ea typeface="Geist Regular SemiBold"/>
                <a:cs typeface="Geist Regular SemiBold"/>
                <a:sym typeface="Geist Regular SemiBold"/>
              </a:defRPr>
            </a:lvl1pPr>
          </a:lstStyle>
          <a:p>
            <a:pPr/>
            <a:r>
              <a:t>Operating system</a:t>
            </a:r>
          </a:p>
        </p:txBody>
      </p:sp>
      <p:sp>
        <p:nvSpPr>
          <p:cNvPr id="773" name="Network"/>
          <p:cNvSpPr txBox="1"/>
          <p:nvPr/>
        </p:nvSpPr>
        <p:spPr>
          <a:xfrm>
            <a:off x="1676400" y="9055099"/>
            <a:ext cx="4318000" cy="508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220D44"/>
                </a:solidFill>
                <a:latin typeface="Geist Regular SemiBold"/>
                <a:ea typeface="Geist Regular SemiBold"/>
                <a:cs typeface="Geist Regular SemiBold"/>
                <a:sym typeface="Geist Regular SemiBold"/>
              </a:defRPr>
            </a:lvl1pPr>
          </a:lstStyle>
          <a:p>
            <a:pPr/>
            <a:r>
              <a:t>Network</a:t>
            </a:r>
          </a:p>
        </p:txBody>
      </p:sp>
      <p:sp>
        <p:nvSpPr>
          <p:cNvPr id="774" name="Hardware"/>
          <p:cNvSpPr txBox="1"/>
          <p:nvPr/>
        </p:nvSpPr>
        <p:spPr>
          <a:xfrm>
            <a:off x="1676400" y="10096499"/>
            <a:ext cx="4318000" cy="508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220D44"/>
                </a:solidFill>
                <a:latin typeface="Geist Regular SemiBold"/>
                <a:ea typeface="Geist Regular SemiBold"/>
                <a:cs typeface="Geist Regular SemiBold"/>
                <a:sym typeface="Geist Regular SemiBold"/>
              </a:defRPr>
            </a:lvl1pPr>
          </a:lstStyle>
          <a:p>
            <a:pPr/>
            <a:r>
              <a:t>Hardware</a:t>
            </a:r>
          </a:p>
        </p:txBody>
      </p:sp>
      <p:sp>
        <p:nvSpPr>
          <p:cNvPr id="775" name="We can open every layer, and moving to another provider means copying files and databases."/>
          <p:cNvSpPr txBox="1"/>
          <p:nvPr/>
        </p:nvSpPr>
        <p:spPr>
          <a:xfrm>
            <a:off x="7569200" y="5740399"/>
            <a:ext cx="3810000" cy="14173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3D2644"/>
                </a:solidFill>
                <a:latin typeface="Geist Regular Regular"/>
                <a:ea typeface="Geist Regular Regular"/>
                <a:cs typeface="Geist Regular Regular"/>
                <a:sym typeface="Geist Regular Regular"/>
              </a:defRPr>
            </a:lvl1pPr>
          </a:lstStyle>
          <a:p>
            <a:pPr/>
            <a:r>
              <a:t>We can open every layer, and moving to another provider means copying files and databases.</a:t>
            </a:r>
          </a:p>
        </p:txBody>
      </p:sp>
      <p:sp>
        <p:nvSpPr>
          <p:cNvPr id="776" name="We patch, monitor and fix everything ourselves, also at night."/>
          <p:cNvSpPr txBox="1"/>
          <p:nvPr/>
        </p:nvSpPr>
        <p:spPr>
          <a:xfrm>
            <a:off x="7569200" y="8407400"/>
            <a:ext cx="3810000" cy="109728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3D2644"/>
                </a:solidFill>
                <a:latin typeface="Geist Regular Regular"/>
                <a:ea typeface="Geist Regular Regular"/>
                <a:cs typeface="Geist Regular Regular"/>
                <a:sym typeface="Geist Regular Regular"/>
              </a:defRPr>
            </a:lvl1pPr>
          </a:lstStyle>
          <a:p>
            <a:pPr/>
            <a:r>
              <a:t>We patch, monitor and fix everything ourselves, also at night.</a:t>
            </a:r>
          </a:p>
        </p:txBody>
      </p:sp>
      <p:sp>
        <p:nvSpPr>
          <p:cNvPr id="777" name="Cloud"/>
          <p:cNvSpPr txBox="1"/>
          <p:nvPr/>
        </p:nvSpPr>
        <p:spPr>
          <a:xfrm>
            <a:off x="12801600" y="4927600"/>
            <a:ext cx="6350000"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200">
                <a:solidFill>
                  <a:srgbClr val="6033A6"/>
                </a:solidFill>
                <a:latin typeface="Unbounded Regular SemiBold"/>
                <a:ea typeface="Unbounded Regular SemiBold"/>
                <a:cs typeface="Unbounded Regular SemiBold"/>
                <a:sym typeface="Unbounded Regular SemiBold"/>
              </a:defRPr>
            </a:lvl1pPr>
          </a:lstStyle>
          <a:p>
            <a:pPr/>
            <a:r>
              <a:t>Cloud</a:t>
            </a:r>
          </a:p>
        </p:txBody>
      </p:sp>
      <p:sp>
        <p:nvSpPr>
          <p:cNvPr id="778" name="Code and data"/>
          <p:cNvSpPr txBox="1"/>
          <p:nvPr/>
        </p:nvSpPr>
        <p:spPr>
          <a:xfrm>
            <a:off x="13157200" y="5930899"/>
            <a:ext cx="4318000" cy="508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FFFFFF"/>
                </a:solidFill>
                <a:latin typeface="Geist Regular SemiBold"/>
                <a:ea typeface="Geist Regular SemiBold"/>
                <a:cs typeface="Geist Regular SemiBold"/>
                <a:sym typeface="Geist Regular SemiBold"/>
              </a:defRPr>
            </a:lvl1pPr>
          </a:lstStyle>
          <a:p>
            <a:pPr/>
            <a:r>
              <a:t>Code and data</a:t>
            </a:r>
          </a:p>
        </p:txBody>
      </p:sp>
      <p:sp>
        <p:nvSpPr>
          <p:cNvPr id="779" name="Runtime"/>
          <p:cNvSpPr txBox="1"/>
          <p:nvPr/>
        </p:nvSpPr>
        <p:spPr>
          <a:xfrm>
            <a:off x="13157200" y="6972299"/>
            <a:ext cx="4318000" cy="508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220D44"/>
                </a:solidFill>
                <a:latin typeface="Geist Regular SemiBold"/>
                <a:ea typeface="Geist Regular SemiBold"/>
                <a:cs typeface="Geist Regular SemiBold"/>
                <a:sym typeface="Geist Regular SemiBold"/>
              </a:defRPr>
            </a:lvl1pPr>
          </a:lstStyle>
          <a:p>
            <a:pPr/>
            <a:r>
              <a:t>Runtime</a:t>
            </a:r>
          </a:p>
        </p:txBody>
      </p:sp>
      <p:sp>
        <p:nvSpPr>
          <p:cNvPr id="780" name="Operating system"/>
          <p:cNvSpPr txBox="1"/>
          <p:nvPr/>
        </p:nvSpPr>
        <p:spPr>
          <a:xfrm>
            <a:off x="13157200" y="8013699"/>
            <a:ext cx="4318000" cy="508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220D44"/>
                </a:solidFill>
                <a:latin typeface="Geist Regular SemiBold"/>
                <a:ea typeface="Geist Regular SemiBold"/>
                <a:cs typeface="Geist Regular SemiBold"/>
                <a:sym typeface="Geist Regular SemiBold"/>
              </a:defRPr>
            </a:lvl1pPr>
          </a:lstStyle>
          <a:p>
            <a:pPr/>
            <a:r>
              <a:t>Operating system</a:t>
            </a:r>
          </a:p>
        </p:txBody>
      </p:sp>
      <p:sp>
        <p:nvSpPr>
          <p:cNvPr id="781" name="Network"/>
          <p:cNvSpPr txBox="1"/>
          <p:nvPr/>
        </p:nvSpPr>
        <p:spPr>
          <a:xfrm>
            <a:off x="13157200" y="9055099"/>
            <a:ext cx="4318000" cy="508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220D44"/>
                </a:solidFill>
                <a:latin typeface="Geist Regular SemiBold"/>
                <a:ea typeface="Geist Regular SemiBold"/>
                <a:cs typeface="Geist Regular SemiBold"/>
                <a:sym typeface="Geist Regular SemiBold"/>
              </a:defRPr>
            </a:lvl1pPr>
          </a:lstStyle>
          <a:p>
            <a:pPr/>
            <a:r>
              <a:t>Network</a:t>
            </a:r>
          </a:p>
        </p:txBody>
      </p:sp>
      <p:sp>
        <p:nvSpPr>
          <p:cNvPr id="782" name="Hardware"/>
          <p:cNvSpPr txBox="1"/>
          <p:nvPr/>
        </p:nvSpPr>
        <p:spPr>
          <a:xfrm>
            <a:off x="13157200" y="10096499"/>
            <a:ext cx="4318000" cy="508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220D44"/>
                </a:solidFill>
                <a:latin typeface="Geist Regular SemiBold"/>
                <a:ea typeface="Geist Regular SemiBold"/>
                <a:cs typeface="Geist Regular SemiBold"/>
                <a:sym typeface="Geist Regular SemiBold"/>
              </a:defRPr>
            </a:lvl1pPr>
          </a:lstStyle>
          <a:p>
            <a:pPr/>
            <a:r>
              <a:t>Hardware</a:t>
            </a:r>
          </a:p>
        </p:txBody>
      </p:sp>
      <p:sp>
        <p:nvSpPr>
          <p:cNvPr id="783" name="The provider handles hardware failures, failover and scaling."/>
          <p:cNvSpPr txBox="1"/>
          <p:nvPr/>
        </p:nvSpPr>
        <p:spPr>
          <a:xfrm>
            <a:off x="19050000" y="5740400"/>
            <a:ext cx="3810000" cy="109728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3D2644"/>
                </a:solidFill>
                <a:latin typeface="Geist Regular Regular"/>
                <a:ea typeface="Geist Regular Regular"/>
                <a:cs typeface="Geist Regular Regular"/>
                <a:sym typeface="Geist Regular Regular"/>
              </a:defRPr>
            </a:lvl1pPr>
          </a:lstStyle>
          <a:p>
            <a:pPr/>
            <a:r>
              <a:t>The provider handles hardware failures, failover and scaling.</a:t>
            </a:r>
          </a:p>
        </p:txBody>
      </p:sp>
      <p:sp>
        <p:nvSpPr>
          <p:cNvPr id="784" name="When the platform breaks, we wait. An American company's EU region still falls under US law."/>
          <p:cNvSpPr txBox="1"/>
          <p:nvPr/>
        </p:nvSpPr>
        <p:spPr>
          <a:xfrm>
            <a:off x="19050000" y="8407399"/>
            <a:ext cx="3810000" cy="14173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3D2644"/>
                </a:solidFill>
                <a:latin typeface="Geist Regular Regular"/>
                <a:ea typeface="Geist Regular Regular"/>
                <a:cs typeface="Geist Regular Regular"/>
                <a:sym typeface="Geist Regular Regular"/>
              </a:defRPr>
            </a:lvl1pPr>
          </a:lstStyle>
          <a:p>
            <a:pPr/>
            <a:r>
              <a:t>When the platform breaks, we wait. An American company's EU region still falls under US law.</a:t>
            </a:r>
          </a:p>
        </p:txBody>
      </p:sp>
      <p:sp>
        <p:nvSpPr>
          <p:cNvPr id="785" name="We are in control"/>
          <p:cNvSpPr txBox="1"/>
          <p:nvPr/>
        </p:nvSpPr>
        <p:spPr>
          <a:xfrm>
            <a:off x="1778000" y="11226799"/>
            <a:ext cx="3810000" cy="45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3D2644"/>
                </a:solidFill>
                <a:latin typeface="Geist Regular Regular"/>
                <a:ea typeface="Geist Regular Regular"/>
                <a:cs typeface="Geist Regular Regular"/>
                <a:sym typeface="Geist Regular Regular"/>
              </a:defRPr>
            </a:lvl1pPr>
          </a:lstStyle>
          <a:p>
            <a:pPr/>
            <a:r>
              <a:t>We are in control</a:t>
            </a:r>
          </a:p>
        </p:txBody>
      </p:sp>
      <p:sp>
        <p:nvSpPr>
          <p:cNvPr id="786" name="The provider is in control"/>
          <p:cNvSpPr txBox="1"/>
          <p:nvPr/>
        </p:nvSpPr>
        <p:spPr>
          <a:xfrm>
            <a:off x="5791200" y="11226799"/>
            <a:ext cx="5080000" cy="45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3D2644"/>
                </a:solidFill>
                <a:latin typeface="Geist Regular Regular"/>
                <a:ea typeface="Geist Regular Regular"/>
                <a:cs typeface="Geist Regular Regular"/>
                <a:sym typeface="Geist Regular Regular"/>
              </a:defRPr>
            </a:lvl1pPr>
          </a:lstStyle>
          <a:p>
            <a:pPr/>
            <a:r>
              <a:t>The provider is in control</a:t>
            </a:r>
          </a:p>
        </p:txBody>
      </p:sp>
      <p:pic>
        <p:nvPicPr>
          <p:cNvPr id="787" name="prog-17.png" descr="prog-17.png"/>
          <p:cNvPicPr>
            <a:picLocks noChangeAspect="1"/>
          </p:cNvPicPr>
          <p:nvPr/>
        </p:nvPicPr>
        <p:blipFill>
          <a:blip r:embed="rId15">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791"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792" name="Own your data"/>
          <p:cNvSpPr txBox="1"/>
          <p:nvPr/>
        </p:nvSpPr>
        <p:spPr>
          <a:xfrm>
            <a:off x="1295400" y="4203699"/>
            <a:ext cx="22707600" cy="1562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9200">
                <a:solidFill>
                  <a:srgbClr val="220D44"/>
                </a:solidFill>
                <a:latin typeface="Unbounded Regular ExtraBold"/>
                <a:ea typeface="Unbounded Regular ExtraBold"/>
                <a:cs typeface="Unbounded Regular ExtraBold"/>
                <a:sym typeface="Unbounded Regular ExtraBold"/>
              </a:defRPr>
            </a:lvl1pPr>
          </a:lstStyle>
          <a:p>
            <a:pPr/>
            <a:r>
              <a:t>Own your data</a:t>
            </a:r>
          </a:p>
        </p:txBody>
      </p:sp>
      <p:sp>
        <p:nvSpPr>
          <p:cNvPr id="793" name="and know where it lives"/>
          <p:cNvSpPr txBox="1"/>
          <p:nvPr/>
        </p:nvSpPr>
        <p:spPr>
          <a:xfrm>
            <a:off x="1308100" y="5372099"/>
            <a:ext cx="22707600" cy="2057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i="1" sz="11800">
                <a:solidFill>
                  <a:srgbClr val="6033A6"/>
                </a:solidFill>
                <a:latin typeface="Instrument Serif Regular"/>
                <a:ea typeface="Instrument Serif Regular"/>
                <a:cs typeface="Instrument Serif Regular"/>
                <a:sym typeface="Instrument Serif Regular"/>
              </a:defRPr>
            </a:lvl1pPr>
          </a:lstStyle>
          <a:p>
            <a:pPr/>
            <a:r>
              <a:t>and know where it lives</a:t>
            </a:r>
          </a:p>
        </p:txBody>
      </p:sp>
      <p:sp>
        <p:nvSpPr>
          <p:cNvPr id="794" name="FOSS, analytics, documents, CRM all live on servers you own and control, with back ups."/>
          <p:cNvSpPr txBox="1"/>
          <p:nvPr/>
        </p:nvSpPr>
        <p:spPr>
          <a:xfrm>
            <a:off x="1320800" y="7708900"/>
            <a:ext cx="10414000" cy="123571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600">
                <a:solidFill>
                  <a:srgbClr val="4B3051"/>
                </a:solidFill>
                <a:latin typeface="Geist Regular Regular"/>
                <a:ea typeface="Geist Regular Regular"/>
                <a:cs typeface="Geist Regular Regular"/>
                <a:sym typeface="Geist Regular Regular"/>
              </a:defRPr>
            </a:lvl1pPr>
          </a:lstStyle>
          <a:p>
            <a:pPr/>
            <a:r>
              <a:t>FOSS, analytics, documents, CRM all live on servers you own and control, with back ups.</a:t>
            </a:r>
          </a:p>
        </p:txBody>
      </p:sp>
      <p:sp>
        <p:nvSpPr>
          <p:cNvPr id="795"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796" name="viz-14-00.svg" descr="viz-14-00.svg"/>
          <p:cNvPicPr>
            <a:picLocks noChangeAspect="1"/>
          </p:cNvPicPr>
          <p:nvPr/>
        </p:nvPicPr>
        <p:blipFill>
          <a:blip r:embed="rId4">
            <a:extLst/>
          </a:blip>
          <a:stretch>
            <a:fillRect/>
          </a:stretch>
        </p:blipFill>
        <p:spPr>
          <a:xfrm>
            <a:off x="14960600" y="6261100"/>
            <a:ext cx="3365500" cy="2095500"/>
          </a:xfrm>
          <a:prstGeom prst="rect">
            <a:avLst/>
          </a:prstGeom>
          <a:ln w="12700">
            <a:miter lim="400000"/>
          </a:ln>
        </p:spPr>
      </p:pic>
      <p:pic>
        <p:nvPicPr>
          <p:cNvPr id="797" name="viz-14-01.svg" descr="viz-14-01.svg"/>
          <p:cNvPicPr>
            <a:picLocks noChangeAspect="1"/>
          </p:cNvPicPr>
          <p:nvPr/>
        </p:nvPicPr>
        <p:blipFill>
          <a:blip r:embed="rId5">
            <a:extLst/>
          </a:blip>
          <a:stretch>
            <a:fillRect/>
          </a:stretch>
        </p:blipFill>
        <p:spPr>
          <a:xfrm>
            <a:off x="15379700" y="6921500"/>
            <a:ext cx="736600" cy="762000"/>
          </a:xfrm>
          <a:prstGeom prst="rect">
            <a:avLst/>
          </a:prstGeom>
          <a:ln w="12700">
            <a:miter lim="400000"/>
          </a:ln>
        </p:spPr>
      </p:pic>
      <p:pic>
        <p:nvPicPr>
          <p:cNvPr id="798" name="viz-14-02.svg" descr="viz-14-02.svg"/>
          <p:cNvPicPr>
            <a:picLocks noChangeAspect="1"/>
          </p:cNvPicPr>
          <p:nvPr/>
        </p:nvPicPr>
        <p:blipFill>
          <a:blip r:embed="rId6">
            <a:extLst/>
          </a:blip>
          <a:stretch>
            <a:fillRect/>
          </a:stretch>
        </p:blipFill>
        <p:spPr>
          <a:xfrm>
            <a:off x="19558000" y="4432300"/>
            <a:ext cx="3619500" cy="1435100"/>
          </a:xfrm>
          <a:prstGeom prst="rect">
            <a:avLst/>
          </a:prstGeom>
          <a:ln w="12700">
            <a:miter lim="400000"/>
          </a:ln>
        </p:spPr>
      </p:pic>
      <p:pic>
        <p:nvPicPr>
          <p:cNvPr id="799" name="viz-14-03.svg" descr="viz-14-03.svg"/>
          <p:cNvPicPr>
            <a:picLocks noChangeAspect="1"/>
          </p:cNvPicPr>
          <p:nvPr/>
        </p:nvPicPr>
        <p:blipFill>
          <a:blip r:embed="rId7">
            <a:extLst/>
          </a:blip>
          <a:stretch>
            <a:fillRect/>
          </a:stretch>
        </p:blipFill>
        <p:spPr>
          <a:xfrm>
            <a:off x="19926300" y="4813300"/>
            <a:ext cx="838200" cy="660400"/>
          </a:xfrm>
          <a:prstGeom prst="rect">
            <a:avLst/>
          </a:prstGeom>
          <a:ln w="12700">
            <a:miter lim="400000"/>
          </a:ln>
        </p:spPr>
      </p:pic>
      <p:pic>
        <p:nvPicPr>
          <p:cNvPr id="800" name="viz-18-04.svg" descr="viz-18-04.svg"/>
          <p:cNvPicPr>
            <a:picLocks noChangeAspect="1"/>
          </p:cNvPicPr>
          <p:nvPr/>
        </p:nvPicPr>
        <p:blipFill>
          <a:blip r:embed="rId8">
            <a:extLst/>
          </a:blip>
          <a:stretch>
            <a:fillRect/>
          </a:stretch>
        </p:blipFill>
        <p:spPr>
          <a:xfrm>
            <a:off x="18161000" y="4991100"/>
            <a:ext cx="1536700" cy="2476500"/>
          </a:xfrm>
          <a:prstGeom prst="rect">
            <a:avLst/>
          </a:prstGeom>
          <a:ln w="12700">
            <a:miter lim="400000"/>
          </a:ln>
        </p:spPr>
      </p:pic>
      <p:pic>
        <p:nvPicPr>
          <p:cNvPr id="801" name="viz-14-05.svg" descr="viz-14-05.svg"/>
          <p:cNvPicPr>
            <a:picLocks noChangeAspect="1"/>
          </p:cNvPicPr>
          <p:nvPr/>
        </p:nvPicPr>
        <p:blipFill>
          <a:blip r:embed="rId9">
            <a:extLst/>
          </a:blip>
          <a:stretch>
            <a:fillRect/>
          </a:stretch>
        </p:blipFill>
        <p:spPr>
          <a:xfrm>
            <a:off x="19558000" y="6591300"/>
            <a:ext cx="3619500" cy="1435100"/>
          </a:xfrm>
          <a:prstGeom prst="rect">
            <a:avLst/>
          </a:prstGeom>
          <a:ln w="12700">
            <a:miter lim="400000"/>
          </a:ln>
        </p:spPr>
      </p:pic>
      <p:pic>
        <p:nvPicPr>
          <p:cNvPr id="802" name="viz-14-06.svg" descr="viz-14-06.svg"/>
          <p:cNvPicPr>
            <a:picLocks noChangeAspect="1"/>
          </p:cNvPicPr>
          <p:nvPr/>
        </p:nvPicPr>
        <p:blipFill>
          <a:blip r:embed="rId10">
            <a:extLst/>
          </a:blip>
          <a:stretch>
            <a:fillRect/>
          </a:stretch>
        </p:blipFill>
        <p:spPr>
          <a:xfrm>
            <a:off x="19939000" y="6972300"/>
            <a:ext cx="812800" cy="660400"/>
          </a:xfrm>
          <a:prstGeom prst="rect">
            <a:avLst/>
          </a:prstGeom>
          <a:ln w="12700">
            <a:miter lim="400000"/>
          </a:ln>
        </p:spPr>
      </p:pic>
      <p:pic>
        <p:nvPicPr>
          <p:cNvPr id="803" name="viz-18-07.svg" descr="viz-18-07.svg"/>
          <p:cNvPicPr>
            <a:picLocks noChangeAspect="1"/>
          </p:cNvPicPr>
          <p:nvPr/>
        </p:nvPicPr>
        <p:blipFill>
          <a:blip r:embed="rId11">
            <a:extLst/>
          </a:blip>
          <a:stretch>
            <a:fillRect/>
          </a:stretch>
        </p:blipFill>
        <p:spPr>
          <a:xfrm>
            <a:off x="18161000" y="7150100"/>
            <a:ext cx="1536700" cy="317500"/>
          </a:xfrm>
          <a:prstGeom prst="rect">
            <a:avLst/>
          </a:prstGeom>
          <a:ln w="12700">
            <a:miter lim="400000"/>
          </a:ln>
        </p:spPr>
      </p:pic>
      <p:pic>
        <p:nvPicPr>
          <p:cNvPr id="804" name="viz-14-08.svg" descr="viz-14-08.svg"/>
          <p:cNvPicPr>
            <a:picLocks noChangeAspect="1"/>
          </p:cNvPicPr>
          <p:nvPr/>
        </p:nvPicPr>
        <p:blipFill>
          <a:blip r:embed="rId12">
            <a:extLst/>
          </a:blip>
          <a:stretch>
            <a:fillRect/>
          </a:stretch>
        </p:blipFill>
        <p:spPr>
          <a:xfrm>
            <a:off x="19558000" y="8750300"/>
            <a:ext cx="3619500" cy="1435100"/>
          </a:xfrm>
          <a:prstGeom prst="rect">
            <a:avLst/>
          </a:prstGeom>
          <a:ln w="12700">
            <a:miter lim="400000"/>
          </a:ln>
        </p:spPr>
      </p:pic>
      <p:pic>
        <p:nvPicPr>
          <p:cNvPr id="805" name="viz-14-09.svg" descr="viz-14-09.svg"/>
          <p:cNvPicPr>
            <a:picLocks noChangeAspect="1"/>
          </p:cNvPicPr>
          <p:nvPr/>
        </p:nvPicPr>
        <p:blipFill>
          <a:blip r:embed="rId13">
            <a:extLst/>
          </a:blip>
          <a:stretch>
            <a:fillRect/>
          </a:stretch>
        </p:blipFill>
        <p:spPr>
          <a:xfrm>
            <a:off x="19977100" y="9093200"/>
            <a:ext cx="736600" cy="736600"/>
          </a:xfrm>
          <a:prstGeom prst="rect">
            <a:avLst/>
          </a:prstGeom>
          <a:ln w="12700">
            <a:miter lim="400000"/>
          </a:ln>
        </p:spPr>
      </p:pic>
      <p:pic>
        <p:nvPicPr>
          <p:cNvPr id="806" name="viz-18-10.svg" descr="viz-18-10.svg"/>
          <p:cNvPicPr>
            <a:picLocks noChangeAspect="1"/>
          </p:cNvPicPr>
          <p:nvPr/>
        </p:nvPicPr>
        <p:blipFill>
          <a:blip r:embed="rId14">
            <a:extLst/>
          </a:blip>
          <a:stretch>
            <a:fillRect/>
          </a:stretch>
        </p:blipFill>
        <p:spPr>
          <a:xfrm>
            <a:off x="18161000" y="7150100"/>
            <a:ext cx="1536700" cy="2476500"/>
          </a:xfrm>
          <a:prstGeom prst="rect">
            <a:avLst/>
          </a:prstGeom>
          <a:ln w="12700">
            <a:miter lim="400000"/>
          </a:ln>
        </p:spPr>
      </p:pic>
      <p:sp>
        <p:nvSpPr>
          <p:cNvPr id="807" name="Your data"/>
          <p:cNvSpPr txBox="1"/>
          <p:nvPr/>
        </p:nvSpPr>
        <p:spPr>
          <a:xfrm>
            <a:off x="16230600" y="7073900"/>
            <a:ext cx="1549400" cy="508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FFFFFF"/>
                </a:solidFill>
                <a:latin typeface="Geist Regular SemiBold"/>
                <a:ea typeface="Geist Regular SemiBold"/>
                <a:cs typeface="Geist Regular SemiBold"/>
                <a:sym typeface="Geist Regular SemiBold"/>
              </a:defRPr>
            </a:lvl1pPr>
          </a:lstStyle>
          <a:p>
            <a:pPr/>
            <a:r>
              <a:t>Your data</a:t>
            </a:r>
          </a:p>
        </p:txBody>
      </p:sp>
      <p:sp>
        <p:nvSpPr>
          <p:cNvPr id="808" name="Read it"/>
          <p:cNvSpPr txBox="1"/>
          <p:nvPr/>
        </p:nvSpPr>
        <p:spPr>
          <a:xfrm>
            <a:off x="20853400" y="4902200"/>
            <a:ext cx="18034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Read it</a:t>
            </a:r>
          </a:p>
        </p:txBody>
      </p:sp>
      <p:sp>
        <p:nvSpPr>
          <p:cNvPr id="809" name="Back it up"/>
          <p:cNvSpPr txBox="1"/>
          <p:nvPr/>
        </p:nvSpPr>
        <p:spPr>
          <a:xfrm>
            <a:off x="20853400" y="7061200"/>
            <a:ext cx="18034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Back it up</a:t>
            </a:r>
          </a:p>
        </p:txBody>
      </p:sp>
      <p:sp>
        <p:nvSpPr>
          <p:cNvPr id="810" name="Move it"/>
          <p:cNvSpPr txBox="1"/>
          <p:nvPr/>
        </p:nvSpPr>
        <p:spPr>
          <a:xfrm>
            <a:off x="20853400" y="9220200"/>
            <a:ext cx="18034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Move it</a:t>
            </a:r>
          </a:p>
        </p:txBody>
      </p:sp>
      <p:pic>
        <p:nvPicPr>
          <p:cNvPr id="811" name="prog-18.png" descr="prog-18.png"/>
          <p:cNvPicPr>
            <a:picLocks noChangeAspect="1"/>
          </p:cNvPicPr>
          <p:nvPr/>
        </p:nvPicPr>
        <p:blipFill>
          <a:blip r:embed="rId15">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815"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816" name="True portability, move any time"/>
          <p:cNvSpPr txBox="1"/>
          <p:nvPr/>
        </p:nvSpPr>
        <p:spPr>
          <a:xfrm>
            <a:off x="1308100" y="2984499"/>
            <a:ext cx="22707600" cy="1714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7600">
                <a:solidFill>
                  <a:srgbClr val="220D44"/>
                </a:solidFill>
                <a:latin typeface="Unbounded Regular ExtraBold"/>
                <a:ea typeface="Unbounded Regular ExtraBold"/>
                <a:cs typeface="Unbounded Regular ExtraBold"/>
                <a:sym typeface="Unbounded Regular ExtraBold"/>
              </a:defRPr>
            </a:pPr>
            <a:r>
              <a:t>True portability, </a:t>
            </a:r>
            <a:r>
              <a:rPr i="1" sz="9800">
                <a:solidFill>
                  <a:srgbClr val="6033A6"/>
                </a:solidFill>
                <a:latin typeface="Instrument Serif Regular"/>
                <a:ea typeface="Instrument Serif Regular"/>
                <a:cs typeface="Instrument Serif Regular"/>
                <a:sym typeface="Instrument Serif Regular"/>
              </a:rPr>
              <a:t>move any time</a:t>
            </a:r>
          </a:p>
        </p:txBody>
      </p:sp>
      <p:sp>
        <p:nvSpPr>
          <p:cNvPr id="817"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818" name="viz-15-00.svg" descr="viz-15-00.svg"/>
          <p:cNvPicPr>
            <a:picLocks noChangeAspect="1"/>
          </p:cNvPicPr>
          <p:nvPr/>
        </p:nvPicPr>
        <p:blipFill>
          <a:blip r:embed="rId4">
            <a:extLst/>
          </a:blip>
          <a:stretch>
            <a:fillRect/>
          </a:stretch>
        </p:blipFill>
        <p:spPr>
          <a:xfrm>
            <a:off x="1168400" y="4978400"/>
            <a:ext cx="7429500" cy="5549900"/>
          </a:xfrm>
          <a:prstGeom prst="rect">
            <a:avLst/>
          </a:prstGeom>
          <a:ln w="12700">
            <a:miter lim="400000"/>
          </a:ln>
        </p:spPr>
      </p:pic>
      <p:pic>
        <p:nvPicPr>
          <p:cNvPr id="819" name="viz-15-01.svg" descr="viz-15-01.svg"/>
          <p:cNvPicPr>
            <a:picLocks noChangeAspect="1"/>
          </p:cNvPicPr>
          <p:nvPr/>
        </p:nvPicPr>
        <p:blipFill>
          <a:blip r:embed="rId5">
            <a:extLst/>
          </a:blip>
          <a:stretch>
            <a:fillRect/>
          </a:stretch>
        </p:blipFill>
        <p:spPr>
          <a:xfrm>
            <a:off x="1422400" y="5232400"/>
            <a:ext cx="6921500" cy="1308100"/>
          </a:xfrm>
          <a:prstGeom prst="rect">
            <a:avLst/>
          </a:prstGeom>
          <a:ln w="12700">
            <a:miter lim="400000"/>
          </a:ln>
        </p:spPr>
      </p:pic>
      <p:pic>
        <p:nvPicPr>
          <p:cNvPr id="820" name="viz-15-02.svg" descr="viz-15-02.svg"/>
          <p:cNvPicPr>
            <a:picLocks noChangeAspect="1"/>
          </p:cNvPicPr>
          <p:nvPr/>
        </p:nvPicPr>
        <p:blipFill>
          <a:blip r:embed="rId6">
            <a:extLst/>
          </a:blip>
          <a:stretch>
            <a:fillRect/>
          </a:stretch>
        </p:blipFill>
        <p:spPr>
          <a:xfrm>
            <a:off x="1854200" y="5499100"/>
            <a:ext cx="711200" cy="762000"/>
          </a:xfrm>
          <a:prstGeom prst="rect">
            <a:avLst/>
          </a:prstGeom>
          <a:ln w="12700">
            <a:miter lim="400000"/>
          </a:ln>
        </p:spPr>
      </p:pic>
      <p:pic>
        <p:nvPicPr>
          <p:cNvPr id="821" name="viz-15-03.svg" descr="viz-15-03.svg"/>
          <p:cNvPicPr>
            <a:picLocks noChangeAspect="1"/>
          </p:cNvPicPr>
          <p:nvPr/>
        </p:nvPicPr>
        <p:blipFill>
          <a:blip r:embed="rId7">
            <a:extLst/>
          </a:blip>
          <a:stretch>
            <a:fillRect/>
          </a:stretch>
        </p:blipFill>
        <p:spPr>
          <a:xfrm>
            <a:off x="1422400" y="6477000"/>
            <a:ext cx="6921500" cy="1308100"/>
          </a:xfrm>
          <a:prstGeom prst="rect">
            <a:avLst/>
          </a:prstGeom>
          <a:ln w="12700">
            <a:miter lim="400000"/>
          </a:ln>
        </p:spPr>
      </p:pic>
      <p:pic>
        <p:nvPicPr>
          <p:cNvPr id="822" name="viz-15-04.svg" descr="viz-15-04.svg"/>
          <p:cNvPicPr>
            <a:picLocks noChangeAspect="1"/>
          </p:cNvPicPr>
          <p:nvPr/>
        </p:nvPicPr>
        <p:blipFill>
          <a:blip r:embed="rId8">
            <a:extLst/>
          </a:blip>
          <a:stretch>
            <a:fillRect/>
          </a:stretch>
        </p:blipFill>
        <p:spPr>
          <a:xfrm>
            <a:off x="1841500" y="6769100"/>
            <a:ext cx="736600" cy="711200"/>
          </a:xfrm>
          <a:prstGeom prst="rect">
            <a:avLst/>
          </a:prstGeom>
          <a:ln w="12700">
            <a:miter lim="400000"/>
          </a:ln>
        </p:spPr>
      </p:pic>
      <p:pic>
        <p:nvPicPr>
          <p:cNvPr id="823" name="viz-15-05.svg" descr="viz-15-05.svg"/>
          <p:cNvPicPr>
            <a:picLocks noChangeAspect="1"/>
          </p:cNvPicPr>
          <p:nvPr/>
        </p:nvPicPr>
        <p:blipFill>
          <a:blip r:embed="rId9">
            <a:extLst/>
          </a:blip>
          <a:stretch>
            <a:fillRect/>
          </a:stretch>
        </p:blipFill>
        <p:spPr>
          <a:xfrm>
            <a:off x="1422400" y="7721600"/>
            <a:ext cx="6921500" cy="1308100"/>
          </a:xfrm>
          <a:prstGeom prst="rect">
            <a:avLst/>
          </a:prstGeom>
          <a:ln w="12700">
            <a:miter lim="400000"/>
          </a:ln>
        </p:spPr>
      </p:pic>
      <p:pic>
        <p:nvPicPr>
          <p:cNvPr id="824" name="viz-15-06.svg" descr="viz-15-06.svg"/>
          <p:cNvPicPr>
            <a:picLocks noChangeAspect="1"/>
          </p:cNvPicPr>
          <p:nvPr/>
        </p:nvPicPr>
        <p:blipFill>
          <a:blip r:embed="rId10">
            <a:extLst/>
          </a:blip>
          <a:stretch>
            <a:fillRect/>
          </a:stretch>
        </p:blipFill>
        <p:spPr>
          <a:xfrm>
            <a:off x="1841500" y="7988300"/>
            <a:ext cx="736600" cy="762000"/>
          </a:xfrm>
          <a:prstGeom prst="rect">
            <a:avLst/>
          </a:prstGeom>
          <a:ln w="12700">
            <a:miter lim="400000"/>
          </a:ln>
        </p:spPr>
      </p:pic>
      <p:pic>
        <p:nvPicPr>
          <p:cNvPr id="825" name="viz-15-07.svg" descr="viz-15-07.svg"/>
          <p:cNvPicPr>
            <a:picLocks noChangeAspect="1"/>
          </p:cNvPicPr>
          <p:nvPr/>
        </p:nvPicPr>
        <p:blipFill>
          <a:blip r:embed="rId11">
            <a:extLst/>
          </a:blip>
          <a:stretch>
            <a:fillRect/>
          </a:stretch>
        </p:blipFill>
        <p:spPr>
          <a:xfrm>
            <a:off x="1422400" y="8966200"/>
            <a:ext cx="6921500" cy="1308100"/>
          </a:xfrm>
          <a:prstGeom prst="rect">
            <a:avLst/>
          </a:prstGeom>
          <a:ln w="12700">
            <a:miter lim="400000"/>
          </a:ln>
        </p:spPr>
      </p:pic>
      <p:pic>
        <p:nvPicPr>
          <p:cNvPr id="826" name="viz-15-08.svg" descr="viz-15-08.svg"/>
          <p:cNvPicPr>
            <a:picLocks noChangeAspect="1"/>
          </p:cNvPicPr>
          <p:nvPr/>
        </p:nvPicPr>
        <p:blipFill>
          <a:blip r:embed="rId12">
            <a:extLst/>
          </a:blip>
          <a:stretch>
            <a:fillRect/>
          </a:stretch>
        </p:blipFill>
        <p:spPr>
          <a:xfrm>
            <a:off x="1790700" y="9245600"/>
            <a:ext cx="838200" cy="736600"/>
          </a:xfrm>
          <a:prstGeom prst="rect">
            <a:avLst/>
          </a:prstGeom>
          <a:ln w="12700">
            <a:miter lim="400000"/>
          </a:ln>
        </p:spPr>
      </p:pic>
      <p:pic>
        <p:nvPicPr>
          <p:cNvPr id="827" name="viz-15-09.svg" descr="viz-15-09.svg"/>
          <p:cNvPicPr>
            <a:picLocks noChangeAspect="1"/>
          </p:cNvPicPr>
          <p:nvPr/>
        </p:nvPicPr>
        <p:blipFill>
          <a:blip r:embed="rId13">
            <a:extLst/>
          </a:blip>
          <a:stretch>
            <a:fillRect/>
          </a:stretch>
        </p:blipFill>
        <p:spPr>
          <a:xfrm>
            <a:off x="14325600" y="5105400"/>
            <a:ext cx="8851900" cy="1739900"/>
          </a:xfrm>
          <a:prstGeom prst="rect">
            <a:avLst/>
          </a:prstGeom>
          <a:ln w="12700">
            <a:miter lim="400000"/>
          </a:ln>
        </p:spPr>
      </p:pic>
      <p:pic>
        <p:nvPicPr>
          <p:cNvPr id="828" name="viz-15-10.svg" descr="viz-15-10.svg"/>
          <p:cNvPicPr>
            <a:picLocks noChangeAspect="1"/>
          </p:cNvPicPr>
          <p:nvPr/>
        </p:nvPicPr>
        <p:blipFill>
          <a:blip r:embed="rId14">
            <a:extLst/>
          </a:blip>
          <a:stretch>
            <a:fillRect/>
          </a:stretch>
        </p:blipFill>
        <p:spPr>
          <a:xfrm>
            <a:off x="14706600" y="5651500"/>
            <a:ext cx="850900" cy="685800"/>
          </a:xfrm>
          <a:prstGeom prst="rect">
            <a:avLst/>
          </a:prstGeom>
          <a:ln w="12700">
            <a:miter lim="400000"/>
          </a:ln>
        </p:spPr>
      </p:pic>
      <p:pic>
        <p:nvPicPr>
          <p:cNvPr id="829" name="viz-15-11.svg" descr="viz-15-11.svg"/>
          <p:cNvPicPr>
            <a:picLocks noChangeAspect="1"/>
          </p:cNvPicPr>
          <p:nvPr/>
        </p:nvPicPr>
        <p:blipFill>
          <a:blip r:embed="rId15">
            <a:extLst/>
          </a:blip>
          <a:stretch>
            <a:fillRect/>
          </a:stretch>
        </p:blipFill>
        <p:spPr>
          <a:xfrm>
            <a:off x="8559800" y="5816600"/>
            <a:ext cx="5880100" cy="1498600"/>
          </a:xfrm>
          <a:prstGeom prst="rect">
            <a:avLst/>
          </a:prstGeom>
          <a:ln w="12700">
            <a:miter lim="400000"/>
          </a:ln>
        </p:spPr>
      </p:pic>
      <p:pic>
        <p:nvPicPr>
          <p:cNvPr id="830" name="viz-15-12.svg" descr="viz-15-12.svg"/>
          <p:cNvPicPr>
            <a:picLocks noChangeAspect="1"/>
          </p:cNvPicPr>
          <p:nvPr/>
        </p:nvPicPr>
        <p:blipFill>
          <a:blip r:embed="rId16">
            <a:extLst/>
          </a:blip>
          <a:stretch>
            <a:fillRect/>
          </a:stretch>
        </p:blipFill>
        <p:spPr>
          <a:xfrm>
            <a:off x="14325600" y="6883400"/>
            <a:ext cx="8851900" cy="1739900"/>
          </a:xfrm>
          <a:prstGeom prst="rect">
            <a:avLst/>
          </a:prstGeom>
          <a:ln w="12700">
            <a:miter lim="400000"/>
          </a:ln>
        </p:spPr>
      </p:pic>
      <p:pic>
        <p:nvPicPr>
          <p:cNvPr id="831" name="viz-15-13.svg" descr="viz-15-13.svg"/>
          <p:cNvPicPr>
            <a:picLocks noChangeAspect="1"/>
          </p:cNvPicPr>
          <p:nvPr/>
        </p:nvPicPr>
        <p:blipFill>
          <a:blip r:embed="rId17">
            <a:extLst/>
          </a:blip>
          <a:stretch>
            <a:fillRect/>
          </a:stretch>
        </p:blipFill>
        <p:spPr>
          <a:xfrm>
            <a:off x="14732000" y="7327900"/>
            <a:ext cx="762000" cy="787400"/>
          </a:xfrm>
          <a:prstGeom prst="rect">
            <a:avLst/>
          </a:prstGeom>
          <a:ln w="12700">
            <a:miter lim="400000"/>
          </a:ln>
        </p:spPr>
      </p:pic>
      <p:pic>
        <p:nvPicPr>
          <p:cNvPr id="832" name="viz-15-14.svg" descr="viz-15-14.svg"/>
          <p:cNvPicPr>
            <a:picLocks noChangeAspect="1"/>
          </p:cNvPicPr>
          <p:nvPr/>
        </p:nvPicPr>
        <p:blipFill>
          <a:blip r:embed="rId18">
            <a:extLst/>
          </a:blip>
          <a:stretch>
            <a:fillRect/>
          </a:stretch>
        </p:blipFill>
        <p:spPr>
          <a:xfrm>
            <a:off x="8559800" y="7594600"/>
            <a:ext cx="5880100" cy="317500"/>
          </a:xfrm>
          <a:prstGeom prst="rect">
            <a:avLst/>
          </a:prstGeom>
          <a:ln w="12700">
            <a:miter lim="400000"/>
          </a:ln>
        </p:spPr>
      </p:pic>
      <p:pic>
        <p:nvPicPr>
          <p:cNvPr id="833" name="viz-15-15.svg" descr="viz-15-15.svg"/>
          <p:cNvPicPr>
            <a:picLocks noChangeAspect="1"/>
          </p:cNvPicPr>
          <p:nvPr/>
        </p:nvPicPr>
        <p:blipFill>
          <a:blip r:embed="rId19">
            <a:extLst/>
          </a:blip>
          <a:stretch>
            <a:fillRect/>
          </a:stretch>
        </p:blipFill>
        <p:spPr>
          <a:xfrm>
            <a:off x="14325600" y="8661400"/>
            <a:ext cx="8851900" cy="1739900"/>
          </a:xfrm>
          <a:prstGeom prst="rect">
            <a:avLst/>
          </a:prstGeom>
          <a:ln w="12700">
            <a:miter lim="400000"/>
          </a:ln>
        </p:spPr>
      </p:pic>
      <p:pic>
        <p:nvPicPr>
          <p:cNvPr id="834" name="viz-15-16.svg" descr="viz-15-16.svg"/>
          <p:cNvPicPr>
            <a:picLocks noChangeAspect="1"/>
          </p:cNvPicPr>
          <p:nvPr/>
        </p:nvPicPr>
        <p:blipFill>
          <a:blip r:embed="rId20">
            <a:extLst/>
          </a:blip>
          <a:stretch>
            <a:fillRect/>
          </a:stretch>
        </p:blipFill>
        <p:spPr>
          <a:xfrm>
            <a:off x="14693900" y="9156700"/>
            <a:ext cx="838200" cy="736600"/>
          </a:xfrm>
          <a:prstGeom prst="rect">
            <a:avLst/>
          </a:prstGeom>
          <a:ln w="12700">
            <a:miter lim="400000"/>
          </a:ln>
        </p:spPr>
      </p:pic>
      <p:pic>
        <p:nvPicPr>
          <p:cNvPr id="835" name="viz-15-17.svg" descr="viz-15-17.svg"/>
          <p:cNvPicPr>
            <a:picLocks noChangeAspect="1"/>
          </p:cNvPicPr>
          <p:nvPr/>
        </p:nvPicPr>
        <p:blipFill>
          <a:blip r:embed="rId21">
            <a:extLst/>
          </a:blip>
          <a:stretch>
            <a:fillRect/>
          </a:stretch>
        </p:blipFill>
        <p:spPr>
          <a:xfrm>
            <a:off x="8559800" y="8178800"/>
            <a:ext cx="5880100" cy="1511300"/>
          </a:xfrm>
          <a:prstGeom prst="rect">
            <a:avLst/>
          </a:prstGeom>
          <a:ln w="12700">
            <a:miter lim="400000"/>
          </a:ln>
        </p:spPr>
      </p:pic>
      <p:sp>
        <p:nvSpPr>
          <p:cNvPr id="836" name="Open source software"/>
          <p:cNvSpPr txBox="1"/>
          <p:nvPr/>
        </p:nvSpPr>
        <p:spPr>
          <a:xfrm>
            <a:off x="2768600" y="5638800"/>
            <a:ext cx="51054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Open source software</a:t>
            </a:r>
          </a:p>
        </p:txBody>
      </p:sp>
      <p:sp>
        <p:nvSpPr>
          <p:cNvPr id="837" name="Your own servers"/>
          <p:cNvSpPr txBox="1"/>
          <p:nvPr/>
        </p:nvSpPr>
        <p:spPr>
          <a:xfrm>
            <a:off x="2768600" y="6883400"/>
            <a:ext cx="51054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Your own servers</a:t>
            </a:r>
          </a:p>
        </p:txBody>
      </p:sp>
      <p:sp>
        <p:nvSpPr>
          <p:cNvPr id="838" name="Your own data"/>
          <p:cNvSpPr txBox="1"/>
          <p:nvPr/>
        </p:nvSpPr>
        <p:spPr>
          <a:xfrm>
            <a:off x="2768600" y="8128000"/>
            <a:ext cx="51054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Your own data</a:t>
            </a:r>
          </a:p>
        </p:txBody>
      </p:sp>
      <p:sp>
        <p:nvSpPr>
          <p:cNvPr id="839" name="Open APIs"/>
          <p:cNvSpPr txBox="1"/>
          <p:nvPr/>
        </p:nvSpPr>
        <p:spPr>
          <a:xfrm>
            <a:off x="2768600" y="9372600"/>
            <a:ext cx="51054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Open APIs</a:t>
            </a:r>
          </a:p>
        </p:txBody>
      </p:sp>
      <p:sp>
        <p:nvSpPr>
          <p:cNvPr id="840" name="Another provider"/>
          <p:cNvSpPr txBox="1"/>
          <p:nvPr/>
        </p:nvSpPr>
        <p:spPr>
          <a:xfrm>
            <a:off x="15671800" y="5524500"/>
            <a:ext cx="70358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Another provider</a:t>
            </a:r>
          </a:p>
        </p:txBody>
      </p:sp>
      <p:sp>
        <p:nvSpPr>
          <p:cNvPr id="841" name="Copy the files and databases, and go."/>
          <p:cNvSpPr txBox="1"/>
          <p:nvPr/>
        </p:nvSpPr>
        <p:spPr>
          <a:xfrm>
            <a:off x="15671800" y="5968999"/>
            <a:ext cx="7035800" cy="45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3D2644"/>
                </a:solidFill>
                <a:latin typeface="Geist Regular Regular"/>
                <a:ea typeface="Geist Regular Regular"/>
                <a:cs typeface="Geist Regular Regular"/>
                <a:sym typeface="Geist Regular Regular"/>
              </a:defRPr>
            </a:lvl1pPr>
          </a:lstStyle>
          <a:p>
            <a:pPr/>
            <a:r>
              <a:t>Copy the files and databases, and go.</a:t>
            </a:r>
          </a:p>
        </p:txBody>
      </p:sp>
      <p:sp>
        <p:nvSpPr>
          <p:cNvPr id="842" name="Any tool, with AI"/>
          <p:cNvSpPr txBox="1"/>
          <p:nvPr/>
        </p:nvSpPr>
        <p:spPr>
          <a:xfrm>
            <a:off x="15671800" y="7150100"/>
            <a:ext cx="70358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Any tool, with AI</a:t>
            </a:r>
          </a:p>
        </p:txBody>
      </p:sp>
      <p:sp>
        <p:nvSpPr>
          <p:cNvPr id="843" name="With a proper API, an MCP server can move data in any direction."/>
          <p:cNvSpPr txBox="1"/>
          <p:nvPr/>
        </p:nvSpPr>
        <p:spPr>
          <a:xfrm>
            <a:off x="15671800" y="7569199"/>
            <a:ext cx="7035800" cy="7772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200">
                <a:solidFill>
                  <a:srgbClr val="3D2644"/>
                </a:solidFill>
                <a:latin typeface="Geist Regular Regular"/>
                <a:ea typeface="Geist Regular Regular"/>
                <a:cs typeface="Geist Regular Regular"/>
                <a:sym typeface="Geist Regular Regular"/>
              </a:defRPr>
            </a:pPr>
            <a:r>
              <a:t>With a proper API, an MCP server can</a:t>
            </a:r>
            <a:br/>
            <a:r>
              <a:t>move data in any direction.</a:t>
            </a:r>
          </a:p>
        </p:txBody>
      </p:sp>
      <p:sp>
        <p:nvSpPr>
          <p:cNvPr id="844" name="Nobody watching"/>
          <p:cNvSpPr txBox="1"/>
          <p:nvPr/>
        </p:nvSpPr>
        <p:spPr>
          <a:xfrm>
            <a:off x="15671800" y="8928100"/>
            <a:ext cx="7035800" cy="533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220D44"/>
                </a:solidFill>
                <a:latin typeface="Geist Regular SemiBold"/>
                <a:ea typeface="Geist Regular SemiBold"/>
                <a:cs typeface="Geist Regular SemiBold"/>
                <a:sym typeface="Geist Regular SemiBold"/>
              </a:defRPr>
            </a:lvl1pPr>
          </a:lstStyle>
          <a:p>
            <a:pPr/>
            <a:r>
              <a:t>Nobody watching</a:t>
            </a:r>
          </a:p>
        </p:txBody>
      </p:sp>
      <p:sp>
        <p:nvSpPr>
          <p:cNvPr id="845" name="Nobody else reads the data on your own servers."/>
          <p:cNvSpPr txBox="1"/>
          <p:nvPr/>
        </p:nvSpPr>
        <p:spPr>
          <a:xfrm>
            <a:off x="15671800" y="9372599"/>
            <a:ext cx="7035800" cy="7772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200">
                <a:solidFill>
                  <a:srgbClr val="3D2644"/>
                </a:solidFill>
                <a:latin typeface="Geist Regular Regular"/>
                <a:ea typeface="Geist Regular Regular"/>
                <a:cs typeface="Geist Regular Regular"/>
                <a:sym typeface="Geist Regular Regular"/>
              </a:defRPr>
            </a:pPr>
            <a:r>
              <a:t>Nobody else reads the data</a:t>
            </a:r>
            <a:br/>
            <a:r>
              <a:t>on your own servers.</a:t>
            </a:r>
          </a:p>
        </p:txBody>
      </p:sp>
      <p:pic>
        <p:nvPicPr>
          <p:cNvPr id="846" name="prog-19.png" descr="prog-19.png"/>
          <p:cNvPicPr>
            <a:picLocks noChangeAspect="1"/>
          </p:cNvPicPr>
          <p:nvPr/>
        </p:nvPicPr>
        <p:blipFill>
          <a:blip r:embed="rId22">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850"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851" name="We still depend on others"/>
          <p:cNvSpPr txBox="1"/>
          <p:nvPr/>
        </p:nvSpPr>
        <p:spPr>
          <a:xfrm>
            <a:off x="1308100" y="2692399"/>
            <a:ext cx="22707600" cy="1714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7600">
                <a:solidFill>
                  <a:srgbClr val="220D44"/>
                </a:solidFill>
                <a:latin typeface="Unbounded Regular ExtraBold"/>
                <a:ea typeface="Unbounded Regular ExtraBold"/>
                <a:cs typeface="Unbounded Regular ExtraBold"/>
                <a:sym typeface="Unbounded Regular ExtraBold"/>
              </a:defRPr>
            </a:pPr>
            <a:r>
              <a:t>We still depend </a:t>
            </a:r>
            <a:r>
              <a:rPr i="1" sz="9800">
                <a:solidFill>
                  <a:srgbClr val="6033A6"/>
                </a:solidFill>
                <a:latin typeface="Instrument Serif Regular"/>
                <a:ea typeface="Instrument Serif Regular"/>
                <a:cs typeface="Instrument Serif Regular"/>
                <a:sym typeface="Instrument Serif Regular"/>
              </a:rPr>
              <a:t>on others</a:t>
            </a:r>
          </a:p>
        </p:txBody>
      </p:sp>
      <p:sp>
        <p:nvSpPr>
          <p:cNvPr id="852" name="DNS and CDN"/>
          <p:cNvSpPr txBox="1"/>
          <p:nvPr/>
        </p:nvSpPr>
        <p:spPr>
          <a:xfrm>
            <a:off x="1295400" y="4813299"/>
            <a:ext cx="10744200" cy="762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200">
                <a:solidFill>
                  <a:srgbClr val="6033A6"/>
                </a:solidFill>
                <a:latin typeface="Unbounded Regular SemiBold"/>
                <a:ea typeface="Unbounded Regular SemiBold"/>
                <a:cs typeface="Unbounded Regular SemiBold"/>
                <a:sym typeface="Unbounded Regular SemiBold"/>
              </a:defRPr>
            </a:lvl1pPr>
          </a:lstStyle>
          <a:p>
            <a:pPr/>
            <a:r>
              <a:t>DNS and CDN</a:t>
            </a:r>
          </a:p>
        </p:txBody>
      </p:sp>
      <p:sp>
        <p:nvSpPr>
          <p:cNvPr id="853" name="Cloudflare and similar for DNS and caching."/>
          <p:cNvSpPr txBox="1"/>
          <p:nvPr/>
        </p:nvSpPr>
        <p:spPr>
          <a:xfrm>
            <a:off x="1320800" y="5638800"/>
            <a:ext cx="9730234" cy="660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solidFill>
                  <a:srgbClr val="3D2644"/>
                </a:solidFill>
                <a:latin typeface="Geist Regular Regular"/>
                <a:ea typeface="Geist Regular Regular"/>
                <a:cs typeface="Geist Regular Regular"/>
                <a:sym typeface="Geist Regular Regular"/>
              </a:defRPr>
            </a:lvl1pPr>
          </a:lstStyle>
          <a:p>
            <a:pPr/>
            <a:r>
              <a:t>Cloudflare and similar for DNS and caching.</a:t>
            </a:r>
          </a:p>
        </p:txBody>
      </p:sp>
      <p:sp>
        <p:nvSpPr>
          <p:cNvPr id="854" name="Email"/>
          <p:cNvSpPr txBox="1"/>
          <p:nvPr/>
        </p:nvSpPr>
        <p:spPr>
          <a:xfrm>
            <a:off x="12801600" y="4813299"/>
            <a:ext cx="10744200" cy="762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200">
                <a:solidFill>
                  <a:srgbClr val="6033A6"/>
                </a:solidFill>
                <a:latin typeface="Unbounded Regular SemiBold"/>
                <a:ea typeface="Unbounded Regular SemiBold"/>
                <a:cs typeface="Unbounded Regular SemiBold"/>
                <a:sym typeface="Unbounded Regular SemiBold"/>
              </a:defRPr>
            </a:lvl1pPr>
          </a:lstStyle>
          <a:p>
            <a:pPr/>
            <a:r>
              <a:t>Email</a:t>
            </a:r>
          </a:p>
        </p:txBody>
      </p:sp>
      <p:sp>
        <p:nvSpPr>
          <p:cNvPr id="855" name="Mailgun, SendGrid, large services for reputation. Delivery depends on the large mail providers."/>
          <p:cNvSpPr txBox="1"/>
          <p:nvPr/>
        </p:nvSpPr>
        <p:spPr>
          <a:xfrm>
            <a:off x="12827000" y="5638799"/>
            <a:ext cx="9841811" cy="11633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solidFill>
                  <a:srgbClr val="3D2644"/>
                </a:solidFill>
                <a:latin typeface="Geist Regular Regular"/>
                <a:ea typeface="Geist Regular Regular"/>
                <a:cs typeface="Geist Regular Regular"/>
                <a:sym typeface="Geist Regular Regular"/>
              </a:defRPr>
            </a:lvl1pPr>
          </a:lstStyle>
          <a:p>
            <a:pPr/>
            <a:r>
              <a:t>Mailgun, SendGrid, large services for reputation. Delivery depends on the large mail providers.</a:t>
            </a:r>
          </a:p>
        </p:txBody>
      </p:sp>
      <p:sp>
        <p:nvSpPr>
          <p:cNvPr id="856" name="Code and tools"/>
          <p:cNvSpPr txBox="1"/>
          <p:nvPr/>
        </p:nvSpPr>
        <p:spPr>
          <a:xfrm>
            <a:off x="1295400" y="7213600"/>
            <a:ext cx="10744200" cy="762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200">
                <a:solidFill>
                  <a:srgbClr val="6033A6"/>
                </a:solidFill>
                <a:latin typeface="Unbounded Regular SemiBold"/>
                <a:ea typeface="Unbounded Regular SemiBold"/>
                <a:cs typeface="Unbounded Regular SemiBold"/>
                <a:sym typeface="Unbounded Regular SemiBold"/>
              </a:defRPr>
            </a:lvl1pPr>
          </a:lstStyle>
          <a:p>
            <a:pPr/>
            <a:r>
              <a:t>Code and tools</a:t>
            </a:r>
          </a:p>
        </p:txBody>
      </p:sp>
      <p:sp>
        <p:nvSpPr>
          <p:cNvPr id="857" name="GitHub for code, Better Stack for uptime, Let's Encrypt for certificates."/>
          <p:cNvSpPr txBox="1"/>
          <p:nvPr/>
        </p:nvSpPr>
        <p:spPr>
          <a:xfrm>
            <a:off x="1320800" y="8039099"/>
            <a:ext cx="8757591" cy="11633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solidFill>
                  <a:srgbClr val="3D2644"/>
                </a:solidFill>
                <a:latin typeface="Geist Regular Regular"/>
                <a:ea typeface="Geist Regular Regular"/>
                <a:cs typeface="Geist Regular Regular"/>
                <a:sym typeface="Geist Regular Regular"/>
              </a:defRPr>
            </a:lvl1pPr>
          </a:lstStyle>
          <a:p>
            <a:pPr/>
            <a:r>
              <a:t>GitHub for code, Better Stack for uptime, Let's Encrypt for certificates.</a:t>
            </a:r>
          </a:p>
        </p:txBody>
      </p:sp>
      <p:sp>
        <p:nvSpPr>
          <p:cNvPr id="858" name="AI"/>
          <p:cNvSpPr txBox="1"/>
          <p:nvPr/>
        </p:nvSpPr>
        <p:spPr>
          <a:xfrm>
            <a:off x="12801600" y="7213600"/>
            <a:ext cx="10744200" cy="762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200">
                <a:solidFill>
                  <a:srgbClr val="6033A6"/>
                </a:solidFill>
                <a:latin typeface="Unbounded Regular SemiBold"/>
                <a:ea typeface="Unbounded Regular SemiBold"/>
                <a:cs typeface="Unbounded Regular SemiBold"/>
                <a:sym typeface="Unbounded Regular SemiBold"/>
              </a:defRPr>
            </a:lvl1pPr>
          </a:lstStyle>
          <a:p>
            <a:pPr/>
            <a:r>
              <a:t>AI</a:t>
            </a:r>
          </a:p>
        </p:txBody>
      </p:sp>
      <p:sp>
        <p:nvSpPr>
          <p:cNvPr id="859" name="Open-source AI requires powerful hardware and costs much more to host."/>
          <p:cNvSpPr txBox="1"/>
          <p:nvPr/>
        </p:nvSpPr>
        <p:spPr>
          <a:xfrm>
            <a:off x="12826999" y="8039099"/>
            <a:ext cx="9369454" cy="11633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solidFill>
                  <a:srgbClr val="3D2644"/>
                </a:solidFill>
                <a:latin typeface="Geist Regular Regular"/>
                <a:ea typeface="Geist Regular Regular"/>
                <a:cs typeface="Geist Regular Regular"/>
                <a:sym typeface="Geist Regular Regular"/>
              </a:defRPr>
            </a:lvl1pPr>
          </a:lstStyle>
          <a:p>
            <a:pPr/>
            <a:r>
              <a:t>Open-source AI requires powerful hardware and costs much more to host.</a:t>
            </a:r>
          </a:p>
        </p:txBody>
      </p:sp>
      <p:sp>
        <p:nvSpPr>
          <p:cNvPr id="860"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861" name="prog-20.png" descr="prog-20.png"/>
          <p:cNvPicPr>
            <a:picLocks noChangeAspect="1"/>
          </p:cNvPicPr>
          <p:nvPr/>
        </p:nvPicPr>
        <p:blipFill>
          <a:blip r:embed="rId4">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865"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866" name="Big tech has alternatives"/>
          <p:cNvSpPr txBox="1"/>
          <p:nvPr/>
        </p:nvSpPr>
        <p:spPr>
          <a:xfrm>
            <a:off x="1308100" y="2692399"/>
            <a:ext cx="22707600" cy="1714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7600">
                <a:solidFill>
                  <a:srgbClr val="220D44"/>
                </a:solidFill>
                <a:latin typeface="Unbounded Regular ExtraBold"/>
                <a:ea typeface="Unbounded Regular ExtraBold"/>
                <a:cs typeface="Unbounded Regular ExtraBold"/>
                <a:sym typeface="Unbounded Regular ExtraBold"/>
              </a:defRPr>
            </a:pPr>
            <a:r>
              <a:t>Big tech has </a:t>
            </a:r>
            <a:r>
              <a:rPr i="1" sz="9800">
                <a:solidFill>
                  <a:srgbClr val="6033A6"/>
                </a:solidFill>
                <a:latin typeface="Instrument Serif Regular"/>
                <a:ea typeface="Instrument Serif Regular"/>
                <a:cs typeface="Instrument Serif Regular"/>
                <a:sym typeface="Instrument Serif Regular"/>
              </a:rPr>
              <a:t>alternatives</a:t>
            </a:r>
          </a:p>
        </p:txBody>
      </p:sp>
      <p:sp>
        <p:nvSpPr>
          <p:cNvPr id="867"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868" name="viz-21-00.svg" descr="viz-21-00.svg"/>
          <p:cNvPicPr>
            <a:picLocks noChangeAspect="1"/>
          </p:cNvPicPr>
          <p:nvPr/>
        </p:nvPicPr>
        <p:blipFill>
          <a:blip r:embed="rId4">
            <a:extLst/>
          </a:blip>
          <a:stretch>
            <a:fillRect/>
          </a:stretch>
        </p:blipFill>
        <p:spPr>
          <a:xfrm>
            <a:off x="1168400" y="5435600"/>
            <a:ext cx="5905500" cy="1231900"/>
          </a:xfrm>
          <a:prstGeom prst="rect">
            <a:avLst/>
          </a:prstGeom>
          <a:ln w="12700">
            <a:miter lim="400000"/>
          </a:ln>
        </p:spPr>
      </p:pic>
      <p:pic>
        <p:nvPicPr>
          <p:cNvPr id="869" name="viz-21-01.svg" descr="viz-21-01.svg"/>
          <p:cNvPicPr>
            <a:picLocks noChangeAspect="1"/>
          </p:cNvPicPr>
          <p:nvPr/>
        </p:nvPicPr>
        <p:blipFill>
          <a:blip r:embed="rId5">
            <a:extLst/>
          </a:blip>
          <a:stretch>
            <a:fillRect/>
          </a:stretch>
        </p:blipFill>
        <p:spPr>
          <a:xfrm>
            <a:off x="6908800" y="5892800"/>
            <a:ext cx="952500" cy="317500"/>
          </a:xfrm>
          <a:prstGeom prst="rect">
            <a:avLst/>
          </a:prstGeom>
          <a:ln w="12700">
            <a:miter lim="400000"/>
          </a:ln>
        </p:spPr>
      </p:pic>
      <p:pic>
        <p:nvPicPr>
          <p:cNvPr id="870" name="viz-21-02.svg" descr="viz-21-02.svg"/>
          <p:cNvPicPr>
            <a:picLocks noChangeAspect="1"/>
          </p:cNvPicPr>
          <p:nvPr/>
        </p:nvPicPr>
        <p:blipFill>
          <a:blip r:embed="rId6">
            <a:extLst/>
          </a:blip>
          <a:stretch>
            <a:fillRect/>
          </a:stretch>
        </p:blipFill>
        <p:spPr>
          <a:xfrm>
            <a:off x="7721600" y="5435600"/>
            <a:ext cx="6921500" cy="1231900"/>
          </a:xfrm>
          <a:prstGeom prst="rect">
            <a:avLst/>
          </a:prstGeom>
          <a:ln w="12700">
            <a:miter lim="400000"/>
          </a:ln>
        </p:spPr>
      </p:pic>
      <p:pic>
        <p:nvPicPr>
          <p:cNvPr id="871" name="viz-21-03.svg" descr="viz-21-03.svg"/>
          <p:cNvPicPr>
            <a:picLocks noChangeAspect="1"/>
          </p:cNvPicPr>
          <p:nvPr/>
        </p:nvPicPr>
        <p:blipFill>
          <a:blip r:embed="rId7">
            <a:extLst/>
          </a:blip>
          <a:stretch>
            <a:fillRect/>
          </a:stretch>
        </p:blipFill>
        <p:spPr>
          <a:xfrm>
            <a:off x="1168400" y="6604000"/>
            <a:ext cx="5905500" cy="1231900"/>
          </a:xfrm>
          <a:prstGeom prst="rect">
            <a:avLst/>
          </a:prstGeom>
          <a:ln w="12700">
            <a:miter lim="400000"/>
          </a:ln>
        </p:spPr>
      </p:pic>
      <p:pic>
        <p:nvPicPr>
          <p:cNvPr id="872" name="viz-21-04.svg" descr="viz-21-04.svg"/>
          <p:cNvPicPr>
            <a:picLocks noChangeAspect="1"/>
          </p:cNvPicPr>
          <p:nvPr/>
        </p:nvPicPr>
        <p:blipFill>
          <a:blip r:embed="rId8">
            <a:extLst/>
          </a:blip>
          <a:stretch>
            <a:fillRect/>
          </a:stretch>
        </p:blipFill>
        <p:spPr>
          <a:xfrm>
            <a:off x="6908800" y="7061200"/>
            <a:ext cx="952500" cy="317500"/>
          </a:xfrm>
          <a:prstGeom prst="rect">
            <a:avLst/>
          </a:prstGeom>
          <a:ln w="12700">
            <a:miter lim="400000"/>
          </a:ln>
        </p:spPr>
      </p:pic>
      <p:pic>
        <p:nvPicPr>
          <p:cNvPr id="873" name="viz-21-05.svg" descr="viz-21-05.svg"/>
          <p:cNvPicPr>
            <a:picLocks noChangeAspect="1"/>
          </p:cNvPicPr>
          <p:nvPr/>
        </p:nvPicPr>
        <p:blipFill>
          <a:blip r:embed="rId9">
            <a:extLst/>
          </a:blip>
          <a:stretch>
            <a:fillRect/>
          </a:stretch>
        </p:blipFill>
        <p:spPr>
          <a:xfrm>
            <a:off x="7721600" y="6604000"/>
            <a:ext cx="6921500" cy="1231900"/>
          </a:xfrm>
          <a:prstGeom prst="rect">
            <a:avLst/>
          </a:prstGeom>
          <a:ln w="12700">
            <a:miter lim="400000"/>
          </a:ln>
        </p:spPr>
      </p:pic>
      <p:pic>
        <p:nvPicPr>
          <p:cNvPr id="874" name="viz-21-06.svg" descr="viz-21-06.svg"/>
          <p:cNvPicPr>
            <a:picLocks noChangeAspect="1"/>
          </p:cNvPicPr>
          <p:nvPr/>
        </p:nvPicPr>
        <p:blipFill>
          <a:blip r:embed="rId10">
            <a:extLst/>
          </a:blip>
          <a:stretch>
            <a:fillRect/>
          </a:stretch>
        </p:blipFill>
        <p:spPr>
          <a:xfrm>
            <a:off x="1168400" y="7772400"/>
            <a:ext cx="5905500" cy="1231900"/>
          </a:xfrm>
          <a:prstGeom prst="rect">
            <a:avLst/>
          </a:prstGeom>
          <a:ln w="12700">
            <a:miter lim="400000"/>
          </a:ln>
        </p:spPr>
      </p:pic>
      <p:pic>
        <p:nvPicPr>
          <p:cNvPr id="875" name="viz-21-07.svg" descr="viz-21-07.svg"/>
          <p:cNvPicPr>
            <a:picLocks noChangeAspect="1"/>
          </p:cNvPicPr>
          <p:nvPr/>
        </p:nvPicPr>
        <p:blipFill>
          <a:blip r:embed="rId11">
            <a:extLst/>
          </a:blip>
          <a:stretch>
            <a:fillRect/>
          </a:stretch>
        </p:blipFill>
        <p:spPr>
          <a:xfrm>
            <a:off x="6908800" y="8229600"/>
            <a:ext cx="952500" cy="317500"/>
          </a:xfrm>
          <a:prstGeom prst="rect">
            <a:avLst/>
          </a:prstGeom>
          <a:ln w="12700">
            <a:miter lim="400000"/>
          </a:ln>
        </p:spPr>
      </p:pic>
      <p:pic>
        <p:nvPicPr>
          <p:cNvPr id="876" name="viz-21-08.svg" descr="viz-21-08.svg"/>
          <p:cNvPicPr>
            <a:picLocks noChangeAspect="1"/>
          </p:cNvPicPr>
          <p:nvPr/>
        </p:nvPicPr>
        <p:blipFill>
          <a:blip r:embed="rId12">
            <a:extLst/>
          </a:blip>
          <a:stretch>
            <a:fillRect/>
          </a:stretch>
        </p:blipFill>
        <p:spPr>
          <a:xfrm>
            <a:off x="7721600" y="7772400"/>
            <a:ext cx="6921500" cy="1231900"/>
          </a:xfrm>
          <a:prstGeom prst="rect">
            <a:avLst/>
          </a:prstGeom>
          <a:ln w="12700">
            <a:miter lim="400000"/>
          </a:ln>
        </p:spPr>
      </p:pic>
      <p:pic>
        <p:nvPicPr>
          <p:cNvPr id="877" name="viz-21-09.svg" descr="viz-21-09.svg"/>
          <p:cNvPicPr>
            <a:picLocks noChangeAspect="1"/>
          </p:cNvPicPr>
          <p:nvPr/>
        </p:nvPicPr>
        <p:blipFill>
          <a:blip r:embed="rId13">
            <a:extLst/>
          </a:blip>
          <a:stretch>
            <a:fillRect/>
          </a:stretch>
        </p:blipFill>
        <p:spPr>
          <a:xfrm>
            <a:off x="1168400" y="8940800"/>
            <a:ext cx="5905500" cy="1231900"/>
          </a:xfrm>
          <a:prstGeom prst="rect">
            <a:avLst/>
          </a:prstGeom>
          <a:ln w="12700">
            <a:miter lim="400000"/>
          </a:ln>
        </p:spPr>
      </p:pic>
      <p:pic>
        <p:nvPicPr>
          <p:cNvPr id="878" name="viz-21-10.svg" descr="viz-21-10.svg"/>
          <p:cNvPicPr>
            <a:picLocks noChangeAspect="1"/>
          </p:cNvPicPr>
          <p:nvPr/>
        </p:nvPicPr>
        <p:blipFill>
          <a:blip r:embed="rId14">
            <a:extLst/>
          </a:blip>
          <a:stretch>
            <a:fillRect/>
          </a:stretch>
        </p:blipFill>
        <p:spPr>
          <a:xfrm>
            <a:off x="6908800" y="9398000"/>
            <a:ext cx="952500" cy="317500"/>
          </a:xfrm>
          <a:prstGeom prst="rect">
            <a:avLst/>
          </a:prstGeom>
          <a:ln w="12700">
            <a:miter lim="400000"/>
          </a:ln>
        </p:spPr>
      </p:pic>
      <p:pic>
        <p:nvPicPr>
          <p:cNvPr id="879" name="viz-21-11.svg" descr="viz-21-11.svg"/>
          <p:cNvPicPr>
            <a:picLocks noChangeAspect="1"/>
          </p:cNvPicPr>
          <p:nvPr/>
        </p:nvPicPr>
        <p:blipFill>
          <a:blip r:embed="rId15">
            <a:extLst/>
          </a:blip>
          <a:stretch>
            <a:fillRect/>
          </a:stretch>
        </p:blipFill>
        <p:spPr>
          <a:xfrm>
            <a:off x="7721600" y="8940800"/>
            <a:ext cx="6921500" cy="1231900"/>
          </a:xfrm>
          <a:prstGeom prst="rect">
            <a:avLst/>
          </a:prstGeom>
          <a:ln w="12700">
            <a:miter lim="400000"/>
          </a:ln>
        </p:spPr>
      </p:pic>
      <p:pic>
        <p:nvPicPr>
          <p:cNvPr id="880" name="viz-21-12.svg" descr="viz-21-12.svg"/>
          <p:cNvPicPr>
            <a:picLocks noChangeAspect="1"/>
          </p:cNvPicPr>
          <p:nvPr/>
        </p:nvPicPr>
        <p:blipFill>
          <a:blip r:embed="rId16">
            <a:extLst/>
          </a:blip>
          <a:stretch>
            <a:fillRect/>
          </a:stretch>
        </p:blipFill>
        <p:spPr>
          <a:xfrm>
            <a:off x="1168400" y="10109200"/>
            <a:ext cx="5905500" cy="1231900"/>
          </a:xfrm>
          <a:prstGeom prst="rect">
            <a:avLst/>
          </a:prstGeom>
          <a:ln w="12700">
            <a:miter lim="400000"/>
          </a:ln>
        </p:spPr>
      </p:pic>
      <p:pic>
        <p:nvPicPr>
          <p:cNvPr id="881" name="viz-21-13.svg" descr="viz-21-13.svg"/>
          <p:cNvPicPr>
            <a:picLocks noChangeAspect="1"/>
          </p:cNvPicPr>
          <p:nvPr/>
        </p:nvPicPr>
        <p:blipFill>
          <a:blip r:embed="rId17">
            <a:extLst/>
          </a:blip>
          <a:stretch>
            <a:fillRect/>
          </a:stretch>
        </p:blipFill>
        <p:spPr>
          <a:xfrm>
            <a:off x="6908800" y="10566400"/>
            <a:ext cx="952500" cy="317500"/>
          </a:xfrm>
          <a:prstGeom prst="rect">
            <a:avLst/>
          </a:prstGeom>
          <a:ln w="12700">
            <a:miter lim="400000"/>
          </a:ln>
        </p:spPr>
      </p:pic>
      <p:pic>
        <p:nvPicPr>
          <p:cNvPr id="882" name="viz-21-14.svg" descr="viz-21-14.svg"/>
          <p:cNvPicPr>
            <a:picLocks noChangeAspect="1"/>
          </p:cNvPicPr>
          <p:nvPr/>
        </p:nvPicPr>
        <p:blipFill>
          <a:blip r:embed="rId18">
            <a:extLst/>
          </a:blip>
          <a:stretch>
            <a:fillRect/>
          </a:stretch>
        </p:blipFill>
        <p:spPr>
          <a:xfrm>
            <a:off x="7721600" y="10109200"/>
            <a:ext cx="6921500" cy="1231900"/>
          </a:xfrm>
          <a:prstGeom prst="rect">
            <a:avLst/>
          </a:prstGeom>
          <a:ln w="12700">
            <a:miter lim="400000"/>
          </a:ln>
        </p:spPr>
      </p:pic>
      <p:pic>
        <p:nvPicPr>
          <p:cNvPr id="883" name="viz-21-15.svg" descr="viz-21-15.svg"/>
          <p:cNvPicPr>
            <a:picLocks noChangeAspect="1"/>
          </p:cNvPicPr>
          <p:nvPr/>
        </p:nvPicPr>
        <p:blipFill>
          <a:blip r:embed="rId19">
            <a:extLst/>
          </a:blip>
          <a:stretch>
            <a:fillRect/>
          </a:stretch>
        </p:blipFill>
        <p:spPr>
          <a:xfrm>
            <a:off x="18126075" y="635000"/>
            <a:ext cx="5651500" cy="1638301"/>
          </a:xfrm>
          <a:prstGeom prst="rect">
            <a:avLst/>
          </a:prstGeom>
          <a:ln w="12700">
            <a:miter lim="400000"/>
          </a:ln>
        </p:spPr>
      </p:pic>
      <p:sp>
        <p:nvSpPr>
          <p:cNvPr id="884" name="Big tech"/>
          <p:cNvSpPr txBox="1"/>
          <p:nvPr/>
        </p:nvSpPr>
        <p:spPr>
          <a:xfrm>
            <a:off x="1320800" y="4826000"/>
            <a:ext cx="5588000" cy="546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6033A6"/>
                </a:solidFill>
                <a:latin typeface="Unbounded Regular SemiBold"/>
                <a:ea typeface="Unbounded Regular SemiBold"/>
                <a:cs typeface="Unbounded Regular SemiBold"/>
                <a:sym typeface="Unbounded Regular SemiBold"/>
              </a:defRPr>
            </a:lvl1pPr>
          </a:lstStyle>
          <a:p>
            <a:pPr/>
            <a:r>
              <a:t>Big tech</a:t>
            </a:r>
          </a:p>
        </p:txBody>
      </p:sp>
      <p:sp>
        <p:nvSpPr>
          <p:cNvPr id="885" name="European or self-hosted"/>
          <p:cNvSpPr txBox="1"/>
          <p:nvPr/>
        </p:nvSpPr>
        <p:spPr>
          <a:xfrm>
            <a:off x="7874000" y="4826000"/>
            <a:ext cx="6604000" cy="546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6033A6"/>
                </a:solidFill>
                <a:latin typeface="Unbounded Regular SemiBold"/>
                <a:ea typeface="Unbounded Regular SemiBold"/>
                <a:cs typeface="Unbounded Regular SemiBold"/>
                <a:sym typeface="Unbounded Regular SemiBold"/>
              </a:defRPr>
            </a:lvl1pPr>
          </a:lstStyle>
          <a:p>
            <a:pPr/>
            <a:r>
              <a:t>European or self-hosted</a:t>
            </a:r>
          </a:p>
        </p:txBody>
      </p:sp>
      <p:sp>
        <p:nvSpPr>
          <p:cNvPr id="886" name="The catch"/>
          <p:cNvSpPr txBox="1"/>
          <p:nvPr/>
        </p:nvSpPr>
        <p:spPr>
          <a:xfrm>
            <a:off x="14986000" y="4826000"/>
            <a:ext cx="7620000" cy="546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a:solidFill>
                  <a:srgbClr val="6033A6"/>
                </a:solidFill>
                <a:latin typeface="Unbounded Regular SemiBold"/>
                <a:ea typeface="Unbounded Regular SemiBold"/>
                <a:cs typeface="Unbounded Regular SemiBold"/>
                <a:sym typeface="Unbounded Regular SemiBold"/>
              </a:defRPr>
            </a:lvl1pPr>
          </a:lstStyle>
          <a:p>
            <a:pPr/>
            <a:r>
              <a:t>The catch</a:t>
            </a:r>
          </a:p>
        </p:txBody>
      </p:sp>
      <p:sp>
        <p:nvSpPr>
          <p:cNvPr id="887" name="Cloudflare"/>
          <p:cNvSpPr txBox="1"/>
          <p:nvPr/>
        </p:nvSpPr>
        <p:spPr>
          <a:xfrm>
            <a:off x="1625600" y="5816600"/>
            <a:ext cx="5080000" cy="508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220D44"/>
                </a:solidFill>
                <a:latin typeface="Geist Regular SemiBold"/>
                <a:ea typeface="Geist Regular SemiBold"/>
                <a:cs typeface="Geist Regular SemiBold"/>
                <a:sym typeface="Geist Regular SemiBold"/>
              </a:defRPr>
            </a:lvl1pPr>
          </a:lstStyle>
          <a:p>
            <a:pPr/>
            <a:r>
              <a:t>Cloudflare</a:t>
            </a:r>
          </a:p>
        </p:txBody>
      </p:sp>
      <p:sp>
        <p:nvSpPr>
          <p:cNvPr id="888" name="Bunny.net, Slovenia"/>
          <p:cNvSpPr txBox="1"/>
          <p:nvPr/>
        </p:nvSpPr>
        <p:spPr>
          <a:xfrm>
            <a:off x="8178800" y="5816600"/>
            <a:ext cx="6096000" cy="508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220D44"/>
                </a:solidFill>
                <a:latin typeface="Geist Regular SemiBold"/>
                <a:ea typeface="Geist Regular SemiBold"/>
                <a:cs typeface="Geist Regular SemiBold"/>
                <a:sym typeface="Geist Regular SemiBold"/>
              </a:defRPr>
            </a:lvl1pPr>
          </a:lstStyle>
          <a:p>
            <a:pPr/>
            <a:r>
              <a:t>Bunny.net, Slovenia</a:t>
            </a:r>
          </a:p>
        </p:txBody>
      </p:sp>
      <p:sp>
        <p:nvSpPr>
          <p:cNvPr id="889" name="Smaller network than Cloudflare."/>
          <p:cNvSpPr txBox="1"/>
          <p:nvPr/>
        </p:nvSpPr>
        <p:spPr>
          <a:xfrm>
            <a:off x="14986000" y="5816600"/>
            <a:ext cx="8128000" cy="4953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3D2644"/>
                </a:solidFill>
                <a:latin typeface="Geist Regular Regular"/>
                <a:ea typeface="Geist Regular Regular"/>
                <a:cs typeface="Geist Regular Regular"/>
                <a:sym typeface="Geist Regular Regular"/>
              </a:defRPr>
            </a:lvl1pPr>
          </a:lstStyle>
          <a:p>
            <a:pPr/>
            <a:r>
              <a:t>Smaller network than Cloudflare.</a:t>
            </a:r>
          </a:p>
        </p:txBody>
      </p:sp>
      <p:sp>
        <p:nvSpPr>
          <p:cNvPr id="890" name="Mailgun, SendGrid"/>
          <p:cNvSpPr txBox="1"/>
          <p:nvPr/>
        </p:nvSpPr>
        <p:spPr>
          <a:xfrm>
            <a:off x="1625600" y="6985000"/>
            <a:ext cx="5080000" cy="508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220D44"/>
                </a:solidFill>
                <a:latin typeface="Geist Regular SemiBold"/>
                <a:ea typeface="Geist Regular SemiBold"/>
                <a:cs typeface="Geist Regular SemiBold"/>
                <a:sym typeface="Geist Regular SemiBold"/>
              </a:defRPr>
            </a:lvl1pPr>
          </a:lstStyle>
          <a:p>
            <a:pPr/>
            <a:r>
              <a:t>Mailgun, SendGrid</a:t>
            </a:r>
          </a:p>
        </p:txBody>
      </p:sp>
      <p:sp>
        <p:nvSpPr>
          <p:cNvPr id="891" name="Brevo, France"/>
          <p:cNvSpPr txBox="1"/>
          <p:nvPr/>
        </p:nvSpPr>
        <p:spPr>
          <a:xfrm>
            <a:off x="8178800" y="6985000"/>
            <a:ext cx="6096000" cy="508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220D44"/>
                </a:solidFill>
                <a:latin typeface="Geist Regular SemiBold"/>
                <a:ea typeface="Geist Regular SemiBold"/>
                <a:cs typeface="Geist Regular SemiBold"/>
                <a:sym typeface="Geist Regular SemiBold"/>
              </a:defRPr>
            </a:lvl1pPr>
          </a:lstStyle>
          <a:p>
            <a:pPr/>
            <a:r>
              <a:t>Brevo, France</a:t>
            </a:r>
          </a:p>
        </p:txBody>
      </p:sp>
      <p:sp>
        <p:nvSpPr>
          <p:cNvPr id="892" name="Delivery still depends on Gmail and Outlook."/>
          <p:cNvSpPr txBox="1"/>
          <p:nvPr/>
        </p:nvSpPr>
        <p:spPr>
          <a:xfrm>
            <a:off x="14986000" y="6985000"/>
            <a:ext cx="8128000" cy="4953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3D2644"/>
                </a:solidFill>
                <a:latin typeface="Geist Regular Regular"/>
                <a:ea typeface="Geist Regular Regular"/>
                <a:cs typeface="Geist Regular Regular"/>
                <a:sym typeface="Geist Regular Regular"/>
              </a:defRPr>
            </a:lvl1pPr>
          </a:lstStyle>
          <a:p>
            <a:pPr/>
            <a:r>
              <a:t>Delivery still depends on Gmail and Outlook.</a:t>
            </a:r>
          </a:p>
        </p:txBody>
      </p:sp>
      <p:sp>
        <p:nvSpPr>
          <p:cNvPr id="893" name="GitHub"/>
          <p:cNvSpPr txBox="1"/>
          <p:nvPr/>
        </p:nvSpPr>
        <p:spPr>
          <a:xfrm>
            <a:off x="1625600" y="8153400"/>
            <a:ext cx="5080000" cy="508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220D44"/>
                </a:solidFill>
                <a:latin typeface="Geist Regular SemiBold"/>
                <a:ea typeface="Geist Regular SemiBold"/>
                <a:cs typeface="Geist Regular SemiBold"/>
                <a:sym typeface="Geist Regular SemiBold"/>
              </a:defRPr>
            </a:lvl1pPr>
          </a:lstStyle>
          <a:p>
            <a:pPr/>
            <a:r>
              <a:t>GitHub</a:t>
            </a:r>
          </a:p>
        </p:txBody>
      </p:sp>
      <p:sp>
        <p:nvSpPr>
          <p:cNvPr id="894" name="Codeberg, Germany, or Forgejo"/>
          <p:cNvSpPr txBox="1"/>
          <p:nvPr/>
        </p:nvSpPr>
        <p:spPr>
          <a:xfrm>
            <a:off x="8178800" y="8153400"/>
            <a:ext cx="6096000" cy="508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220D44"/>
                </a:solidFill>
                <a:latin typeface="Geist Regular SemiBold"/>
                <a:ea typeface="Geist Regular SemiBold"/>
                <a:cs typeface="Geist Regular SemiBold"/>
                <a:sym typeface="Geist Regular SemiBold"/>
              </a:defRPr>
            </a:lvl1pPr>
          </a:lstStyle>
          <a:p>
            <a:pPr/>
            <a:r>
              <a:t>Codeberg, Germany, or Forgejo</a:t>
            </a:r>
          </a:p>
        </p:txBody>
      </p:sp>
      <p:sp>
        <p:nvSpPr>
          <p:cNvPr id="895" name="Most open source projects still live on GitHub."/>
          <p:cNvSpPr txBox="1"/>
          <p:nvPr/>
        </p:nvSpPr>
        <p:spPr>
          <a:xfrm>
            <a:off x="14986000" y="8153400"/>
            <a:ext cx="8128000" cy="4953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3D2644"/>
                </a:solidFill>
                <a:latin typeface="Geist Regular Regular"/>
                <a:ea typeface="Geist Regular Regular"/>
                <a:cs typeface="Geist Regular Regular"/>
                <a:sym typeface="Geist Regular Regular"/>
              </a:defRPr>
            </a:lvl1pPr>
          </a:lstStyle>
          <a:p>
            <a:pPr/>
            <a:r>
              <a:t>Most open source projects still live on GitHub.</a:t>
            </a:r>
          </a:p>
        </p:txBody>
      </p:sp>
      <p:sp>
        <p:nvSpPr>
          <p:cNvPr id="896" name="Google Workspace"/>
          <p:cNvSpPr txBox="1"/>
          <p:nvPr/>
        </p:nvSpPr>
        <p:spPr>
          <a:xfrm>
            <a:off x="1625600" y="9321800"/>
            <a:ext cx="5080000" cy="508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220D44"/>
                </a:solidFill>
                <a:latin typeface="Geist Regular SemiBold"/>
                <a:ea typeface="Geist Regular SemiBold"/>
                <a:cs typeface="Geist Regular SemiBold"/>
                <a:sym typeface="Geist Regular SemiBold"/>
              </a:defRPr>
            </a:lvl1pPr>
          </a:lstStyle>
          <a:p>
            <a:pPr/>
            <a:r>
              <a:t>Google Workspace</a:t>
            </a:r>
          </a:p>
        </p:txBody>
      </p:sp>
      <p:sp>
        <p:nvSpPr>
          <p:cNvPr id="897" name="Nextcloud, self-hosted"/>
          <p:cNvSpPr txBox="1"/>
          <p:nvPr/>
        </p:nvSpPr>
        <p:spPr>
          <a:xfrm>
            <a:off x="8178800" y="9321800"/>
            <a:ext cx="6096000" cy="508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220D44"/>
                </a:solidFill>
                <a:latin typeface="Geist Regular SemiBold"/>
                <a:ea typeface="Geist Regular SemiBold"/>
                <a:cs typeface="Geist Regular SemiBold"/>
                <a:sym typeface="Geist Regular SemiBold"/>
              </a:defRPr>
            </a:lvl1pPr>
          </a:lstStyle>
          <a:p>
            <a:pPr/>
            <a:r>
              <a:t>Nextcloud, self-hosted</a:t>
            </a:r>
          </a:p>
        </p:txBody>
      </p:sp>
      <p:sp>
        <p:nvSpPr>
          <p:cNvPr id="898" name="Someone has to run and update it."/>
          <p:cNvSpPr txBox="1"/>
          <p:nvPr/>
        </p:nvSpPr>
        <p:spPr>
          <a:xfrm>
            <a:off x="14986000" y="9321800"/>
            <a:ext cx="8128000" cy="4953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3D2644"/>
                </a:solidFill>
                <a:latin typeface="Geist Regular Regular"/>
                <a:ea typeface="Geist Regular Regular"/>
                <a:cs typeface="Geist Regular Regular"/>
                <a:sym typeface="Geist Regular Regular"/>
              </a:defRPr>
            </a:lvl1pPr>
          </a:lstStyle>
          <a:p>
            <a:pPr/>
            <a:r>
              <a:t>Someone has to run and update it.</a:t>
            </a:r>
          </a:p>
        </p:txBody>
      </p:sp>
      <p:sp>
        <p:nvSpPr>
          <p:cNvPr id="899" name="OpenAI"/>
          <p:cNvSpPr txBox="1"/>
          <p:nvPr/>
        </p:nvSpPr>
        <p:spPr>
          <a:xfrm>
            <a:off x="1625600" y="10490200"/>
            <a:ext cx="5080000" cy="508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220D44"/>
                </a:solidFill>
                <a:latin typeface="Geist Regular SemiBold"/>
                <a:ea typeface="Geist Regular SemiBold"/>
                <a:cs typeface="Geist Regular SemiBold"/>
                <a:sym typeface="Geist Regular SemiBold"/>
              </a:defRPr>
            </a:lvl1pPr>
          </a:lstStyle>
          <a:p>
            <a:pPr/>
            <a:r>
              <a:t>OpenAI</a:t>
            </a:r>
          </a:p>
        </p:txBody>
      </p:sp>
      <p:sp>
        <p:nvSpPr>
          <p:cNvPr id="900" name="Mistral, France, or local models"/>
          <p:cNvSpPr txBox="1"/>
          <p:nvPr/>
        </p:nvSpPr>
        <p:spPr>
          <a:xfrm>
            <a:off x="8178800" y="10490200"/>
            <a:ext cx="6096000" cy="508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a:solidFill>
                  <a:srgbClr val="220D44"/>
                </a:solidFill>
                <a:latin typeface="Geist Regular SemiBold"/>
                <a:ea typeface="Geist Regular SemiBold"/>
                <a:cs typeface="Geist Regular SemiBold"/>
                <a:sym typeface="Geist Regular SemiBold"/>
              </a:defRPr>
            </a:lvl1pPr>
          </a:lstStyle>
          <a:p>
            <a:pPr/>
            <a:r>
              <a:t>Mistral, France, or local models</a:t>
            </a:r>
          </a:p>
        </p:txBody>
      </p:sp>
      <p:sp>
        <p:nvSpPr>
          <p:cNvPr id="901" name="Local models need strong hardware."/>
          <p:cNvSpPr txBox="1"/>
          <p:nvPr/>
        </p:nvSpPr>
        <p:spPr>
          <a:xfrm>
            <a:off x="14986000" y="10490200"/>
            <a:ext cx="8128000" cy="4953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3D2644"/>
                </a:solidFill>
                <a:latin typeface="Geist Regular Regular"/>
                <a:ea typeface="Geist Regular Regular"/>
                <a:cs typeface="Geist Regular Regular"/>
                <a:sym typeface="Geist Regular Regular"/>
              </a:defRPr>
            </a:lvl1pPr>
          </a:lstStyle>
          <a:p>
            <a:pPr/>
            <a:r>
              <a:t>Local models need strong hardware.</a:t>
            </a:r>
          </a:p>
        </p:txBody>
      </p:sp>
      <p:sp>
        <p:nvSpPr>
          <p:cNvPr id="902" name="More at"/>
          <p:cNvSpPr txBox="1"/>
          <p:nvPr/>
        </p:nvSpPr>
        <p:spPr>
          <a:xfrm>
            <a:off x="19650075" y="1016000"/>
            <a:ext cx="3810000" cy="45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a:solidFill>
                  <a:srgbClr val="3D2644"/>
                </a:solidFill>
                <a:latin typeface="Geist Regular Regular"/>
                <a:ea typeface="Geist Regular Regular"/>
                <a:cs typeface="Geist Regular Regular"/>
                <a:sym typeface="Geist Regular Regular"/>
              </a:defRPr>
            </a:lvl1pPr>
          </a:lstStyle>
          <a:p>
            <a:pPr/>
            <a:r>
              <a:t>More at</a:t>
            </a:r>
          </a:p>
        </p:txBody>
      </p:sp>
      <p:sp>
        <p:nvSpPr>
          <p:cNvPr id="903" name="european-alternatives.eu"/>
          <p:cNvSpPr txBox="1"/>
          <p:nvPr/>
        </p:nvSpPr>
        <p:spPr>
          <a:xfrm>
            <a:off x="19650075" y="1397000"/>
            <a:ext cx="3810000" cy="457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200" u="sng">
                <a:solidFill>
                  <a:srgbClr val="220D44"/>
                </a:solidFill>
                <a:latin typeface="Geist Regular SemiBold"/>
                <a:ea typeface="Geist Regular SemiBold"/>
                <a:cs typeface="Geist Regular SemiBold"/>
                <a:sym typeface="Geist Regular SemiBold"/>
                <a:hlinkClick r:id="rId20" invalidUrl="" action="" tgtFrame="" tooltip="" history="1" highlightClick="0" endSnd="0"/>
              </a:defRPr>
            </a:lvl1pPr>
          </a:lstStyle>
          <a:p>
            <a:pPr>
              <a:defRPr u="none"/>
            </a:pPr>
            <a:r>
              <a:rPr u="sng">
                <a:hlinkClick r:id="rId20" invalidUrl="" action="" tgtFrame="" tooltip="" history="1" highlightClick="0" endSnd="0"/>
              </a:rPr>
              <a:t>european-alternatives.eu</a:t>
            </a:r>
          </a:p>
        </p:txBody>
      </p:sp>
      <p:pic>
        <p:nvPicPr>
          <p:cNvPr id="904" name="ea-logo-no-text.svg" descr="ea-logo-no-text.svg"/>
          <p:cNvPicPr>
            <a:picLocks noChangeAspect="1"/>
          </p:cNvPicPr>
          <p:nvPr/>
        </p:nvPicPr>
        <p:blipFill>
          <a:blip r:embed="rId21">
            <a:extLst/>
          </a:blip>
          <a:stretch>
            <a:fillRect/>
          </a:stretch>
        </p:blipFill>
        <p:spPr>
          <a:xfrm>
            <a:off x="18507075" y="990600"/>
            <a:ext cx="914400" cy="914401"/>
          </a:xfrm>
          <a:prstGeom prst="rect">
            <a:avLst/>
          </a:prstGeom>
          <a:ln w="12700">
            <a:miter lim="400000"/>
          </a:ln>
        </p:spPr>
      </p:pic>
      <p:pic>
        <p:nvPicPr>
          <p:cNvPr id="905" name="prog-21.png" descr="prog-21.png"/>
          <p:cNvPicPr>
            <a:picLocks noChangeAspect="1"/>
          </p:cNvPicPr>
          <p:nvPr/>
        </p:nvPicPr>
        <p:blipFill>
          <a:blip r:embed="rId22">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909"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910" name="Where to start"/>
          <p:cNvSpPr txBox="1"/>
          <p:nvPr/>
        </p:nvSpPr>
        <p:spPr>
          <a:xfrm>
            <a:off x="1308100" y="2692399"/>
            <a:ext cx="22707600" cy="1714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7600">
                <a:solidFill>
                  <a:srgbClr val="220D44"/>
                </a:solidFill>
                <a:latin typeface="Unbounded Regular ExtraBold"/>
                <a:ea typeface="Unbounded Regular ExtraBold"/>
                <a:cs typeface="Unbounded Regular ExtraBold"/>
                <a:sym typeface="Unbounded Regular ExtraBold"/>
              </a:defRPr>
            </a:pPr>
            <a:r>
              <a:t>Where to </a:t>
            </a:r>
            <a:r>
              <a:rPr i="1" sz="9800">
                <a:solidFill>
                  <a:srgbClr val="6033A6"/>
                </a:solidFill>
                <a:latin typeface="Instrument Serif Regular"/>
                <a:ea typeface="Instrument Serif Regular"/>
                <a:cs typeface="Instrument Serif Regular"/>
                <a:sym typeface="Instrument Serif Regular"/>
              </a:rPr>
              <a:t>start</a:t>
            </a:r>
          </a:p>
        </p:txBody>
      </p:sp>
      <p:sp>
        <p:nvSpPr>
          <p:cNvPr id="911"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912" name="viz-22-00.svg" descr="viz-22-00.svg"/>
          <p:cNvPicPr>
            <a:picLocks noChangeAspect="1"/>
          </p:cNvPicPr>
          <p:nvPr/>
        </p:nvPicPr>
        <p:blipFill>
          <a:blip r:embed="rId4">
            <a:extLst/>
          </a:blip>
          <a:stretch>
            <a:fillRect/>
          </a:stretch>
        </p:blipFill>
        <p:spPr>
          <a:xfrm>
            <a:off x="12192000" y="4673600"/>
            <a:ext cx="317500" cy="6413500"/>
          </a:xfrm>
          <a:prstGeom prst="rect">
            <a:avLst/>
          </a:prstGeom>
          <a:ln w="12700">
            <a:miter lim="400000"/>
          </a:ln>
        </p:spPr>
      </p:pic>
      <p:sp>
        <p:nvSpPr>
          <p:cNvPr id="913" name="Start here"/>
          <p:cNvSpPr txBox="1"/>
          <p:nvPr/>
        </p:nvSpPr>
        <p:spPr>
          <a:xfrm>
            <a:off x="1320800" y="4724400"/>
            <a:ext cx="10160000" cy="762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200">
                <a:solidFill>
                  <a:srgbClr val="6033A6"/>
                </a:solidFill>
                <a:latin typeface="Unbounded Regular SemiBold"/>
                <a:ea typeface="Unbounded Regular SemiBold"/>
                <a:cs typeface="Unbounded Regular SemiBold"/>
                <a:sym typeface="Unbounded Regular SemiBold"/>
              </a:defRPr>
            </a:lvl1pPr>
          </a:lstStyle>
          <a:p>
            <a:pPr/>
            <a:r>
              <a:t>Start here</a:t>
            </a:r>
          </a:p>
        </p:txBody>
      </p:sp>
      <p:sp>
        <p:nvSpPr>
          <p:cNvPr id="914" name="New to running servers"/>
          <p:cNvSpPr txBox="1"/>
          <p:nvPr/>
        </p:nvSpPr>
        <p:spPr>
          <a:xfrm>
            <a:off x="1320800" y="5486400"/>
            <a:ext cx="101600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6F5F8B"/>
                </a:solidFill>
                <a:latin typeface="Geist Regular Medium"/>
                <a:ea typeface="Geist Regular Medium"/>
                <a:cs typeface="Geist Regular Medium"/>
                <a:sym typeface="Geist Regular Medium"/>
              </a:defRPr>
            </a:lvl1pPr>
          </a:lstStyle>
          <a:p>
            <a:pPr/>
            <a:r>
              <a:t>New to running servers</a:t>
            </a:r>
          </a:p>
        </p:txBody>
      </p:sp>
      <p:sp>
        <p:nvSpPr>
          <p:cNvPr id="915" name="1"/>
          <p:cNvSpPr txBox="1"/>
          <p:nvPr/>
        </p:nvSpPr>
        <p:spPr>
          <a:xfrm>
            <a:off x="1320800" y="6642100"/>
            <a:ext cx="762000" cy="635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solidFill>
                  <a:srgbClr val="6033A6"/>
                </a:solidFill>
                <a:latin typeface="Unbounded Regular SemiBold"/>
                <a:ea typeface="Unbounded Regular SemiBold"/>
                <a:cs typeface="Unbounded Regular SemiBold"/>
                <a:sym typeface="Unbounded Regular SemiBold"/>
              </a:defRPr>
            </a:lvl1pPr>
          </a:lstStyle>
          <a:p>
            <a:pPr/>
            <a:r>
              <a:t>1</a:t>
            </a:r>
          </a:p>
        </p:txBody>
      </p:sp>
      <p:sp>
        <p:nvSpPr>
          <p:cNvPr id="916" name="Start on your own computer. Use Linux, run one service, and read its config files."/>
          <p:cNvSpPr txBox="1"/>
          <p:nvPr/>
        </p:nvSpPr>
        <p:spPr>
          <a:xfrm>
            <a:off x="2133600" y="6604000"/>
            <a:ext cx="7527561" cy="104267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000">
                <a:solidFill>
                  <a:srgbClr val="3D2644"/>
                </a:solidFill>
                <a:latin typeface="Geist Regular Regular"/>
                <a:ea typeface="Geist Regular Regular"/>
                <a:cs typeface="Geist Regular Regular"/>
                <a:sym typeface="Geist Regular Regular"/>
              </a:defRPr>
            </a:lvl1pPr>
          </a:lstStyle>
          <a:p>
            <a:pPr/>
            <a:r>
              <a:t>Start on your own computer. Use Linux, run one service, and read its config files.</a:t>
            </a:r>
          </a:p>
        </p:txBody>
      </p:sp>
      <p:sp>
        <p:nvSpPr>
          <p:cNvPr id="917" name="2"/>
          <p:cNvSpPr txBox="1"/>
          <p:nvPr/>
        </p:nvSpPr>
        <p:spPr>
          <a:xfrm>
            <a:off x="1320800" y="8216900"/>
            <a:ext cx="762000" cy="635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solidFill>
                  <a:srgbClr val="6033A6"/>
                </a:solidFill>
                <a:latin typeface="Unbounded Regular SemiBold"/>
                <a:ea typeface="Unbounded Regular SemiBold"/>
                <a:cs typeface="Unbounded Regular SemiBold"/>
                <a:sym typeface="Unbounded Regular SemiBold"/>
              </a:defRPr>
            </a:lvl1pPr>
          </a:lstStyle>
          <a:p>
            <a:pPr/>
            <a:r>
              <a:t>2</a:t>
            </a:r>
          </a:p>
        </p:txBody>
      </p:sp>
      <p:sp>
        <p:nvSpPr>
          <p:cNvPr id="918" name="Rent the smallest VPS (e.g. UpCloud) and set it up yourself: SSH keys, firewall, nginx and TLS."/>
          <p:cNvSpPr txBox="1"/>
          <p:nvPr/>
        </p:nvSpPr>
        <p:spPr>
          <a:xfrm>
            <a:off x="2133600" y="8178800"/>
            <a:ext cx="9652000" cy="104267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000">
                <a:solidFill>
                  <a:srgbClr val="3D2644"/>
                </a:solidFill>
                <a:latin typeface="Geist Regular Regular"/>
                <a:ea typeface="Geist Regular Regular"/>
                <a:cs typeface="Geist Regular Regular"/>
                <a:sym typeface="Geist Regular Regular"/>
              </a:defRPr>
            </a:lvl1pPr>
          </a:lstStyle>
          <a:p>
            <a:pPr/>
            <a:r>
              <a:t>Rent the smallest VPS (e.g. UpCloud) and set it up yourself: SSH keys, firewall, nginx and TLS.</a:t>
            </a:r>
          </a:p>
        </p:txBody>
      </p:sp>
      <p:sp>
        <p:nvSpPr>
          <p:cNvPr id="919" name="3"/>
          <p:cNvSpPr txBox="1"/>
          <p:nvPr/>
        </p:nvSpPr>
        <p:spPr>
          <a:xfrm>
            <a:off x="1320800" y="9791700"/>
            <a:ext cx="762000" cy="635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solidFill>
                  <a:srgbClr val="6033A6"/>
                </a:solidFill>
                <a:latin typeface="Unbounded Regular SemiBold"/>
                <a:ea typeface="Unbounded Regular SemiBold"/>
                <a:cs typeface="Unbounded Regular SemiBold"/>
                <a:sym typeface="Unbounded Regular SemiBold"/>
              </a:defRPr>
            </a:lvl1pPr>
          </a:lstStyle>
          <a:p>
            <a:pPr/>
            <a:r>
              <a:t>3</a:t>
            </a:r>
          </a:p>
        </p:txBody>
      </p:sp>
      <p:sp>
        <p:nvSpPr>
          <p:cNvPr id="920" name="Write every step down. Start scripting."/>
          <p:cNvSpPr txBox="1"/>
          <p:nvPr/>
        </p:nvSpPr>
        <p:spPr>
          <a:xfrm>
            <a:off x="2133600" y="9753600"/>
            <a:ext cx="9652000" cy="5969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000">
                <a:solidFill>
                  <a:srgbClr val="3D2644"/>
                </a:solidFill>
                <a:latin typeface="Geist Regular Regular"/>
                <a:ea typeface="Geist Regular Regular"/>
                <a:cs typeface="Geist Regular Regular"/>
                <a:sym typeface="Geist Regular Regular"/>
              </a:defRPr>
            </a:lvl1pPr>
          </a:lstStyle>
          <a:p>
            <a:pPr/>
            <a:r>
              <a:t>Write every step down. Start scripting.</a:t>
            </a:r>
          </a:p>
        </p:txBody>
      </p:sp>
      <p:sp>
        <p:nvSpPr>
          <p:cNvPr id="921" name="Go further"/>
          <p:cNvSpPr txBox="1"/>
          <p:nvPr/>
        </p:nvSpPr>
        <p:spPr>
          <a:xfrm>
            <a:off x="12801600" y="4724400"/>
            <a:ext cx="10160000" cy="762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4200">
                <a:solidFill>
                  <a:srgbClr val="6033A6"/>
                </a:solidFill>
                <a:latin typeface="Unbounded Regular SemiBold"/>
                <a:ea typeface="Unbounded Regular SemiBold"/>
                <a:cs typeface="Unbounded Regular SemiBold"/>
                <a:sym typeface="Unbounded Regular SemiBold"/>
              </a:defRPr>
            </a:lvl1pPr>
          </a:lstStyle>
          <a:p>
            <a:pPr/>
            <a:r>
              <a:t>Go further</a:t>
            </a:r>
          </a:p>
        </p:txBody>
      </p:sp>
      <p:sp>
        <p:nvSpPr>
          <p:cNvPr id="922" name="Already running servers"/>
          <p:cNvSpPr txBox="1"/>
          <p:nvPr/>
        </p:nvSpPr>
        <p:spPr>
          <a:xfrm>
            <a:off x="12801600" y="5486400"/>
            <a:ext cx="10160000" cy="533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6F5F8B"/>
                </a:solidFill>
                <a:latin typeface="Geist Regular Medium"/>
                <a:ea typeface="Geist Regular Medium"/>
                <a:cs typeface="Geist Regular Medium"/>
                <a:sym typeface="Geist Regular Medium"/>
              </a:defRPr>
            </a:lvl1pPr>
          </a:lstStyle>
          <a:p>
            <a:pPr/>
            <a:r>
              <a:t>Already running servers</a:t>
            </a:r>
          </a:p>
        </p:txBody>
      </p:sp>
      <p:sp>
        <p:nvSpPr>
          <p:cNvPr id="923" name="4"/>
          <p:cNvSpPr txBox="1"/>
          <p:nvPr/>
        </p:nvSpPr>
        <p:spPr>
          <a:xfrm>
            <a:off x="12801600" y="6642100"/>
            <a:ext cx="762000" cy="635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solidFill>
                  <a:srgbClr val="6033A6"/>
                </a:solidFill>
                <a:latin typeface="Unbounded Regular SemiBold"/>
                <a:ea typeface="Unbounded Regular SemiBold"/>
                <a:cs typeface="Unbounded Regular SemiBold"/>
                <a:sym typeface="Unbounded Regular SemiBold"/>
              </a:defRPr>
            </a:lvl1pPr>
          </a:lstStyle>
          <a:p>
            <a:pPr/>
            <a:r>
              <a:t>4</a:t>
            </a:r>
          </a:p>
        </p:txBody>
      </p:sp>
      <p:sp>
        <p:nvSpPr>
          <p:cNvPr id="924" name="Move one service you subscribe to onto your own server: Plausible analytics, Outline docs, etc."/>
          <p:cNvSpPr txBox="1"/>
          <p:nvPr/>
        </p:nvSpPr>
        <p:spPr>
          <a:xfrm>
            <a:off x="13614400" y="6604000"/>
            <a:ext cx="10160000" cy="104267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000">
                <a:solidFill>
                  <a:srgbClr val="3D2644"/>
                </a:solidFill>
                <a:latin typeface="Geist Regular Regular"/>
                <a:ea typeface="Geist Regular Regular"/>
                <a:cs typeface="Geist Regular Regular"/>
                <a:sym typeface="Geist Regular Regular"/>
              </a:defRPr>
            </a:lvl1pPr>
          </a:lstStyle>
          <a:p>
            <a:pPr/>
            <a:r>
              <a:t>Move one service you subscribe to onto your own server: Plausible analytics, Outline docs, etc.</a:t>
            </a:r>
          </a:p>
        </p:txBody>
      </p:sp>
      <p:sp>
        <p:nvSpPr>
          <p:cNvPr id="925" name="5"/>
          <p:cNvSpPr txBox="1"/>
          <p:nvPr/>
        </p:nvSpPr>
        <p:spPr>
          <a:xfrm>
            <a:off x="12801600" y="7988300"/>
            <a:ext cx="762000" cy="635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solidFill>
                  <a:srgbClr val="6033A6"/>
                </a:solidFill>
                <a:latin typeface="Unbounded Regular SemiBold"/>
                <a:ea typeface="Unbounded Regular SemiBold"/>
                <a:cs typeface="Unbounded Regular SemiBold"/>
                <a:sym typeface="Unbounded Regular SemiBold"/>
              </a:defRPr>
            </a:lvl1pPr>
          </a:lstStyle>
          <a:p>
            <a:pPr/>
            <a:r>
              <a:t>5</a:t>
            </a:r>
          </a:p>
        </p:txBody>
      </p:sp>
      <p:sp>
        <p:nvSpPr>
          <p:cNvPr id="926" name="Swap one installed package for a source build. Try to see if it compiles via a script or Ansible."/>
          <p:cNvSpPr txBox="1"/>
          <p:nvPr/>
        </p:nvSpPr>
        <p:spPr>
          <a:xfrm>
            <a:off x="13614400" y="7955915"/>
            <a:ext cx="9652000" cy="104267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000">
                <a:solidFill>
                  <a:srgbClr val="3D2644"/>
                </a:solidFill>
                <a:latin typeface="Geist Regular Regular"/>
                <a:ea typeface="Geist Regular Regular"/>
                <a:cs typeface="Geist Regular Regular"/>
                <a:sym typeface="Geist Regular Regular"/>
              </a:defRPr>
            </a:lvl1pPr>
          </a:lstStyle>
          <a:p>
            <a:pPr/>
            <a:r>
              <a:t>Swap one installed package for a source build. Try to see if it compiles via a script or Ansible.</a:t>
            </a:r>
          </a:p>
        </p:txBody>
      </p:sp>
      <p:sp>
        <p:nvSpPr>
          <p:cNvPr id="927" name="6"/>
          <p:cNvSpPr txBox="1"/>
          <p:nvPr/>
        </p:nvSpPr>
        <p:spPr>
          <a:xfrm>
            <a:off x="12801600" y="9791700"/>
            <a:ext cx="762000" cy="635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solidFill>
                  <a:srgbClr val="6033A6"/>
                </a:solidFill>
                <a:latin typeface="Unbounded Regular SemiBold"/>
                <a:ea typeface="Unbounded Regular SemiBold"/>
                <a:cs typeface="Unbounded Regular SemiBold"/>
                <a:sym typeface="Unbounded Regular SemiBold"/>
              </a:defRPr>
            </a:lvl1pPr>
          </a:lstStyle>
          <a:p>
            <a:pPr/>
            <a:r>
              <a:t>6</a:t>
            </a:r>
          </a:p>
        </p:txBody>
      </p:sp>
      <p:sp>
        <p:nvSpPr>
          <p:cNvPr id="928" name="Test your exit. Restore a backup and move one service to another provider."/>
          <p:cNvSpPr txBox="1"/>
          <p:nvPr/>
        </p:nvSpPr>
        <p:spPr>
          <a:xfrm>
            <a:off x="13614400" y="9753600"/>
            <a:ext cx="9652000" cy="104267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3000">
                <a:solidFill>
                  <a:srgbClr val="3D2644"/>
                </a:solidFill>
                <a:latin typeface="Geist Regular Regular"/>
                <a:ea typeface="Geist Regular Regular"/>
                <a:cs typeface="Geist Regular Regular"/>
                <a:sym typeface="Geist Regular Regular"/>
              </a:defRPr>
            </a:pPr>
            <a:r>
              <a:t>Test your exit. Restore a backup and move</a:t>
            </a:r>
            <a:br/>
            <a:r>
              <a:t>one service to another provider.</a:t>
            </a:r>
          </a:p>
        </p:txBody>
      </p:sp>
      <p:pic>
        <p:nvPicPr>
          <p:cNvPr id="929" name="prog-22.png" descr="prog-22.png"/>
          <p:cNvPicPr>
            <a:picLocks noChangeAspect="1"/>
          </p:cNvPicPr>
          <p:nvPr/>
        </p:nvPicPr>
        <p:blipFill>
          <a:blip r:embed="rId5">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933" name="bg.png" descr="bg.png"/>
          <p:cNvPicPr>
            <a:picLocks noChangeAspect="1"/>
          </p:cNvPicPr>
          <p:nvPr/>
        </p:nvPicPr>
        <p:blipFill>
          <a:blip r:embed="rId3">
            <a:extLst/>
          </a:blip>
          <a:stretch>
            <a:fillRect/>
          </a:stretch>
        </p:blipFill>
        <p:spPr>
          <a:xfrm>
            <a:off x="0" y="0"/>
            <a:ext cx="24384000" cy="13716000"/>
          </a:xfrm>
          <a:prstGeom prst="rect">
            <a:avLst/>
          </a:prstGeom>
          <a:ln w="12700">
            <a:miter lim="400000"/>
          </a:ln>
        </p:spPr>
      </p:pic>
      <p:sp>
        <p:nvSpPr>
          <p:cNvPr id="934" name="Knowing every layer"/>
          <p:cNvSpPr txBox="1"/>
          <p:nvPr/>
        </p:nvSpPr>
        <p:spPr>
          <a:xfrm>
            <a:off x="1295400" y="4381499"/>
            <a:ext cx="22707600" cy="1562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9200">
                <a:solidFill>
                  <a:srgbClr val="220D44"/>
                </a:solidFill>
                <a:latin typeface="Unbounded Regular ExtraBold"/>
                <a:ea typeface="Unbounded Regular ExtraBold"/>
                <a:cs typeface="Unbounded Regular ExtraBold"/>
                <a:sym typeface="Unbounded Regular ExtraBold"/>
              </a:defRPr>
            </a:lvl1pPr>
          </a:lstStyle>
          <a:p>
            <a:pPr/>
            <a:r>
              <a:t>Knowing every layer</a:t>
            </a:r>
          </a:p>
        </p:txBody>
      </p:sp>
      <p:sp>
        <p:nvSpPr>
          <p:cNvPr id="935" name="is practical sovereignty"/>
          <p:cNvSpPr txBox="1"/>
          <p:nvPr/>
        </p:nvSpPr>
        <p:spPr>
          <a:xfrm>
            <a:off x="1308100" y="5346699"/>
            <a:ext cx="22707600" cy="2057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i="1" sz="11800">
                <a:solidFill>
                  <a:srgbClr val="6033A6"/>
                </a:solidFill>
                <a:latin typeface="Instrument Serif Regular"/>
                <a:ea typeface="Instrument Serif Regular"/>
                <a:cs typeface="Instrument Serif Regular"/>
                <a:sym typeface="Instrument Serif Regular"/>
              </a:defRPr>
            </a:lvl1pPr>
          </a:lstStyle>
          <a:p>
            <a:pPr/>
            <a:r>
              <a:t>is practical sovereignty</a:t>
            </a:r>
          </a:p>
        </p:txBody>
      </p:sp>
      <p:sp>
        <p:nvSpPr>
          <p:cNvPr id="936" name="Host the thing yourself, end to end,"/>
          <p:cNvSpPr txBox="1"/>
          <p:nvPr/>
        </p:nvSpPr>
        <p:spPr>
          <a:xfrm>
            <a:off x="1320800" y="7505699"/>
            <a:ext cx="22707600" cy="698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600">
                <a:solidFill>
                  <a:srgbClr val="4B3051"/>
                </a:solidFill>
                <a:latin typeface="Geist Regular Regular"/>
                <a:ea typeface="Geist Regular Regular"/>
                <a:cs typeface="Geist Regular Regular"/>
                <a:sym typeface="Geist Regular Regular"/>
              </a:defRPr>
            </a:lvl1pPr>
          </a:lstStyle>
          <a:p>
            <a:pPr/>
            <a:r>
              <a:t>Host the thing yourself, end to end,</a:t>
            </a:r>
          </a:p>
        </p:txBody>
      </p:sp>
      <p:sp>
        <p:nvSpPr>
          <p:cNvPr id="937" name="and keep it running for a year."/>
          <p:cNvSpPr txBox="1"/>
          <p:nvPr/>
        </p:nvSpPr>
        <p:spPr>
          <a:xfrm>
            <a:off x="1320800" y="8127999"/>
            <a:ext cx="22707600" cy="698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600">
                <a:solidFill>
                  <a:srgbClr val="4B3051"/>
                </a:solidFill>
                <a:latin typeface="Geist Regular Regular"/>
                <a:ea typeface="Geist Regular Regular"/>
                <a:cs typeface="Geist Regular Regular"/>
                <a:sym typeface="Geist Regular Regular"/>
              </a:defRPr>
            </a:lvl1pPr>
          </a:lstStyle>
          <a:p>
            <a:pPr/>
            <a:r>
              <a:t>and keep it running for a year.</a:t>
            </a:r>
          </a:p>
        </p:txBody>
      </p:sp>
      <p:sp>
        <p:nvSpPr>
          <p:cNvPr id="938"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pic>
        <p:nvPicPr>
          <p:cNvPr id="939" name="prog-23.png" descr="prog-23.png"/>
          <p:cNvPicPr>
            <a:picLocks noChangeAspect="1"/>
          </p:cNvPicPr>
          <p:nvPr/>
        </p:nvPicPr>
        <p:blipFill>
          <a:blip r:embed="rId4">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943" name="bg.png" descr="bg.png"/>
          <p:cNvPicPr>
            <a:picLocks noChangeAspect="1"/>
          </p:cNvPicPr>
          <p:nvPr/>
        </p:nvPicPr>
        <p:blipFill>
          <a:blip r:embed="rId2">
            <a:extLst/>
          </a:blip>
          <a:stretch>
            <a:fillRect/>
          </a:stretch>
        </p:blipFill>
        <p:spPr>
          <a:xfrm>
            <a:off x="0" y="0"/>
            <a:ext cx="24384000" cy="13716000"/>
          </a:xfrm>
          <a:prstGeom prst="rect">
            <a:avLst/>
          </a:prstGeom>
          <a:ln w="12700">
            <a:miter lim="400000"/>
          </a:ln>
        </p:spPr>
      </p:pic>
      <p:sp>
        <p:nvSpPr>
          <p:cNvPr id="944" name="Kiitos."/>
          <p:cNvSpPr txBox="1"/>
          <p:nvPr/>
        </p:nvSpPr>
        <p:spPr>
          <a:xfrm>
            <a:off x="1295400" y="4381499"/>
            <a:ext cx="22707600" cy="1562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9200">
                <a:solidFill>
                  <a:srgbClr val="220D44"/>
                </a:solidFill>
                <a:latin typeface="Unbounded Regular ExtraBold"/>
                <a:ea typeface="Unbounded Regular ExtraBold"/>
                <a:cs typeface="Unbounded Regular ExtraBold"/>
                <a:sym typeface="Unbounded Regular ExtraBold"/>
              </a:defRPr>
            </a:lvl1pPr>
          </a:lstStyle>
          <a:p>
            <a:pPr/>
            <a:r>
              <a:t>Kiitos.</a:t>
            </a:r>
          </a:p>
        </p:txBody>
      </p:sp>
      <p:sp>
        <p:nvSpPr>
          <p:cNvPr id="945" name="Questions?"/>
          <p:cNvSpPr txBox="1"/>
          <p:nvPr/>
        </p:nvSpPr>
        <p:spPr>
          <a:xfrm>
            <a:off x="1308100" y="5346699"/>
            <a:ext cx="22707600" cy="2057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i="1" sz="11800">
                <a:solidFill>
                  <a:srgbClr val="6033A6"/>
                </a:solidFill>
                <a:latin typeface="Instrument Serif Regular"/>
                <a:ea typeface="Instrument Serif Regular"/>
                <a:cs typeface="Instrument Serif Regular"/>
                <a:sym typeface="Instrument Serif Regular"/>
              </a:defRPr>
            </a:lvl1pPr>
          </a:lstStyle>
          <a:p>
            <a:pPr/>
            <a:r>
              <a:t>Questions?</a:t>
            </a:r>
          </a:p>
        </p:txBody>
      </p:sp>
      <p:sp>
        <p:nvSpPr>
          <p:cNvPr id="946" name="Rolle Laukkarinen"/>
          <p:cNvSpPr txBox="1"/>
          <p:nvPr/>
        </p:nvSpPr>
        <p:spPr>
          <a:xfrm>
            <a:off x="1320800" y="7505699"/>
            <a:ext cx="22707600" cy="698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600">
                <a:solidFill>
                  <a:srgbClr val="4B3051"/>
                </a:solidFill>
                <a:latin typeface="Geist Regular Regular"/>
                <a:ea typeface="Geist Regular Regular"/>
                <a:cs typeface="Geist Regular Regular"/>
                <a:sym typeface="Geist Regular Regular"/>
              </a:defRPr>
            </a:lvl1pPr>
          </a:lstStyle>
          <a:p>
            <a:pPr/>
            <a:r>
              <a:t>Rolle Laukkarinen</a:t>
            </a:r>
          </a:p>
        </p:txBody>
      </p:sp>
      <p:sp>
        <p:nvSpPr>
          <p:cNvPr id="947" name="rolle.social · dude.fi"/>
          <p:cNvSpPr txBox="1"/>
          <p:nvPr/>
        </p:nvSpPr>
        <p:spPr>
          <a:xfrm>
            <a:off x="1320800" y="8127999"/>
            <a:ext cx="22707600" cy="698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3600">
                <a:solidFill>
                  <a:srgbClr val="4B3051"/>
                </a:solidFill>
                <a:latin typeface="Geist Regular Regular"/>
                <a:ea typeface="Geist Regular Regular"/>
                <a:cs typeface="Geist Regular Regular"/>
                <a:sym typeface="Geist Regular Regular"/>
              </a:defRPr>
            </a:pPr>
            <a:r>
              <a:rPr u="sng">
                <a:hlinkClick r:id="rId3" invalidUrl="" action="" tgtFrame="" tooltip="" history="1" highlightClick="0" endSnd="0"/>
              </a:rPr>
              <a:t>rolle.social</a:t>
            </a:r>
            <a:r>
              <a:t> · </a:t>
            </a:r>
            <a:r>
              <a:rPr u="sng">
                <a:hlinkClick r:id="rId4" invalidUrl="" action="" tgtFrame="" tooltip="" history="1" highlightClick="0" endSnd="0"/>
              </a:rPr>
              <a:t>dude.fi</a:t>
            </a:r>
          </a:p>
        </p:txBody>
      </p:sp>
      <p:sp>
        <p:nvSpPr>
          <p:cNvPr id="948" name="Sovereign by habit"/>
          <p:cNvSpPr txBox="1"/>
          <p:nvPr/>
        </p:nvSpPr>
        <p:spPr>
          <a:xfrm>
            <a:off x="1320800" y="12344400"/>
            <a:ext cx="28829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solidFill>
                  <a:srgbClr val="5D4E61"/>
                </a:solidFill>
                <a:latin typeface="Geist Regular Regular"/>
                <a:ea typeface="Geist Regular Regular"/>
                <a:cs typeface="Geist Regular Regular"/>
                <a:sym typeface="Geist Regular Regular"/>
              </a:defRPr>
            </a:lvl1pPr>
          </a:lstStyle>
          <a:p>
            <a:pPr/>
            <a:r>
              <a:t>Sovereign by habit</a:t>
            </a:r>
          </a:p>
        </p:txBody>
      </p:sp>
      <p:sp>
        <p:nvSpPr>
          <p:cNvPr id="949" name="github.com/rollecode"/>
          <p:cNvSpPr txBox="1"/>
          <p:nvPr/>
        </p:nvSpPr>
        <p:spPr>
          <a:xfrm>
            <a:off x="1854200" y="9169400"/>
            <a:ext cx="17780000" cy="5588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u="sng">
                <a:solidFill>
                  <a:srgbClr val="4B3051"/>
                </a:solidFill>
                <a:latin typeface="Geist Regular Regular"/>
                <a:ea typeface="Geist Regular Regular"/>
                <a:cs typeface="Geist Regular Regular"/>
                <a:sym typeface="Geist Regular Regular"/>
                <a:hlinkClick r:id="rId5" invalidUrl="" action="" tgtFrame="" tooltip="" history="1" highlightClick="0" endSnd="0"/>
              </a:defRPr>
            </a:lvl1pPr>
          </a:lstStyle>
          <a:p>
            <a:pPr>
              <a:defRPr u="none"/>
            </a:pPr>
            <a:r>
              <a:rPr u="sng">
                <a:hlinkClick r:id="rId5" invalidUrl="" action="" tgtFrame="" tooltip="" history="1" highlightClick="0" endSnd="0"/>
              </a:rPr>
              <a:t>github.com/rollecode</a:t>
            </a:r>
          </a:p>
        </p:txBody>
      </p:sp>
      <p:sp>
        <p:nvSpPr>
          <p:cNvPr id="950" name="github.com/rollecode/mindtrek2026-talk-slides"/>
          <p:cNvSpPr txBox="1"/>
          <p:nvPr/>
        </p:nvSpPr>
        <p:spPr>
          <a:xfrm>
            <a:off x="1854200" y="9652000"/>
            <a:ext cx="17780000" cy="5588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800" u="sng">
                <a:solidFill>
                  <a:srgbClr val="4B3051"/>
                </a:solidFill>
                <a:latin typeface="Geist Regular Regular"/>
                <a:ea typeface="Geist Regular Regular"/>
                <a:cs typeface="Geist Regular Regular"/>
                <a:sym typeface="Geist Regular Regular"/>
                <a:hlinkClick r:id="rId6" invalidUrl="" action="" tgtFrame="" tooltip="" history="1" highlightClick="0" endSnd="0"/>
              </a:defRPr>
            </a:lvl1pPr>
          </a:lstStyle>
          <a:p>
            <a:pPr>
              <a:defRPr u="none"/>
            </a:pPr>
            <a:r>
              <a:rPr u="sng">
                <a:hlinkClick r:id="rId6" invalidUrl="" action="" tgtFrame="" tooltip="" history="1" highlightClick="0" endSnd="0"/>
              </a:rPr>
              <a:t>github.com/rollecode/mindtrek2026-talk-slides</a:t>
            </a:r>
          </a:p>
        </p:txBody>
      </p:sp>
      <p:pic>
        <p:nvPicPr>
          <p:cNvPr id="951" name="github-mark.svg" descr="github-mark.svg"/>
          <p:cNvPicPr>
            <a:picLocks noChangeAspect="1"/>
          </p:cNvPicPr>
          <p:nvPr/>
        </p:nvPicPr>
        <p:blipFill>
          <a:blip r:embed="rId7">
            <a:alphaModFix amt="60000"/>
            <a:extLst/>
          </a:blip>
          <a:stretch>
            <a:fillRect/>
          </a:stretch>
        </p:blipFill>
        <p:spPr>
          <a:xfrm>
            <a:off x="1346200" y="9296400"/>
            <a:ext cx="355600" cy="355600"/>
          </a:xfrm>
          <a:prstGeom prst="rect">
            <a:avLst/>
          </a:prstGeom>
          <a:ln w="12700">
            <a:miter lim="400000"/>
          </a:ln>
        </p:spPr>
      </p:pic>
      <p:pic>
        <p:nvPicPr>
          <p:cNvPr id="952" name="prog-16.png" descr="prog-16.png"/>
          <p:cNvPicPr>
            <a:picLocks noChangeAspect="1"/>
          </p:cNvPicPr>
          <p:nvPr/>
        </p:nvPicPr>
        <p:blipFill>
          <a:blip r:embed="rId8">
            <a:extLst/>
          </a:blip>
          <a:stretch>
            <a:fillRect/>
          </a:stretch>
        </p:blipFill>
        <p:spPr>
          <a:xfrm>
            <a:off x="17170400" y="12395200"/>
            <a:ext cx="5842000" cy="406400"/>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